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3.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3cbeed-ef6b-75e5-35dc-584be283b051}">
          <p14:sldIdLst>
            <p14:sldId id="256"/>
            <p14:sldId id="257"/>
            <p14:sldId id="258"/>
            <p14:sldId id="259"/>
          </p14:sldIdLst>
        </p14:section>
        <p14:section name="01 How machines see" id="{a89effed-5c07-4e16-fd0a-9e1baa41e547}">
          <p14:sldIdLst>
            <p14:sldId id="260"/>
            <p14:sldId id="261"/>
            <p14:sldId id="262"/>
            <p14:sldId id="263"/>
            <p14:sldId id="264"/>
            <p14:sldId id="265"/>
          </p14:sldIdLst>
        </p14:section>
        <p14:section name="02 From detections to speed" id="{032ccdb4-a2d6-549a-10f4-e6965907f21a}">
          <p14:sldIdLst>
            <p14:sldId id="266"/>
            <p14:sldId id="267"/>
            <p14:sldId id="268"/>
            <p14:sldId id="269"/>
            <p14:sldId id="270"/>
            <p14:sldId id="271"/>
          </p14:sldIdLst>
        </p14:section>
        <p14:section name="03 Closing the loop" id="{2d10f8df-e4dd-0b40-5e2a-91cf0081851b}">
          <p14:sldIdLst>
            <p14:sldId id="272"/>
            <p14:sldId id="273"/>
            <p14:sldId id="274"/>
            <p14:sldId id="275"/>
            <p14:sldId id="276"/>
          </p14:sldIdLst>
        </p14:section>
        <p14:section name="Demo &amp; results" id="{ab9994c7-ba12-1de7-8719-b03aa97ecd3f}">
          <p14:sldIdLst>
            <p14:sldId id="277"/>
            <p14:sldId id="278"/>
          </p14:sldIdLst>
        </p14:section>
        <p14:section name="Close" id="{c07665b6-dbf8-3a37-542d-f75b947a5f53}">
          <p14:sldIdLst>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Reading (km/h)</c:v>
                </c:pt>
              </c:strCache>
            </c:strRef>
          </c:tx>
          <c:spPr>
            <a:solidFill>
              <a:srgbClr val="0B1F33"/>
            </a:solidFill>
            <a:effectLst/>
          </c:spPr>
          <c:invertIfNegative val="0"/>
          <c:dLbls>
            <c:numFmt formatCode="0.0" sourceLinked="0"/>
            <c:txPr>
              <a:bodyPr/>
              <a:lstStyle/>
              <a:p>
                <a:pPr>
                  <a:defRPr b="0" i="0" strike="noStrike" sz="1200" u="none">
                    <a:solidFill>
                      <a:srgbClr val="101828"/>
                    </a:solidFill>
                    <a:latin typeface="+mn-lt"/>
                  </a:defRPr>
                </a:pPr>
              </a:p>
            </c:txPr>
            <c:showLegendKey val="0"/>
            <c:showVal val="1"/>
            <c:showCatName val="0"/>
            <c:showSerName val="0"/>
            <c:showPercent val="0"/>
            <c:showBubbleSize val="0"/>
            <c:showLeaderLines val="0"/>
          </c:dLbls>
          <c:dPt>
            <c:idx val="0"/>
            <c:invertIfNegative val="0"/>
            <c:bubble3D val="0"/>
            <c:spPr>
              <a:solidFill>
                <a:srgbClr val="0B1F33"/>
              </a:solidFill>
              <a:effectLst/>
            </c:spPr>
          </c:dPt>
          <c:dPt>
            <c:idx val="1"/>
            <c:invertIfNegative val="0"/>
            <c:bubble3D val="0"/>
            <c:spPr>
              <a:solidFill>
                <a:srgbClr val="F5A300"/>
              </a:solidFill>
              <a:effectLst/>
            </c:spPr>
          </c:dPt>
          <c:dPt>
            <c:idx val="2"/>
            <c:invertIfNegative val="0"/>
            <c:bubble3D val="0"/>
            <c:spPr>
              <a:solidFill>
                <a:srgbClr val="F5A300"/>
              </a:solidFill>
              <a:effectLst/>
            </c:spPr>
          </c:dPt>
          <c:dPt>
            <c:idx val="3"/>
            <c:invertIfNegative val="0"/>
            <c:bubble3D val="0"/>
            <c:spPr>
              <a:solidFill>
                <a:srgbClr val="D92D20"/>
              </a:solidFill>
              <a:effectLst/>
            </c:spPr>
          </c:dPt>
          <c:cat>
            <c:multiLvlStrRef>
              <c:f>Sheet1!$A$2:$A$5</c:f>
              <c:multiLvlStrCache>
                <c:ptCount val="4"/>
                <c:lvl>
                  <c:pt idx="0">
                    <c:v>No error</c:v>
                  </c:pt>
                  <c:pt idx="1">
                    <c:v>Box jitter ±0.5 m</c:v>
                  </c:pt>
                  <c:pt idx="2">
                    <c:v>Zone length 4% off</c:v>
                  </c:pt>
                  <c:pt idx="3">
                    <c:v>FPS assumed 30, really 25</c:v>
                  </c:pt>
                </c:lvl>
              </c:multiLvlStrCache>
            </c:multiLvlStrRef>
          </c:cat>
          <c:val>
            <c:numRef>
              <c:f>Sheet1!$B$2:$B$5</c:f>
              <c:numCache>
                <c:formatCode>General</c:formatCode>
                <c:ptCount val="4"/>
                <c:pt idx="0">
                  <c:v>60</c:v>
                </c:pt>
                <c:pt idx="1">
                  <c:v>61.8</c:v>
                </c:pt>
                <c:pt idx="2">
                  <c:v>62.4</c:v>
                </c:pt>
                <c:pt idx="3">
                  <c:v>72</c:v>
                </c:pt>
              </c:numCache>
            </c:numRef>
          </c:val>
        </c:ser>
        <c:dLbls>
          <c:numFmt formatCode="0.0" sourceLinked="0"/>
          <c:txPr>
            <a:bodyPr/>
            <a:lstStyle/>
            <a:p>
              <a:pPr>
                <a:defRPr b="0" i="0" strike="noStrike" sz="1200" u="none">
                  <a:solidFill>
                    <a:srgbClr val="101828"/>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475467"/>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b"/>
        <c:majorGridlines>
          <c:spPr>
            <a:ln w="9525" cap="flat">
              <a:solidFill>
                <a:srgbClr val="E4E7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98A2B3"/>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CPU ms / image</c:v>
                </c:pt>
              </c:strCache>
            </c:strRef>
          </c:tx>
          <c:spPr>
            <a:solidFill>
              <a:srgbClr val="F5A300"/>
            </a:solidFill>
            <a:effectLst/>
          </c:spPr>
          <c:invertIfNegative val="0"/>
          <c:dLbls>
            <c:numFmt formatCode="0.0 &quot;ms&quot;" sourceLinked="0"/>
            <c:txPr>
              <a:bodyPr/>
              <a:lstStyle/>
              <a:p>
                <a:pPr>
                  <a:defRPr b="0" i="0" strike="noStrike" sz="1200" u="none">
                    <a:solidFill>
                      <a:srgbClr val="101828"/>
                    </a:solidFill>
                    <a:latin typeface="+mn-lt"/>
                  </a:defRPr>
                </a:pPr>
              </a:p>
            </c:txPr>
            <c:showLegendKey val="0"/>
            <c:showVal val="1"/>
            <c:showCatName val="0"/>
            <c:showSerName val="0"/>
            <c:showPercent val="0"/>
            <c:showBubbleSize val="0"/>
            <c:showLeaderLines val="0"/>
          </c:dLbls>
          <c:dPt>
            <c:idx val="0"/>
            <c:invertIfNegative val="0"/>
            <c:bubble3D val="0"/>
            <c:spPr>
              <a:solidFill>
                <a:srgbClr val="F5A300"/>
              </a:solidFill>
              <a:effectLst/>
            </c:spPr>
          </c:dPt>
          <c:dPt>
            <c:idx val="1"/>
            <c:invertIfNegative val="0"/>
            <c:bubble3D val="0"/>
            <c:spPr>
              <a:solidFill>
                <a:srgbClr val="98A2B3"/>
              </a:solidFill>
              <a:effectLst/>
            </c:spPr>
          </c:dPt>
          <c:dPt>
            <c:idx val="2"/>
            <c:invertIfNegative val="0"/>
            <c:bubble3D val="0"/>
            <c:spPr>
              <a:solidFill>
                <a:srgbClr val="98A2B3"/>
              </a:solidFill>
              <a:effectLst/>
            </c:spPr>
          </c:dPt>
          <c:cat>
            <c:multiLvlStrRef>
              <c:f>Sheet1!$A$2:$A$4</c:f>
              <c:multiLvlStrCache>
                <c:ptCount val="3"/>
                <c:lvl>
                  <c:pt idx="0">
                    <c:v>v8n  ·  mAP 37.3</c:v>
                  </c:pt>
                  <c:pt idx="1">
                    <c:v>v8s  ·  mAP 44.9</c:v>
                  </c:pt>
                  <c:pt idx="2">
                    <c:v>v8m  ·  mAP 50.2</c:v>
                  </c:pt>
                </c:lvl>
              </c:multiLvlStrCache>
            </c:multiLvlStrRef>
          </c:cat>
          <c:val>
            <c:numRef>
              <c:f>Sheet1!$B$2:$B$4</c:f>
              <c:numCache>
                <c:formatCode>General</c:formatCode>
                <c:ptCount val="3"/>
                <c:pt idx="0">
                  <c:v>80.4</c:v>
                </c:pt>
                <c:pt idx="1">
                  <c:v>128.4</c:v>
                </c:pt>
                <c:pt idx="2">
                  <c:v>234.7</c:v>
                </c:pt>
              </c:numCache>
            </c:numRef>
          </c:val>
        </c:ser>
        <c:dLbls>
          <c:numFmt formatCode="0.0 &quot;ms&quot;" sourceLinked="0"/>
          <c:txPr>
            <a:bodyPr/>
            <a:lstStyle/>
            <a:p>
              <a:pPr>
                <a:defRPr b="0" i="0" strike="noStrike" sz="1200" u="none">
                  <a:solidFill>
                    <a:srgbClr val="101828"/>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467"/>
                </a:solidFill>
                <a:latin typeface="+mn-lt"/>
              </a:defRPr>
            </a:pPr>
            <a:endParaRPr lang="en-US"/>
          </a:p>
        </c:txPr>
        <c:crossAx val="2094734552"/>
        <c:crosses val="autoZero"/>
        <c:auto val="1"/>
        <c:lblAlgn val="ctr"/>
        <c:noMultiLvlLbl val="1"/>
      </c:catAx>
      <c:valAx>
        <c:axId val="2094734552"/>
        <c:scaling>
          <c:orientation val="minMax"/>
          <c:max val="250"/>
          <c:min val="0"/>
        </c:scaling>
        <c:delete val="0"/>
        <c:axPos val="l"/>
        <c:majorGridlines>
          <c:spPr>
            <a:ln w="9525" cap="flat">
              <a:solidFill>
                <a:srgbClr val="E4E7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8A2B3"/>
                </a:solidFill>
                <a:latin typeface="+mn-lt"/>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 60 km/h</c:v>
                </c:pt>
              </c:strCache>
            </c:strRef>
          </c:tx>
          <c:spPr>
            <a:solidFill>
              <a:srgbClr val="0B1F3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c:v>
                  </c:pt>
                </c:lvl>
              </c:multiLvlStrCache>
            </c:multiLvlStrRef>
          </c:cat>
          <c:val>
            <c:numRef>
              <c:f>Sheet1!$B$2:$B$2</c:f>
              <c:numCache>
                <c:formatCode>General</c:formatCode>
                <c:ptCount val="1"/>
                <c:pt idx="0">
                  <c:v>0</c:v>
                </c:pt>
              </c:numCache>
            </c:numRef>
          </c:val>
        </c:ser>
        <c:ser>
          <c:idx val="1"/>
          <c:order val="1"/>
          <c:tx>
            <c:strRef>
              <c:f>Sheet1!$C$1</c:f>
              <c:strCache>
                <c:ptCount val="1"/>
                <c:pt idx="0">
                  <c:v>&gt; 60 km/h</c:v>
                </c:pt>
              </c:strCache>
            </c:strRef>
          </c:tx>
          <c:spPr>
            <a:solidFill>
              <a:srgbClr val="D92D2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c:f>
              <c:multiLvlStrCache>
                <c:ptCount val="1"/>
                <c:lvl>
                  <c:pt idx="0">
                    <c:v>—</c:v>
                  </c:pt>
                </c:lvl>
              </c:multiLvlStrCache>
            </c:multiLvlStrRef>
          </c:cat>
          <c:val>
            <c:numRef>
              <c:f>Sheet1!$C$2:$C$2</c:f>
              <c:numCache>
                <c:formatCode>General</c:formatCode>
                <c:ptCount val="1"/>
                <c:pt idx="0">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25"/>
        <c:overlap val="100"/>
        <c:axId val="2094734554"/>
        <c:axId val="2094734552"/>
        <c:axId val="2094734556"/>
      </c:barChart>
      <c:catAx>
        <c:axId val="2094734554"/>
        <c:scaling>
          <c:orientation val="minMax"/>
        </c:scaling>
        <c:delete val="0"/>
        <c:axPos val="b"/>
        <c:title>
          <c:tx>
            <c:rich>
              <a:bodyPr/>
              <a:lstStyle/>
              <a:p>
                <a:pPr>
                  <a:defRPr sz="1100" b="0" i="0" u="none" strike="noStrike">
                    <a:solidFill>
                      <a:srgbClr val="98A2B3"/>
                    </a:solidFill>
                    <a:latin typeface="Arial"/>
                  </a:defRPr>
                </a:pPr>
                <a:r>
                  <a:rPr sz="1100" b="0" i="0" u="none" strike="noStrike">
                    <a:solidFill>
                      <a:srgbClr val="98A2B3"/>
                    </a:solidFill>
                    <a:latin typeface="Arial"/>
                  </a:rPr>
                  <a:t>km/h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75467"/>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7EC"/>
              </a:solidFill>
              <a:prstDash val="solid"/>
              <a:round/>
            </a:ln>
          </c:spPr>
        </c:majorGridlines>
        <c:title>
          <c:tx>
            <c:rich>
              <a:bodyPr/>
              <a:lstStyle/>
              <a:p>
                <a:pPr>
                  <a:defRPr sz="1100" b="0" i="0" u="none" strike="noStrike">
                    <a:solidFill>
                      <a:srgbClr val="98A2B3"/>
                    </a:solidFill>
                    <a:latin typeface="Arial"/>
                  </a:defRPr>
                </a:pPr>
                <a:r>
                  <a:rPr sz="1100" b="0" i="0" u="none" strike="noStrike">
                    <a:solidFill>
                      <a:srgbClr val="98A2B3"/>
                    </a:solidFill>
                    <a:latin typeface="Arial"/>
                  </a:rPr>
                  <a:t>vehicles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98A2B3"/>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47546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~30 s]
Good morning. We're Thithiksha, Arul and DPD, and our topic is Computer Vision and Automation.
Rather than survey the field, we'll take one real, local problem and build the whole solution in front of you: detecting speeding vehicles on Coimbatore's GD Naidu Flyover using only a camera.
The 60 on this slide is the flyover's posted speed limit. Everything in the next 25 minutes builds towards one question: did a vehicle cross 60, and can a computer decide that by itself?
I'll cover how machines see, Arul will explain how we go from detections to speed, and DPD will close the loop and run a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~1 min]
This is the GD Naidu Elevated Expressway on Avinashi Road: 10.1 kilometres, four lanes, from Uppilipalayam to Goldwins. It opened on 9 October 2025 and it's the longest flyover in Tamil Nadu. It skips about twelve signals, which is exactly why people speed on it.
The posted limit is 60 km/h. Within days of opening, a car coming off the flyover near Goldwins hit a parked truck and three people died. Witnesses said vehicles routinely ignore the limit.
On an elevated road with no junctions, you lose your sense of speed, so 90 can feel like 60. A traffic officer with a radar gun can't cover 10 km. That's an automation problem, and the sensor that can solve it is a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~1 min]
This isn't hypothetical. The State Highways Department has installed 44 AI cameras and 16 display boards on this flyover, for about 3 crore rupees.
More than three months after installation, the system was still in trial and no fines had been issued. The reason was accuracy: it reportedly started at around 20%, with misidentified violations, and was tuned up to about 80%.
80% sounds good until you remember that one in five tickets would go to the wrong person. That's the tension in this whole talk: automating perception is easy to demo and hard to trust.
So today we'll show how a system like this works, stage by stage, where it breaks, and then a working version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~40 s]
Here's the map for the talk. Every automated vision system is a pipeline, and ours has five stages. Pixels: what an image actually is to a computer. Detect: finding every vehicle in a frame. Track: knowing that the car in this frame is the same car in the next frame. Measure: converting pixel movement into kilometres per hour. Act: turning that number into a decision and evidence, with no human in between.
I'll cover pixels and detection. Arul, who built this system during his internship, covers tracking and measurement. DPD closes the loop with automation and the live demo.
Watch the small chips at the top right of each slide; they show where we are in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~10 s]
Let's start at the bottom: what does a camera actually give a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~1 min]
A camera doesn't give us "a car". It gives us a 3D array: height, width, and three colour channels, each value from 0 to 255. On the left is a frame from highway footage, and the zoom shows the actual pixel values around one vehicle.
One 1080p frame is about 6.2 million numbers. At 30 frames per second, that's nearly 190 million numbers every second.
Everything in computer vision, whether it's classical image processing or deep learning, is a function that takes this array and produces something useful: a mask, a box, a label, or here, a speed. The rest of the talk is that function, one stage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~1.5 min]
Before deep learning, the standard approach to traffic video was background subtraction. You build a statistical model of the empty road (OpenCV's MOG2 is a common choice), and any pixel that differs from it is marked as foreground. On the right of the image you see the mask: white blobs where things are moving.
It's fast and needs no training data, but look at the failure list. Shadows move with the vehicle and inflate the blob. At night, headlight glare creates motion where there's no car. A flyover vibrates, so the whole frame can look like it's moving. Two cars close together merge into one blob. And it never tells you what the blob is.
For counting traffic it's often fine; for issuing a fine to a specific vehicle it isn't. We need a method that recognises vehicles, not just 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~1.5 min]
Convolutional neural networks fix this by learning what to look for. The core operation is convolution: take a small grid of weights called a kernel, slide it across the image, and at every position multiply and add. In the animation the kernel is a Sobel filter, and the output lights up exactly where dark meets bright: a vertical edge.
The key difference from classical CV is that a CNN learns thousands of these kernels from data instead of us designing them. Stacked in layers, early kernels find edges, middle layers combine them into parts like wheels and windows, and deep layers respond to whole objects.
We don't train from scratch. YOLOv8 comes pre-trained on COCO, 118 thousand images with 80 classes, and those classes already include car, motorcycle, bus and truck. That's why our demo needed no training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~1.5 min]
Object detection answers two questions at once: what is in the image, and where. The output is a bounding box, a class and a confidence score, like the boxes on this frame.
YOLO, "You Only Look Once", does it in a single forward pass of the network. The image is divided into grid cells at three scales. Each cell predicts box coordinates and class scores. That produces many overlapping candidate boxes for the same car, so a final step called non-maximum suppression keeps the highest-confidence box and removes others that overlap it too much.
We use YOLOv8 nano, the smallest model: 3.2 million parameters, 37.3 mAP on COCO, small enough to run on a laptop CPU. That trade-off between size and accuracy comes back in DPD's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[Thithiksha | ~1.5 min]
How do we know a detector is good? Not with a single "accuracy" number. First, a predicted box only counts as correct if it overlaps the true box enough. That's Intersection over Union: overlap area divided by combined area. The usual threshold is 0.5.
Then two numbers. Precision: of everything we flagged, how much was real? Recall: of everything that was really there, how much did we find? mAP averages precision across classes and across IoU thresholds from 0.5 to 0.95. That's the 37.3 on the previous slide.
For speed enforcement these aren't equally important. Missing a speeder (low recall) means one gets away. A false positive (low precision) means an innocent person gets a fine. That's why the flyover system stayed in trial at 80%.
That's detection. Over to Arul, who'll show why detection alone can't measure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[Arul | ~10 s]
Thanks, Thithiksha. We can now find vehicles in a frame. To measure speed we need two more things: memory and a ruler.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[Arul | ~1 min]
YOLO processes every frame independently. In frame t it says "car", in t+1 "car", in t+2 "car". It has no idea these are the same car, and speed is about the same object moving over time.
So we add tracking: give every vehicle a persistent ID, here number 7, and follow it from frame to frame. Once we have an identity, we have a trajectory, a list of positions over time. A trajectory plus a clock gives us speed.
The tricky part is that tracking has to survive the real world: missed detections, cars hidden behind trucks, and many similar-looking cars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[Arul | ~2 min]
We use ByteTrack, a tracker published at ECCV 2022. Every frame it runs four steps.
Predict: each existing track has a Kalman filter, a constant-velocity motion model, that predicts where its box should be in the new frame.
Match: we compare those predictions with YOLO's high-confidence detections using IoU, and the Hungarian algorithm finds the best one-to-one assignment.
Rescue: this is ByteTrack's key idea. Most trackers throw away low-confidence detections. ByteTrack does a second matching round with them against the tracks that are still unmatched. A car half-hidden behind a bus gets a low score but it's still a real car, so its ID survives.
Update: leftover detections start new tracks, and tracks unseen for about a second are deleted.
On the MOT17 benchmark it reports 80.3 MOTA at 30 frames per second. In code it's one line from the supervision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[Arul | ~1.5 min]
Now we can follow a car in pixels, but speed needs metres. The camera's perspective is the problem: a car near the camera moves many pixels per metre, and a car far away moves only a few. The same speed would look different depending on where the car is.
The fix is a homography: a 3×3 matrix that maps one plane to another. We click four points on the road that form a rectangle in the real world, for example lane markings, and tell the computer the real width and length of that rectangle in metres. Four point pairs give eight equations, enough to solve for H. OpenCV does this with getPerspectiveTransform.
Apply H to every car's position and we get the bird's-eye view on the right, where one unit is one metre everywhere. For our footage the real size comes from standard lane widths; on the real flyover you'd measure it on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[Arul | ~1.5 min]
With metres and a clock, speed is simple arithmetic. For each tracked vehicle we keep its position in the bird's-eye view over the last second of frames. Speed is the distance it moved divided by the time, and the time is the number of frames divided by the frame rate. Multiply metres per second by 3.6 to get kilometres per hour.
Here's a real vehicle from our run: it moved Δy metres over N frames.
Why one second and not frame to frame? Between two consecutive frames a car moves maybe 50 centimetres, and the box edge wobbles by a similar amount. Averaging over about thirty frames smooths that out. The cost is that a new vehicle needs about half a second before we trust its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[Arul | ~1.5 min]
This is where it's easy to oversell, so let's be precise. Speed equals distance over time, so any error in distance or time goes straight into the speed.
Box jitter of half a metre over one second adds about 1.8 km/h. If the calibration zone is 4% off, say 52 metres assumed when it's really 50, every speed is 4% high and a car at 60 reads 62.4. The worst is time: if the code assumes 30 frames per second and the camera actually records 25, every speed is 20% high, and a legal driver at 60 shows as 72.
Every one of these would fine someone who did nothing wrong. So we calibrate on site, read real timestamps, use the median over a window, drop tracks whose ID switched, and real systems add an enforcement tolerance above the limit.
That's tracking and measurement. DPD will now close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 ~10 s]
Thanks, Arul. We now have a number, a speed in km/h. Automation is what happens next, without a human in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 ~1.5 min]
Classic automation is sense, think, act. Vision is the sensing; this slide is the thinking and acting.
For every tracked vehicle, every frame, a simple rule runs: is the speed above 60? If yes, we capture evidence: a snapshot with the box, the ID, the measured speed and the timestamp. We record it in a log, and then something acts on it: an alert, a "slow down" message on one of the flyover's display boards, or in a full system an e-challan.
I want to be clear about scope. Our demo does the green column: the rule, the red box, the evidence images and the CSV log. A production system adds number-plate reading, a human reviewing every case before a fine is issued, and integration with the e-challan system. The human review is not optional. It's the answer to the 80%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 ~1 min]
Here's the full system as it runs in the demo. Frames come from the camera or a video file through OpenCV. YOLOv8 nano detects vehicles, ByteTrack from the supervision library assigns IDs, the homography and speed module converts positions to km/h, and the rule engine decides and records.
The orange numbers are what we measured per frame on a laptop CPU. Detection is by far the most expensive stage; everything after it is almost free. That matters for the next slide.
The outputs are a live annotated view, one evidence image per violating vehicle, and two CSV logs. Every block is open source, and the whole pipeline is about 200 lines of Python.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 ~1 min]
At 30 frames per second, everything has to finish in 33 milliseconds per frame, or the system falls behind the camera. On our machine we measured — frames per second end to end.
The chart is the core trade-off, from Ultralytics' own benchmarks on CPU: the nano model takes about 80 ms per image at 37.3 mAP; the medium model is three times slower for about 13 points more mAP. For speed estimation, nano is accurate enough on cars, which are large, distinct objects.
If you need more headroom: use a smaller input, process every second frame (speed is computed over a one-second window, so that still works), move to an edge GPU like a Jetson, or quantise the model to 8-bit integers.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 ~1 min]
Four limits we want to state honestly.
Environment: our model was trained mostly on daylight images. Night, rain and headlight glare all reduce confidence.
Geometry: a flyover vibrates, and a camera that shifts by a few pixels breaks the calibration. Our method also assumes a flat road, and real roads curve and slope.
Legal grade: a demo isn't evidence. Fines require certified, audited accuracy. The real system on this flyover spent months in trial for exactly this reason.
Privacy: images of vehicles and number plates are personal data, so storing them needs limits on retention, access and purpose.
Now, let's see it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 5-10 min | DEMO CHECKLIST]
BEFORE THE TALK
- cd cv-automation-ppt/demo, then activate the venv
- Dry run: python speed_detection.py --source &lt;video&gt; --show
- Close other heavy apps; plug in the charger (CPU speed drops on battery)
- Keep outputs/annotated.mp4 open in a video player as a BACKUP if live inference fails
DURING THE DEMO (switch from PowerPoint with Alt+Tab; notes stay in Presenter View)
1. Show calibrate.py's frame with the 4-point zone: "this is the homography from Arul's slide"
2. Run live with --show. Point out: HUD (FPS, vehicles, violations), stable IDs, speed appearing after ~0.5 s
3. Pause on a red box: speed &gt; 60, so an evidence snapshot was saved
4. Open outputs/violations/ and show one JPEG, then violations.csv
5. Optional: re-run with --limit 80 to show the rule is just a parameter
SAY
"Everything you just saw is the five stages from the roadmap, about 200 lines of Python, no training."
Then return to PowerPoint, next slide: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 ~1.5 min]
Summarise the numbers on this slide.
Two honest caveats. First, this is public highway footage, not the flyover, and the calibration uses assumed lane dimensions, so treat the absolute speeds as estimates. Second, we haven't measured ground-truth speeds with a radar, so this shows the pipeline works, not that it's certified-accurate. That validation is exactly what the real flyover system has been doing during its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 ~45 s]
Three things to take away.
One: an automated vision system is a pipeline of perception, measurement and a rule. Each stage is well understood and available as open source; we didn't train anything.
Two: the model is the easy part. Whether the speed is right depends on calibration, frame timing and conditions like night, rain and vibration.
Three: precision before scale. When the output is a fine, a false positive punishes an innocent person, so keep a human in the loop until the system has proven its accuracy, as the flyover trial is doing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 need to read out; leave up briefly if asked about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[DPD]
Thank you. We're happy to take questions, on the theory or on the code.
Likely questions:
- Why not radar? Radar is accurate but per-lane and expensive; one camera covers several lanes and also gives evidence images. Real systems often fuse both.
- How accurate is it? Without radar ground truth we can't claim a number. The error analysis slide shows how to bound it.
- Number plates? Needs a higher-resolution camera and an OCR stage (for example a plate detector followed by an OCR model). That's the next extension.
- Night? Needs IR illumination or a model fine-tuned on night footage.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rtlCol="0"/>
          <a:lstStyle>
            <a:lvl1pPr indent="0" marL="0">
              <a:buNone/>
              <a:defRPr lang="en-US" sz="1200" b="1" spc="200" kern="0" dirty="0">
                <a:solidFill>
                  <a:schemeClr val="accent6"/>
                </a:solidFill>
              </a:defRPr>
            </a:lvl1pPr>
          </a:lstStyle>
          <a:p>
            <a:pPr indent="0" marL="0">
              <a:buNone/>
            </a:pP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nvSpPr>
        <p:spPr>
          <a:xfrm>
            <a:off x="548640" y="6419088"/>
            <a:ext cx="6400800" cy="256032"/>
          </a:xfrm>
          <a:prstGeom prst="rect">
            <a:avLst/>
          </a:prstGeom>
          <a:noFill/>
          <a:ln/>
        </p:spPr>
        <p:txBody>
          <a:bodyPr wrap="square" lIns="0" tIns="0" rIns="0" bIns="0" rtlCol="0" anchor="ctr"/>
          <a:lstStyle/>
          <a:p>
            <a:pPr indent="0" marL="0">
              <a:buNone/>
            </a:pPr>
            <a:r>
              <a:rPr lang="en-US" sz="1000" dirty="0">
                <a:solidFill>
                  <a:schemeClr val="accent5"/>
                </a:solidFill>
              </a:rPr>
              <a:t>Computer Vision &amp; Automation  |  GD Naidu Flyover speed check</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3657600" cy="1371600"/>
          </a:xfrm>
          <a:prstGeom prst="rect">
            <a:avLst/>
          </a:prstGeom>
          <a:noFill/>
          <a:ln/>
        </p:spPr>
        <p:txBody>
          <a:bodyPr wrap="square" rtlCol="0"/>
          <a:lstStyle>
            <a:lvl1pPr indent="0" marL="0">
              <a:buNone/>
              <a:defRPr lang="en-US" sz="9600" b="1" dirty="0">
                <a:solidFill>
                  <a:schemeClr val="accent1"/>
                </a:solidFill>
              </a:defRPr>
            </a:lvl1pPr>
          </a:lstStyle>
          <a:p>
            <a:pPr indent="0" marL="0">
              <a:buNone/>
            </a:pPr>
            <a:endParaRPr lang="en-US" sz="9600" dirty="0"/>
          </a:p>
        </p:txBody>
      </p:sp>
      <p:sp>
        <p:nvSpPr>
          <p:cNvPr id="3" name="Text 0"/>
          <p:cNvSpPr/>
          <p:nvPr>
            <p:ph idx="101" type="title" hasCustomPrompt="1"/>
          </p:nvPr>
        </p:nvSpPr>
        <p:spPr>
          <a:xfrm>
            <a:off x="548640" y="2880360"/>
            <a:ext cx="1005840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548640" y="3840480"/>
            <a:ext cx="10058400" cy="4114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slideLayout" Target="../slideLayouts/slideLayout2.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gif"/><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2.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2.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6-1.png"/><Relationship Id="rId3" Type="http://schemas.openxmlformats.org/officeDocument/2006/relationships/image" Target="../media/image-16-2.png"/><Relationship Id="rId4" Type="http://schemas.openxmlformats.org/officeDocument/2006/relationships/image" Target="../media/image-16-3.png"/><Relationship Id="rId5" Type="http://schemas.openxmlformats.org/officeDocument/2006/relationships/image" Target="../media/image-16-4.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image" Target="../media/image-18-13.png"/><Relationship Id="rId14" Type="http://schemas.openxmlformats.org/officeDocument/2006/relationships/image" Target="../media/image-18-14.png"/><Relationship Id="rId15" Type="http://schemas.openxmlformats.org/officeDocument/2006/relationships/image" Target="../media/image-18-15.png"/><Relationship Id="rId16" Type="http://schemas.openxmlformats.org/officeDocument/2006/relationships/image" Target="../media/image-18-16.png"/><Relationship Id="rId17" Type="http://schemas.openxmlformats.org/officeDocument/2006/relationships/image" Target="../media/image-18-17.png"/><Relationship Id="rId18" Type="http://schemas.openxmlformats.org/officeDocument/2006/relationships/slideLayout" Target="../slideLayouts/slideLayout2.xml"/><Relationship Id="rId19"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image" Target="../media/image-19-9.png"/><Relationship Id="rId10" Type="http://schemas.openxmlformats.org/officeDocument/2006/relationships/image" Target="../media/image-19-10.png"/><Relationship Id="rId11" Type="http://schemas.openxmlformats.org/officeDocument/2006/relationships/image" Target="../media/image-19-11.png"/><Relationship Id="rId12" Type="http://schemas.openxmlformats.org/officeDocument/2006/relationships/image" Target="../media/image-19-12.png"/><Relationship Id="rId13" Type="http://schemas.openxmlformats.org/officeDocument/2006/relationships/slideLayout" Target="../slideLayouts/slideLayout2.xml"/><Relationship Id="rId1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7315200" cy="320040"/>
          </a:xfrm>
          <a:prstGeom prst="rect">
            <a:avLst/>
          </a:prstGeom>
          <a:noFill/>
          <a:ln/>
        </p:spPr>
        <p:txBody>
          <a:bodyPr wrap="square" lIns="0" tIns="0" rIns="0" bIns="0" rtlCol="0" anchor="t"/>
          <a:lstStyle/>
          <a:p>
            <a:pPr indent="0" marL="0">
              <a:buNone/>
            </a:pPr>
            <a:r>
              <a:rPr lang="en-US" sz="1300" b="1" spc="200" kern="0" dirty="0">
                <a:solidFill>
                  <a:schemeClr val="accent1"/>
                </a:solidFill>
              </a:rPr>
              <a:t>COMPUTER VISION (20XW97)  ·  COURSE PRESENTATION</a:t>
            </a:r>
            <a:endParaRPr lang="en-US" sz="1300" dirty="0"/>
          </a:p>
        </p:txBody>
      </p:sp>
      <p:sp>
        <p:nvSpPr>
          <p:cNvPr id="3" name="Text 1"/>
          <p:cNvSpPr txBox="1"/>
          <p:nvPr/>
        </p:nvSpPr>
        <p:spPr>
          <a:xfrm>
            <a:off x="548640" y="1828800"/>
            <a:ext cx="7498080" cy="1737360"/>
          </a:xfrm>
          <a:prstGeom prst="rect">
            <a:avLst/>
          </a:prstGeom>
          <a:noFill/>
          <a:ln/>
        </p:spPr>
        <p:txBody>
          <a:bodyPr wrap="square" lIns="0" tIns="0" rIns="0" bIns="0" rtlCol="0" anchor="t"/>
          <a:lstStyle/>
          <a:p>
            <a:pPr indent="0" marL="0">
              <a:buNone/>
            </a:pPr>
            <a:r>
              <a:rPr lang="en-US" sz="5200" b="1" dirty="0">
                <a:solidFill>
                  <a:schemeClr val="bg1"/>
                </a:solidFill>
                <a:latin typeface="Arial" pitchFamily="34" charset="0"/>
                <a:ea typeface="Arial" pitchFamily="34" charset="-122"/>
                <a:cs typeface="Arial" pitchFamily="34" charset="-120"/>
              </a:rPr>
              <a:t>Computer Vision &amp; Automation</a:t>
            </a:r>
            <a:endParaRPr lang="en-US" sz="5200" dirty="0"/>
          </a:p>
        </p:txBody>
      </p:sp>
      <p:sp>
        <p:nvSpPr>
          <p:cNvPr id="4" name="Text 2"/>
          <p:cNvSpPr txBox="1"/>
          <p:nvPr/>
        </p:nvSpPr>
        <p:spPr>
          <a:xfrm>
            <a:off x="548640" y="3703320"/>
            <a:ext cx="6949440" cy="822960"/>
          </a:xfrm>
          <a:prstGeom prst="rect">
            <a:avLst/>
          </a:prstGeom>
          <a:noFill/>
          <a:ln/>
        </p:spPr>
        <p:txBody>
          <a:bodyPr wrap="square" lIns="0" tIns="0" rIns="0" bIns="0" rtlCol="0" anchor="t"/>
          <a:lstStyle/>
          <a:p>
            <a:pPr indent="0" marL="0">
              <a:buNone/>
            </a:pPr>
            <a:r>
              <a:rPr lang="en-US" sz="2000" dirty="0">
                <a:solidFill>
                  <a:srgbClr val="D0D5DD"/>
                </a:solidFill>
              </a:rPr>
              <a:t>From pixels to penalties: automated speed enforcement on Coimbatore's GD Naidu Flyover</a:t>
            </a:r>
            <a:endParaRPr lang="en-US" sz="2000" dirty="0"/>
          </a:p>
        </p:txBody>
      </p:sp>
      <p:sp>
        <p:nvSpPr>
          <p:cNvPr id="5" name="Text 3"/>
          <p:cNvSpPr txBox="1"/>
          <p:nvPr/>
        </p:nvSpPr>
        <p:spPr>
          <a:xfrm>
            <a:off x="548640" y="5257800"/>
            <a:ext cx="6400800" cy="365760"/>
          </a:xfrm>
          <a:prstGeom prst="rect">
            <a:avLst/>
          </a:prstGeom>
          <a:noFill/>
          <a:ln/>
        </p:spPr>
        <p:txBody>
          <a:bodyPr wrap="square" lIns="0" tIns="0" rIns="0" bIns="0" rtlCol="0" anchor="t"/>
          <a:lstStyle/>
          <a:p>
            <a:pPr indent="0" marL="0">
              <a:buNone/>
            </a:pPr>
            <a:r>
              <a:rPr lang="en-US" sz="1800" b="1" dirty="0">
                <a:solidFill>
                  <a:schemeClr val="bg1"/>
                </a:solidFill>
              </a:rPr>
              <a:t>Thithiksha   ·   Arul   ·   DPD</a:t>
            </a:r>
            <a:endParaRPr lang="en-US" sz="1800" dirty="0"/>
          </a:p>
        </p:txBody>
      </p:sp>
      <p:sp>
        <p:nvSpPr>
          <p:cNvPr id="6" name="speed-sign"/>
          <p:cNvSpPr/>
          <p:nvPr/>
        </p:nvSpPr>
        <p:spPr>
          <a:xfrm>
            <a:off x="8229600" y="1600200"/>
            <a:ext cx="3291840" cy="3291840"/>
          </a:xfrm>
          <a:prstGeom prst="ellipse">
            <a:avLst/>
          </a:prstGeom>
          <a:solidFill>
            <a:schemeClr val="bg1"/>
          </a:solidFill>
          <a:ln w="279400">
            <a:solidFill>
              <a:schemeClr val="accent2"/>
            </a:solidFill>
            <a:prstDash val="solid"/>
          </a:ln>
        </p:spPr>
      </p:sp>
      <p:sp>
        <p:nvSpPr>
          <p:cNvPr id="7" name="Text 5"/>
          <p:cNvSpPr txBox="1"/>
          <p:nvPr/>
        </p:nvSpPr>
        <p:spPr>
          <a:xfrm>
            <a:off x="8229600" y="1600200"/>
            <a:ext cx="3291840" cy="3291840"/>
          </a:xfrm>
          <a:prstGeom prst="rect">
            <a:avLst/>
          </a:prstGeom>
          <a:noFill/>
          <a:ln/>
        </p:spPr>
        <p:txBody>
          <a:bodyPr wrap="square" lIns="0" tIns="0" rIns="0" bIns="0" rtlCol="0" anchor="ctr"/>
          <a:lstStyle/>
          <a:p>
            <a:pPr algn="ctr" indent="0" marL="0">
              <a:buNone/>
            </a:pPr>
            <a:r>
              <a:rPr lang="en-US" sz="11000" b="1" dirty="0">
                <a:solidFill>
                  <a:schemeClr val="tx1"/>
                </a:solidFill>
              </a:rPr>
              <a:t>60</a:t>
            </a:r>
            <a:endParaRPr lang="en-US" sz="11000" dirty="0"/>
          </a:p>
        </p:txBody>
      </p:sp>
      <p:sp>
        <p:nvSpPr>
          <p:cNvPr id="8" name="Text 6"/>
          <p:cNvSpPr txBox="1"/>
          <p:nvPr/>
        </p:nvSpPr>
        <p:spPr>
          <a:xfrm>
            <a:off x="7863840" y="5120640"/>
            <a:ext cx="4023360" cy="320040"/>
          </a:xfrm>
          <a:prstGeom prst="rect">
            <a:avLst/>
          </a:prstGeom>
          <a:noFill/>
          <a:ln/>
        </p:spPr>
        <p:txBody>
          <a:bodyPr wrap="square" lIns="0" tIns="0" rIns="0" bIns="0" rtlCol="0" anchor="t"/>
          <a:lstStyle/>
          <a:p>
            <a:pPr algn="ctr" indent="0" marL="0">
              <a:buNone/>
            </a:pPr>
            <a:r>
              <a:rPr lang="en-US" sz="1300" dirty="0">
                <a:solidFill>
                  <a:schemeClr val="accent5"/>
                </a:solidFill>
              </a:rPr>
              <a:t>km/h  ·  posted limit on the flyover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THE PROBLEM</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Tamil Nadu's longest flyover has a speeding problem</a:t>
            </a:r>
            <a:endParaRPr lang="en-US" sz="3000" dirty="0"/>
          </a:p>
        </p:txBody>
      </p:sp>
      <p:sp>
        <p:nvSpPr>
          <p:cNvPr id="4" name="flyover-line"/>
          <p:cNvSpPr/>
          <p:nvPr/>
        </p:nvSpPr>
        <p:spPr>
          <a:xfrm>
            <a:off x="731520" y="2057400"/>
            <a:ext cx="10728655" cy="0"/>
          </a:xfrm>
          <a:prstGeom prst="line">
            <a:avLst/>
          </a:prstGeom>
          <a:noFill/>
          <a:ln w="76200">
            <a:solidFill>
              <a:schemeClr val="tx2"/>
            </a:solidFill>
            <a:prstDash val="solid"/>
          </a:ln>
        </p:spPr>
      </p:sp>
      <p:sp>
        <p:nvSpPr>
          <p:cNvPr id="5" name="junction"/>
          <p:cNvSpPr/>
          <p:nvPr/>
        </p:nvSpPr>
        <p:spPr>
          <a:xfrm>
            <a:off x="1556801" y="2167128"/>
            <a:ext cx="0" cy="274320"/>
          </a:xfrm>
          <a:prstGeom prst="line">
            <a:avLst/>
          </a:prstGeom>
          <a:noFill/>
          <a:ln w="19050">
            <a:solidFill>
              <a:schemeClr val="accent5"/>
            </a:solidFill>
            <a:prstDash val="dash"/>
          </a:ln>
        </p:spPr>
      </p:sp>
      <p:sp>
        <p:nvSpPr>
          <p:cNvPr id="6" name="junction"/>
          <p:cNvSpPr/>
          <p:nvPr/>
        </p:nvSpPr>
        <p:spPr>
          <a:xfrm>
            <a:off x="2382082" y="2167128"/>
            <a:ext cx="0" cy="274320"/>
          </a:xfrm>
          <a:prstGeom prst="line">
            <a:avLst/>
          </a:prstGeom>
          <a:noFill/>
          <a:ln w="19050">
            <a:solidFill>
              <a:schemeClr val="accent5"/>
            </a:solidFill>
            <a:prstDash val="dash"/>
          </a:ln>
        </p:spPr>
      </p:sp>
      <p:sp>
        <p:nvSpPr>
          <p:cNvPr id="7" name="junction"/>
          <p:cNvSpPr/>
          <p:nvPr/>
        </p:nvSpPr>
        <p:spPr>
          <a:xfrm>
            <a:off x="3207364" y="2167128"/>
            <a:ext cx="0" cy="274320"/>
          </a:xfrm>
          <a:prstGeom prst="line">
            <a:avLst/>
          </a:prstGeom>
          <a:noFill/>
          <a:ln w="19050">
            <a:solidFill>
              <a:schemeClr val="accent5"/>
            </a:solidFill>
            <a:prstDash val="dash"/>
          </a:ln>
        </p:spPr>
      </p:sp>
      <p:sp>
        <p:nvSpPr>
          <p:cNvPr id="8" name="junction"/>
          <p:cNvSpPr/>
          <p:nvPr/>
        </p:nvSpPr>
        <p:spPr>
          <a:xfrm>
            <a:off x="4032645" y="2167128"/>
            <a:ext cx="0" cy="274320"/>
          </a:xfrm>
          <a:prstGeom prst="line">
            <a:avLst/>
          </a:prstGeom>
          <a:noFill/>
          <a:ln w="19050">
            <a:solidFill>
              <a:schemeClr val="accent5"/>
            </a:solidFill>
            <a:prstDash val="dash"/>
          </a:ln>
        </p:spPr>
      </p:sp>
      <p:sp>
        <p:nvSpPr>
          <p:cNvPr id="9" name="junction"/>
          <p:cNvSpPr/>
          <p:nvPr/>
        </p:nvSpPr>
        <p:spPr>
          <a:xfrm>
            <a:off x="4857926" y="2167128"/>
            <a:ext cx="0" cy="274320"/>
          </a:xfrm>
          <a:prstGeom prst="line">
            <a:avLst/>
          </a:prstGeom>
          <a:noFill/>
          <a:ln w="19050">
            <a:solidFill>
              <a:schemeClr val="accent5"/>
            </a:solidFill>
            <a:prstDash val="dash"/>
          </a:ln>
        </p:spPr>
      </p:sp>
      <p:sp>
        <p:nvSpPr>
          <p:cNvPr id="10" name="junction"/>
          <p:cNvSpPr/>
          <p:nvPr/>
        </p:nvSpPr>
        <p:spPr>
          <a:xfrm>
            <a:off x="5683207" y="2167128"/>
            <a:ext cx="0" cy="274320"/>
          </a:xfrm>
          <a:prstGeom prst="line">
            <a:avLst/>
          </a:prstGeom>
          <a:noFill/>
          <a:ln w="19050">
            <a:solidFill>
              <a:schemeClr val="accent5"/>
            </a:solidFill>
            <a:prstDash val="dash"/>
          </a:ln>
        </p:spPr>
      </p:sp>
      <p:sp>
        <p:nvSpPr>
          <p:cNvPr id="11" name="junction"/>
          <p:cNvSpPr/>
          <p:nvPr/>
        </p:nvSpPr>
        <p:spPr>
          <a:xfrm>
            <a:off x="6508488" y="2167128"/>
            <a:ext cx="0" cy="274320"/>
          </a:xfrm>
          <a:prstGeom prst="line">
            <a:avLst/>
          </a:prstGeom>
          <a:noFill/>
          <a:ln w="19050">
            <a:solidFill>
              <a:schemeClr val="accent5"/>
            </a:solidFill>
            <a:prstDash val="dash"/>
          </a:ln>
        </p:spPr>
      </p:sp>
      <p:sp>
        <p:nvSpPr>
          <p:cNvPr id="12" name="junction"/>
          <p:cNvSpPr/>
          <p:nvPr/>
        </p:nvSpPr>
        <p:spPr>
          <a:xfrm>
            <a:off x="7333769" y="2167128"/>
            <a:ext cx="0" cy="274320"/>
          </a:xfrm>
          <a:prstGeom prst="line">
            <a:avLst/>
          </a:prstGeom>
          <a:noFill/>
          <a:ln w="19050">
            <a:solidFill>
              <a:schemeClr val="accent5"/>
            </a:solidFill>
            <a:prstDash val="dash"/>
          </a:ln>
        </p:spPr>
      </p:sp>
      <p:sp>
        <p:nvSpPr>
          <p:cNvPr id="13" name="junction"/>
          <p:cNvSpPr/>
          <p:nvPr/>
        </p:nvSpPr>
        <p:spPr>
          <a:xfrm>
            <a:off x="8159051" y="2167128"/>
            <a:ext cx="0" cy="274320"/>
          </a:xfrm>
          <a:prstGeom prst="line">
            <a:avLst/>
          </a:prstGeom>
          <a:noFill/>
          <a:ln w="19050">
            <a:solidFill>
              <a:schemeClr val="accent5"/>
            </a:solidFill>
            <a:prstDash val="dash"/>
          </a:ln>
        </p:spPr>
      </p:sp>
      <p:sp>
        <p:nvSpPr>
          <p:cNvPr id="14" name="junction"/>
          <p:cNvSpPr/>
          <p:nvPr/>
        </p:nvSpPr>
        <p:spPr>
          <a:xfrm>
            <a:off x="8984332" y="2167128"/>
            <a:ext cx="0" cy="274320"/>
          </a:xfrm>
          <a:prstGeom prst="line">
            <a:avLst/>
          </a:prstGeom>
          <a:noFill/>
          <a:ln w="19050">
            <a:solidFill>
              <a:schemeClr val="accent5"/>
            </a:solidFill>
            <a:prstDash val="dash"/>
          </a:ln>
        </p:spPr>
      </p:sp>
      <p:sp>
        <p:nvSpPr>
          <p:cNvPr id="15" name="junction"/>
          <p:cNvSpPr/>
          <p:nvPr/>
        </p:nvSpPr>
        <p:spPr>
          <a:xfrm>
            <a:off x="9809613" y="2167128"/>
            <a:ext cx="0" cy="274320"/>
          </a:xfrm>
          <a:prstGeom prst="line">
            <a:avLst/>
          </a:prstGeom>
          <a:noFill/>
          <a:ln w="19050">
            <a:solidFill>
              <a:schemeClr val="accent5"/>
            </a:solidFill>
            <a:prstDash val="dash"/>
          </a:ln>
        </p:spPr>
      </p:sp>
      <p:sp>
        <p:nvSpPr>
          <p:cNvPr id="16" name="junction"/>
          <p:cNvSpPr/>
          <p:nvPr/>
        </p:nvSpPr>
        <p:spPr>
          <a:xfrm>
            <a:off x="10634894" y="2167128"/>
            <a:ext cx="0" cy="274320"/>
          </a:xfrm>
          <a:prstGeom prst="line">
            <a:avLst/>
          </a:prstGeom>
          <a:noFill/>
          <a:ln w="19050">
            <a:solidFill>
              <a:schemeClr val="accent5"/>
            </a:solidFill>
            <a:prstDash val="dash"/>
          </a:ln>
        </p:spPr>
      </p:sp>
      <p:sp>
        <p:nvSpPr>
          <p:cNvPr id="17" name="terminus"/>
          <p:cNvSpPr/>
          <p:nvPr/>
        </p:nvSpPr>
        <p:spPr>
          <a:xfrm>
            <a:off x="612648" y="1938528"/>
            <a:ext cx="237744" cy="237744"/>
          </a:xfrm>
          <a:prstGeom prst="ellipse">
            <a:avLst/>
          </a:prstGeom>
          <a:solidFill>
            <a:schemeClr val="accent1"/>
          </a:solidFill>
          <a:ln w="25400">
            <a:solidFill>
              <a:schemeClr val="tx2"/>
            </a:solidFill>
            <a:prstDash val="solid"/>
          </a:ln>
        </p:spPr>
      </p:sp>
      <p:sp>
        <p:nvSpPr>
          <p:cNvPr id="18" name="terminus"/>
          <p:cNvSpPr/>
          <p:nvPr/>
        </p:nvSpPr>
        <p:spPr>
          <a:xfrm>
            <a:off x="11341303" y="1938528"/>
            <a:ext cx="237744" cy="237744"/>
          </a:xfrm>
          <a:prstGeom prst="ellipse">
            <a:avLst/>
          </a:prstGeom>
          <a:solidFill>
            <a:schemeClr val="accent1"/>
          </a:solidFill>
          <a:ln w="25400">
            <a:solidFill>
              <a:schemeClr val="tx2"/>
            </a:solidFill>
            <a:prstDash val="solid"/>
          </a:ln>
        </p:spPr>
      </p:sp>
      <p:sp>
        <p:nvSpPr>
          <p:cNvPr id="19" name="Text 17"/>
          <p:cNvSpPr txBox="1"/>
          <p:nvPr/>
        </p:nvSpPr>
        <p:spPr>
          <a:xfrm>
            <a:off x="640080" y="1554480"/>
            <a:ext cx="2743200" cy="274320"/>
          </a:xfrm>
          <a:prstGeom prst="rect">
            <a:avLst/>
          </a:prstGeom>
          <a:noFill/>
          <a:ln/>
        </p:spPr>
        <p:txBody>
          <a:bodyPr wrap="square" lIns="0" tIns="0" rIns="0" bIns="0" rtlCol="0" anchor="t"/>
          <a:lstStyle/>
          <a:p>
            <a:pPr indent="0" marL="0">
              <a:buNone/>
            </a:pPr>
            <a:r>
              <a:rPr lang="en-US" sz="1400" b="1" dirty="0">
                <a:solidFill>
                  <a:schemeClr val="tx2"/>
                </a:solidFill>
              </a:rPr>
              <a:t>Uppilipalayam</a:t>
            </a:r>
            <a:endParaRPr lang="en-US" sz="1400" dirty="0"/>
          </a:p>
        </p:txBody>
      </p:sp>
      <p:sp>
        <p:nvSpPr>
          <p:cNvPr id="20" name="Text 18"/>
          <p:cNvSpPr txBox="1"/>
          <p:nvPr/>
        </p:nvSpPr>
        <p:spPr>
          <a:xfrm>
            <a:off x="8808415" y="1554480"/>
            <a:ext cx="2743200" cy="274320"/>
          </a:xfrm>
          <a:prstGeom prst="rect">
            <a:avLst/>
          </a:prstGeom>
          <a:noFill/>
          <a:ln/>
        </p:spPr>
        <p:txBody>
          <a:bodyPr wrap="square" lIns="0" tIns="0" rIns="0" bIns="0" rtlCol="0" anchor="t"/>
          <a:lstStyle/>
          <a:p>
            <a:pPr algn="r" indent="0" marL="0">
              <a:buNone/>
            </a:pPr>
            <a:r>
              <a:rPr lang="en-US" sz="1400" b="1" dirty="0">
                <a:solidFill>
                  <a:schemeClr val="tx2"/>
                </a:solidFill>
              </a:rPr>
              <a:t>Goldwins</a:t>
            </a:r>
            <a:endParaRPr lang="en-US" sz="1400" dirty="0"/>
          </a:p>
        </p:txBody>
      </p:sp>
      <p:sp>
        <p:nvSpPr>
          <p:cNvPr id="21" name="Text 19"/>
          <p:cNvSpPr txBox="1"/>
          <p:nvPr/>
        </p:nvSpPr>
        <p:spPr>
          <a:xfrm>
            <a:off x="548640" y="2514600"/>
            <a:ext cx="11094415" cy="274320"/>
          </a:xfrm>
          <a:prstGeom prst="rect">
            <a:avLst/>
          </a:prstGeom>
          <a:noFill/>
          <a:ln/>
        </p:spPr>
        <p:txBody>
          <a:bodyPr wrap="square" lIns="0" tIns="0" rIns="0" bIns="0" rtlCol="0" anchor="t"/>
          <a:lstStyle/>
          <a:p>
            <a:pPr algn="ctr" indent="0" marL="0">
              <a:buNone/>
            </a:pPr>
            <a:r>
              <a:rPr lang="en-US" sz="1300" dirty="0">
                <a:solidFill>
                  <a:schemeClr val="accent4"/>
                </a:solidFill>
              </a:rPr>
              <a:t>Elevated over Avinashi Road  ·  4 lanes  ·  bypasses ~12 junctions (dashed)</a:t>
            </a:r>
            <a:endParaRPr lang="en-US" sz="1300" dirty="0"/>
          </a:p>
        </p:txBody>
      </p:sp>
      <p:sp>
        <p:nvSpPr>
          <p:cNvPr id="22" name="card"/>
          <p:cNvSpPr/>
          <p:nvPr/>
        </p:nvSpPr>
        <p:spPr>
          <a:xfrm>
            <a:off x="548640" y="3063240"/>
            <a:ext cx="3515258" cy="2011680"/>
          </a:xfrm>
          <a:prstGeom prst="roundRect">
            <a:avLst>
              <a:gd name="adj" fmla="val 3636"/>
            </a:avLst>
          </a:prstGeom>
          <a:solidFill>
            <a:schemeClr val="bg2"/>
          </a:solidFill>
          <a:ln/>
        </p:spPr>
      </p:sp>
      <p:sp>
        <p:nvSpPr>
          <p:cNvPr id="23" name="Text 21"/>
          <p:cNvSpPr txBox="1"/>
          <p:nvPr/>
        </p:nvSpPr>
        <p:spPr>
          <a:xfrm>
            <a:off x="868680" y="3154680"/>
            <a:ext cx="2875178" cy="777240"/>
          </a:xfrm>
          <a:prstGeom prst="rect">
            <a:avLst/>
          </a:prstGeom>
          <a:noFill/>
          <a:ln/>
        </p:spPr>
        <p:txBody>
          <a:bodyPr wrap="square" lIns="0" tIns="0" rIns="0" bIns="0" rtlCol="0" anchor="b"/>
          <a:lstStyle/>
          <a:p>
            <a:pPr indent="0" marL="0">
              <a:buNone/>
            </a:pPr>
            <a:r>
              <a:rPr lang="en-US" sz="4400" b="1" dirty="0">
                <a:solidFill>
                  <a:schemeClr val="tx2"/>
                </a:solidFill>
              </a:rPr>
              <a:t>10.1 km</a:t>
            </a:r>
            <a:endParaRPr lang="en-US" sz="4400" dirty="0"/>
          </a:p>
        </p:txBody>
      </p:sp>
      <p:sp>
        <p:nvSpPr>
          <p:cNvPr id="24" name="Text 22"/>
          <p:cNvSpPr txBox="1"/>
          <p:nvPr/>
        </p:nvSpPr>
        <p:spPr>
          <a:xfrm>
            <a:off x="868680" y="3995928"/>
            <a:ext cx="2875178" cy="731520"/>
          </a:xfrm>
          <a:prstGeom prst="rect">
            <a:avLst/>
          </a:prstGeom>
          <a:noFill/>
          <a:ln/>
        </p:spPr>
        <p:txBody>
          <a:bodyPr wrap="square" lIns="0" tIns="0" rIns="0" bIns="0" rtlCol="0" anchor="t"/>
          <a:lstStyle/>
          <a:p>
            <a:pPr indent="0" marL="0">
              <a:buNone/>
            </a:pPr>
            <a:r>
              <a:rPr lang="en-US" sz="1400" dirty="0">
                <a:solidFill>
                  <a:schemeClr val="accent4"/>
                </a:solidFill>
              </a:rPr>
              <a:t>Tamil Nadu's longest flyover, opened 9 Oct 2025</a:t>
            </a:r>
            <a:endParaRPr lang="en-US" sz="1400" dirty="0"/>
          </a:p>
        </p:txBody>
      </p:sp>
      <p:sp>
        <p:nvSpPr>
          <p:cNvPr id="25" name="card"/>
          <p:cNvSpPr/>
          <p:nvPr/>
        </p:nvSpPr>
        <p:spPr>
          <a:xfrm>
            <a:off x="4338218" y="3063240"/>
            <a:ext cx="3515258" cy="2011680"/>
          </a:xfrm>
          <a:prstGeom prst="roundRect">
            <a:avLst>
              <a:gd name="adj" fmla="val 3636"/>
            </a:avLst>
          </a:prstGeom>
          <a:solidFill>
            <a:schemeClr val="bg2"/>
          </a:solidFill>
          <a:ln/>
        </p:spPr>
      </p:sp>
      <p:sp>
        <p:nvSpPr>
          <p:cNvPr id="26" name="Text 24"/>
          <p:cNvSpPr txBox="1"/>
          <p:nvPr/>
        </p:nvSpPr>
        <p:spPr>
          <a:xfrm>
            <a:off x="4658258" y="3154680"/>
            <a:ext cx="2875178" cy="777240"/>
          </a:xfrm>
          <a:prstGeom prst="rect">
            <a:avLst/>
          </a:prstGeom>
          <a:noFill/>
          <a:ln/>
        </p:spPr>
        <p:txBody>
          <a:bodyPr wrap="square" lIns="0" tIns="0" rIns="0" bIns="0" rtlCol="0" anchor="b"/>
          <a:lstStyle/>
          <a:p>
            <a:pPr indent="0" marL="0">
              <a:buNone/>
            </a:pPr>
            <a:r>
              <a:rPr lang="en-US" sz="4400" b="1" dirty="0">
                <a:solidFill>
                  <a:schemeClr val="tx2"/>
                </a:solidFill>
              </a:rPr>
              <a:t>60 km/h</a:t>
            </a:r>
            <a:endParaRPr lang="en-US" sz="4400" dirty="0"/>
          </a:p>
        </p:txBody>
      </p:sp>
      <p:sp>
        <p:nvSpPr>
          <p:cNvPr id="27" name="Text 25"/>
          <p:cNvSpPr txBox="1"/>
          <p:nvPr/>
        </p:nvSpPr>
        <p:spPr>
          <a:xfrm>
            <a:off x="4658258" y="3995928"/>
            <a:ext cx="2875178" cy="731520"/>
          </a:xfrm>
          <a:prstGeom prst="rect">
            <a:avLst/>
          </a:prstGeom>
          <a:noFill/>
          <a:ln/>
        </p:spPr>
        <p:txBody>
          <a:bodyPr wrap="square" lIns="0" tIns="0" rIns="0" bIns="0" rtlCol="0" anchor="t"/>
          <a:lstStyle/>
          <a:p>
            <a:pPr indent="0" marL="0">
              <a:buNone/>
            </a:pPr>
            <a:r>
              <a:rPr lang="en-US" sz="1400" dirty="0">
                <a:solidFill>
                  <a:schemeClr val="accent4"/>
                </a:solidFill>
              </a:rPr>
              <a:t>Posted speed limit on the elevated corridor</a:t>
            </a:r>
            <a:endParaRPr lang="en-US" sz="1400" dirty="0"/>
          </a:p>
        </p:txBody>
      </p:sp>
      <p:sp>
        <p:nvSpPr>
          <p:cNvPr id="28" name="card"/>
          <p:cNvSpPr/>
          <p:nvPr/>
        </p:nvSpPr>
        <p:spPr>
          <a:xfrm>
            <a:off x="8127797" y="3063240"/>
            <a:ext cx="3515258" cy="2011680"/>
          </a:xfrm>
          <a:prstGeom prst="roundRect">
            <a:avLst>
              <a:gd name="adj" fmla="val 3636"/>
            </a:avLst>
          </a:prstGeom>
          <a:solidFill>
            <a:schemeClr val="bg2"/>
          </a:solidFill>
          <a:ln/>
        </p:spPr>
      </p:sp>
      <p:sp>
        <p:nvSpPr>
          <p:cNvPr id="29" name="Text 27"/>
          <p:cNvSpPr txBox="1"/>
          <p:nvPr/>
        </p:nvSpPr>
        <p:spPr>
          <a:xfrm>
            <a:off x="8447837" y="3154680"/>
            <a:ext cx="2875178" cy="777240"/>
          </a:xfrm>
          <a:prstGeom prst="rect">
            <a:avLst/>
          </a:prstGeom>
          <a:noFill/>
          <a:ln/>
        </p:spPr>
        <p:txBody>
          <a:bodyPr wrap="square" lIns="0" tIns="0" rIns="0" bIns="0" rtlCol="0" anchor="b"/>
          <a:lstStyle/>
          <a:p>
            <a:pPr indent="0" marL="0">
              <a:buNone/>
            </a:pPr>
            <a:r>
              <a:rPr lang="en-US" sz="4400" b="1" dirty="0">
                <a:solidFill>
                  <a:schemeClr val="accent2"/>
                </a:solidFill>
              </a:rPr>
              <a:t>3 killed</a:t>
            </a:r>
            <a:endParaRPr lang="en-US" sz="4400" dirty="0"/>
          </a:p>
        </p:txBody>
      </p:sp>
      <p:sp>
        <p:nvSpPr>
          <p:cNvPr id="30" name="Text 28"/>
          <p:cNvSpPr txBox="1"/>
          <p:nvPr/>
        </p:nvSpPr>
        <p:spPr>
          <a:xfrm>
            <a:off x="8447837" y="3995928"/>
            <a:ext cx="2875178" cy="731520"/>
          </a:xfrm>
          <a:prstGeom prst="rect">
            <a:avLst/>
          </a:prstGeom>
          <a:noFill/>
          <a:ln/>
        </p:spPr>
        <p:txBody>
          <a:bodyPr wrap="square" lIns="0" tIns="0" rIns="0" bIns="0" rtlCol="0" anchor="t"/>
          <a:lstStyle/>
          <a:p>
            <a:pPr indent="0" marL="0">
              <a:buNone/>
            </a:pPr>
            <a:r>
              <a:rPr lang="en-US" sz="1400" dirty="0">
                <a:solidFill>
                  <a:schemeClr val="accent4"/>
                </a:solidFill>
              </a:rPr>
              <a:t>Car off the flyover hit a parked truck near Goldwins, days after opening</a:t>
            </a:r>
            <a:endParaRPr lang="en-US" sz="1400" dirty="0"/>
          </a:p>
        </p:txBody>
      </p:sp>
      <p:sp>
        <p:nvSpPr>
          <p:cNvPr id="31" name="Text 29"/>
          <p:cNvSpPr txBox="1"/>
          <p:nvPr/>
        </p:nvSpPr>
        <p:spPr>
          <a:xfrm>
            <a:off x="548640" y="5303520"/>
            <a:ext cx="11094415" cy="548640"/>
          </a:xfrm>
          <a:prstGeom prst="rect">
            <a:avLst/>
          </a:prstGeom>
          <a:noFill/>
          <a:ln/>
        </p:spPr>
        <p:txBody>
          <a:bodyPr wrap="square" lIns="0" tIns="0" rIns="0" bIns="0" rtlCol="0" anchor="t"/>
          <a:lstStyle/>
          <a:p>
            <a:pPr indent="0" marL="0">
              <a:buNone/>
            </a:pPr>
            <a:r>
              <a:rPr lang="en-US" sz="1600" b="1" dirty="0">
                <a:solidFill>
                  <a:schemeClr val="tx2"/>
                </a:solidFill>
              </a:rPr>
              <a:t>Why it matters: </a:t>
            </a:r>
            <a:pPr indent="0" marL="0">
              <a:buNone/>
            </a:pPr>
            <a:r>
              <a:rPr lang="en-US" sz="1600" dirty="0">
                <a:solidFill>
                  <a:schemeClr val="tx1"/>
                </a:solidFill>
              </a:rPr>
              <a:t>on a long, uninterrupted, elevated stretch, drivers misjudge speed. Police say the flyover tempts drivers well past 60 km/h.</a:t>
            </a:r>
            <a:endParaRPr lang="en-US" sz="1600" dirty="0"/>
          </a:p>
        </p:txBody>
      </p:sp>
      <p:sp>
        <p:nvSpPr>
          <p:cNvPr id="32" name="Text 30"/>
          <p:cNvSpPr txBox="1"/>
          <p:nvPr/>
        </p:nvSpPr>
        <p:spPr>
          <a:xfrm>
            <a:off x="548640" y="6053328"/>
            <a:ext cx="11094415" cy="274320"/>
          </a:xfrm>
          <a:prstGeom prst="rect">
            <a:avLst/>
          </a:prstGeom>
          <a:noFill/>
          <a:ln/>
        </p:spPr>
        <p:txBody>
          <a:bodyPr wrap="square" lIns="0" tIns="0" rIns="0" bIns="0" rtlCol="0" anchor="b"/>
          <a:lstStyle/>
          <a:p>
            <a:pPr indent="0" marL="0">
              <a:buNone/>
            </a:pPr>
            <a:r>
              <a:rPr lang="en-US" sz="1000" dirty="0">
                <a:solidFill>
                  <a:schemeClr val="accent5"/>
                </a:solidFill>
              </a:rPr>
              <a:t>Sources: Wikipedia, G. D. Naidu Elevated Expressway; The Week (9 Oct 2025); Lokmat Times; BizzBuzz.</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REALITY CHECK</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bg1"/>
                </a:solidFill>
              </a:rPr>
              <a:t>AI enforcement is already installed here, and still in trial</a:t>
            </a:r>
            <a:endParaRPr lang="en-US" sz="3000" dirty="0"/>
          </a:p>
        </p:txBody>
      </p:sp>
      <p:sp>
        <p:nvSpPr>
          <p:cNvPr id="4" name="Text 2"/>
          <p:cNvSpPr txBox="1"/>
          <p:nvPr/>
        </p:nvSpPr>
        <p:spPr>
          <a:xfrm>
            <a:off x="548640" y="1783080"/>
            <a:ext cx="2651760" cy="777240"/>
          </a:xfrm>
          <a:prstGeom prst="rect">
            <a:avLst/>
          </a:prstGeom>
          <a:noFill/>
          <a:ln/>
        </p:spPr>
        <p:txBody>
          <a:bodyPr wrap="square" lIns="0" tIns="0" rIns="0" bIns="0" rtlCol="0" anchor="b"/>
          <a:lstStyle/>
          <a:p>
            <a:pPr indent="0" marL="0">
              <a:buNone/>
            </a:pPr>
            <a:r>
              <a:rPr lang="en-US" sz="4000" b="1" dirty="0">
                <a:solidFill>
                  <a:schemeClr val="accent1"/>
                </a:solidFill>
              </a:rPr>
              <a:t>44</a:t>
            </a:r>
            <a:endParaRPr lang="en-US" sz="4000" dirty="0"/>
          </a:p>
        </p:txBody>
      </p:sp>
      <p:sp>
        <p:nvSpPr>
          <p:cNvPr id="5" name="Text 3"/>
          <p:cNvSpPr txBox="1"/>
          <p:nvPr/>
        </p:nvSpPr>
        <p:spPr>
          <a:xfrm>
            <a:off x="548640" y="2624328"/>
            <a:ext cx="2651760" cy="640080"/>
          </a:xfrm>
          <a:prstGeom prst="rect">
            <a:avLst/>
          </a:prstGeom>
          <a:noFill/>
          <a:ln/>
        </p:spPr>
        <p:txBody>
          <a:bodyPr wrap="square" lIns="0" tIns="0" rIns="0" bIns="0" rtlCol="0" anchor="t"/>
          <a:lstStyle/>
          <a:p>
            <a:pPr indent="0" marL="0">
              <a:buNone/>
            </a:pPr>
            <a:r>
              <a:rPr lang="en-US" sz="1400" dirty="0">
                <a:solidFill>
                  <a:srgbClr val="D0D5DD"/>
                </a:solidFill>
              </a:rPr>
              <a:t>AI-enabled cameras along the flyover</a:t>
            </a:r>
            <a:endParaRPr lang="en-US" sz="1400" dirty="0"/>
          </a:p>
        </p:txBody>
      </p:sp>
      <p:sp>
        <p:nvSpPr>
          <p:cNvPr id="6" name="Text 4"/>
          <p:cNvSpPr txBox="1"/>
          <p:nvPr/>
        </p:nvSpPr>
        <p:spPr>
          <a:xfrm>
            <a:off x="3429000" y="1783080"/>
            <a:ext cx="2651760" cy="777240"/>
          </a:xfrm>
          <a:prstGeom prst="rect">
            <a:avLst/>
          </a:prstGeom>
          <a:noFill/>
          <a:ln/>
        </p:spPr>
        <p:txBody>
          <a:bodyPr wrap="square" lIns="0" tIns="0" rIns="0" bIns="0" rtlCol="0" anchor="b"/>
          <a:lstStyle/>
          <a:p>
            <a:pPr indent="0" marL="0">
              <a:buNone/>
            </a:pPr>
            <a:r>
              <a:rPr lang="en-US" sz="4000" b="1" dirty="0">
                <a:solidFill>
                  <a:schemeClr val="accent1"/>
                </a:solidFill>
              </a:rPr>
              <a:t>16</a:t>
            </a:r>
            <a:endParaRPr lang="en-US" sz="4000" dirty="0"/>
          </a:p>
        </p:txBody>
      </p:sp>
      <p:sp>
        <p:nvSpPr>
          <p:cNvPr id="7" name="Text 5"/>
          <p:cNvSpPr txBox="1"/>
          <p:nvPr/>
        </p:nvSpPr>
        <p:spPr>
          <a:xfrm>
            <a:off x="3429000" y="2624328"/>
            <a:ext cx="2651760" cy="640080"/>
          </a:xfrm>
          <a:prstGeom prst="rect">
            <a:avLst/>
          </a:prstGeom>
          <a:noFill/>
          <a:ln/>
        </p:spPr>
        <p:txBody>
          <a:bodyPr wrap="square" lIns="0" tIns="0" rIns="0" bIns="0" rtlCol="0" anchor="t"/>
          <a:lstStyle/>
          <a:p>
            <a:pPr indent="0" marL="0">
              <a:buNone/>
            </a:pPr>
            <a:r>
              <a:rPr lang="en-US" sz="1400" dirty="0">
                <a:solidFill>
                  <a:srgbClr val="D0D5DD"/>
                </a:solidFill>
              </a:rPr>
              <a:t>digital display boards</a:t>
            </a:r>
            <a:endParaRPr lang="en-US" sz="1400" dirty="0"/>
          </a:p>
        </p:txBody>
      </p:sp>
      <p:sp>
        <p:nvSpPr>
          <p:cNvPr id="8" name="Text 6"/>
          <p:cNvSpPr txBox="1"/>
          <p:nvPr/>
        </p:nvSpPr>
        <p:spPr>
          <a:xfrm>
            <a:off x="548640" y="3611880"/>
            <a:ext cx="2651760" cy="777240"/>
          </a:xfrm>
          <a:prstGeom prst="rect">
            <a:avLst/>
          </a:prstGeom>
          <a:noFill/>
          <a:ln/>
        </p:spPr>
        <p:txBody>
          <a:bodyPr wrap="square" lIns="0" tIns="0" rIns="0" bIns="0" rtlCol="0" anchor="b"/>
          <a:lstStyle/>
          <a:p>
            <a:pPr indent="0" marL="0">
              <a:buNone/>
            </a:pPr>
            <a:r>
              <a:rPr lang="en-US" sz="4000" b="1" dirty="0">
                <a:solidFill>
                  <a:schemeClr val="accent1"/>
                </a:solidFill>
              </a:rPr>
              <a:t>₹3 Cr</a:t>
            </a:r>
            <a:endParaRPr lang="en-US" sz="4000" dirty="0"/>
          </a:p>
        </p:txBody>
      </p:sp>
      <p:sp>
        <p:nvSpPr>
          <p:cNvPr id="9" name="Text 7"/>
          <p:cNvSpPr txBox="1"/>
          <p:nvPr/>
        </p:nvSpPr>
        <p:spPr>
          <a:xfrm>
            <a:off x="548640" y="4453128"/>
            <a:ext cx="2651760" cy="640080"/>
          </a:xfrm>
          <a:prstGeom prst="rect">
            <a:avLst/>
          </a:prstGeom>
          <a:noFill/>
          <a:ln/>
        </p:spPr>
        <p:txBody>
          <a:bodyPr wrap="square" lIns="0" tIns="0" rIns="0" bIns="0" rtlCol="0" anchor="t"/>
          <a:lstStyle/>
          <a:p>
            <a:pPr indent="0" marL="0">
              <a:buNone/>
            </a:pPr>
            <a:r>
              <a:rPr lang="en-US" sz="1400" dirty="0">
                <a:solidFill>
                  <a:srgbClr val="D0D5DD"/>
                </a:solidFill>
              </a:rPr>
              <a:t>approximate project cost</a:t>
            </a:r>
            <a:endParaRPr lang="en-US" sz="1400" dirty="0"/>
          </a:p>
        </p:txBody>
      </p:sp>
      <p:sp>
        <p:nvSpPr>
          <p:cNvPr id="10" name="Text 8"/>
          <p:cNvSpPr txBox="1"/>
          <p:nvPr/>
        </p:nvSpPr>
        <p:spPr>
          <a:xfrm>
            <a:off x="3429000" y="3611880"/>
            <a:ext cx="2651760" cy="777240"/>
          </a:xfrm>
          <a:prstGeom prst="rect">
            <a:avLst/>
          </a:prstGeom>
          <a:noFill/>
          <a:ln/>
        </p:spPr>
        <p:txBody>
          <a:bodyPr wrap="square" lIns="0" tIns="0" rIns="0" bIns="0" rtlCol="0" anchor="b"/>
          <a:lstStyle/>
          <a:p>
            <a:pPr indent="0" marL="0">
              <a:buNone/>
            </a:pPr>
            <a:r>
              <a:rPr lang="en-US" sz="4000" b="1" dirty="0">
                <a:solidFill>
                  <a:schemeClr val="accent1"/>
                </a:solidFill>
              </a:rPr>
              <a:t>3+ months</a:t>
            </a:r>
            <a:endParaRPr lang="en-US" sz="4000" dirty="0"/>
          </a:p>
        </p:txBody>
      </p:sp>
      <p:sp>
        <p:nvSpPr>
          <p:cNvPr id="11" name="Text 9"/>
          <p:cNvSpPr txBox="1"/>
          <p:nvPr/>
        </p:nvSpPr>
        <p:spPr>
          <a:xfrm>
            <a:off x="3429000" y="4453128"/>
            <a:ext cx="2651760" cy="640080"/>
          </a:xfrm>
          <a:prstGeom prst="rect">
            <a:avLst/>
          </a:prstGeom>
          <a:noFill/>
          <a:ln/>
        </p:spPr>
        <p:txBody>
          <a:bodyPr wrap="square" lIns="0" tIns="0" rIns="0" bIns="0" rtlCol="0" anchor="t"/>
          <a:lstStyle/>
          <a:p>
            <a:pPr indent="0" marL="0">
              <a:buNone/>
            </a:pPr>
            <a:r>
              <a:rPr lang="en-US" sz="1400" dirty="0">
                <a:solidFill>
                  <a:srgbClr val="D0D5DD"/>
                </a:solidFill>
              </a:rPr>
              <a:t>in trial, no fines issued</a:t>
            </a:r>
            <a:endParaRPr lang="en-US" sz="1400" dirty="0"/>
          </a:p>
        </p:txBody>
      </p:sp>
      <p:sp>
        <p:nvSpPr>
          <p:cNvPr id="12" name="Text 10"/>
          <p:cNvSpPr txBox="1"/>
          <p:nvPr/>
        </p:nvSpPr>
        <p:spPr>
          <a:xfrm>
            <a:off x="6720840" y="1828800"/>
            <a:ext cx="4922215" cy="320040"/>
          </a:xfrm>
          <a:prstGeom prst="rect">
            <a:avLst/>
          </a:prstGeom>
          <a:noFill/>
          <a:ln/>
        </p:spPr>
        <p:txBody>
          <a:bodyPr wrap="square" lIns="0" tIns="0" rIns="0" bIns="0" rtlCol="0" anchor="t"/>
          <a:lstStyle/>
          <a:p>
            <a:pPr indent="0" marL="0">
              <a:buNone/>
            </a:pPr>
            <a:r>
              <a:rPr lang="en-US" sz="1600" b="1" dirty="0">
                <a:solidFill>
                  <a:schemeClr val="bg1"/>
                </a:solidFill>
              </a:rPr>
              <a:t>Reported system accuracy during trial</a:t>
            </a:r>
            <a:endParaRPr lang="en-US" sz="1600" dirty="0"/>
          </a:p>
        </p:txBody>
      </p:sp>
      <p:sp>
        <p:nvSpPr>
          <p:cNvPr id="13" name="Text 11"/>
          <p:cNvSpPr txBox="1"/>
          <p:nvPr/>
        </p:nvSpPr>
        <p:spPr>
          <a:xfrm>
            <a:off x="6720840" y="2423160"/>
            <a:ext cx="2286000" cy="274320"/>
          </a:xfrm>
          <a:prstGeom prst="rect">
            <a:avLst/>
          </a:prstGeom>
          <a:noFill/>
          <a:ln/>
        </p:spPr>
        <p:txBody>
          <a:bodyPr wrap="square" lIns="0" tIns="0" rIns="0" bIns="0" rtlCol="0" anchor="t"/>
          <a:lstStyle/>
          <a:p>
            <a:pPr indent="0" marL="0">
              <a:buNone/>
            </a:pPr>
            <a:r>
              <a:rPr lang="en-US" sz="1400" dirty="0">
                <a:solidFill>
                  <a:srgbClr val="D0D5DD"/>
                </a:solidFill>
              </a:rPr>
              <a:t>Early trial</a:t>
            </a:r>
            <a:endParaRPr lang="en-US" sz="1400" dirty="0"/>
          </a:p>
        </p:txBody>
      </p:sp>
      <p:sp>
        <p:nvSpPr>
          <p:cNvPr id="14" name="bar-track"/>
          <p:cNvSpPr/>
          <p:nvPr/>
        </p:nvSpPr>
        <p:spPr>
          <a:xfrm>
            <a:off x="6720840" y="2770632"/>
            <a:ext cx="4922215" cy="384048"/>
          </a:xfrm>
          <a:prstGeom prst="rect">
            <a:avLst/>
          </a:prstGeom>
          <a:solidFill>
            <a:srgbClr val="1D3550"/>
          </a:solidFill>
          <a:ln/>
        </p:spPr>
      </p:sp>
      <p:sp>
        <p:nvSpPr>
          <p:cNvPr id="15" name="bar-fill"/>
          <p:cNvSpPr/>
          <p:nvPr/>
        </p:nvSpPr>
        <p:spPr>
          <a:xfrm>
            <a:off x="6720840" y="2770632"/>
            <a:ext cx="984443" cy="384048"/>
          </a:xfrm>
          <a:prstGeom prst="rect">
            <a:avLst/>
          </a:prstGeom>
          <a:solidFill>
            <a:schemeClr val="accent2"/>
          </a:solidFill>
          <a:ln/>
        </p:spPr>
      </p:sp>
      <p:sp>
        <p:nvSpPr>
          <p:cNvPr id="16" name="Text 14"/>
          <p:cNvSpPr txBox="1"/>
          <p:nvPr/>
        </p:nvSpPr>
        <p:spPr>
          <a:xfrm>
            <a:off x="7815011" y="2770632"/>
            <a:ext cx="914400" cy="384048"/>
          </a:xfrm>
          <a:prstGeom prst="rect">
            <a:avLst/>
          </a:prstGeom>
          <a:noFill/>
          <a:ln/>
        </p:spPr>
        <p:txBody>
          <a:bodyPr wrap="square" lIns="0" tIns="0" rIns="0" bIns="0" rtlCol="0" anchor="ctr"/>
          <a:lstStyle/>
          <a:p>
            <a:pPr indent="0" marL="0">
              <a:buNone/>
            </a:pPr>
            <a:r>
              <a:rPr lang="en-US" sz="1800" b="1" dirty="0">
                <a:solidFill>
                  <a:schemeClr val="bg1"/>
                </a:solidFill>
              </a:rPr>
              <a:t>20%</a:t>
            </a:r>
            <a:endParaRPr lang="en-US" sz="1800" dirty="0"/>
          </a:p>
        </p:txBody>
      </p:sp>
      <p:sp>
        <p:nvSpPr>
          <p:cNvPr id="17" name="Text 15"/>
          <p:cNvSpPr txBox="1"/>
          <p:nvPr/>
        </p:nvSpPr>
        <p:spPr>
          <a:xfrm>
            <a:off x="6720840" y="3383280"/>
            <a:ext cx="2286000" cy="274320"/>
          </a:xfrm>
          <a:prstGeom prst="rect">
            <a:avLst/>
          </a:prstGeom>
          <a:noFill/>
          <a:ln/>
        </p:spPr>
        <p:txBody>
          <a:bodyPr wrap="square" lIns="0" tIns="0" rIns="0" bIns="0" rtlCol="0" anchor="t"/>
          <a:lstStyle/>
          <a:p>
            <a:pPr indent="0" marL="0">
              <a:buNone/>
            </a:pPr>
            <a:r>
              <a:rPr lang="en-US" sz="1400" dirty="0">
                <a:solidFill>
                  <a:srgbClr val="D0D5DD"/>
                </a:solidFill>
              </a:rPr>
              <a:t>After tuning</a:t>
            </a:r>
            <a:endParaRPr lang="en-US" sz="1400" dirty="0"/>
          </a:p>
        </p:txBody>
      </p:sp>
      <p:sp>
        <p:nvSpPr>
          <p:cNvPr id="18" name="bar-track"/>
          <p:cNvSpPr/>
          <p:nvPr/>
        </p:nvSpPr>
        <p:spPr>
          <a:xfrm>
            <a:off x="6720840" y="3730752"/>
            <a:ext cx="4922215" cy="384048"/>
          </a:xfrm>
          <a:prstGeom prst="rect">
            <a:avLst/>
          </a:prstGeom>
          <a:solidFill>
            <a:srgbClr val="1D3550"/>
          </a:solidFill>
          <a:ln/>
        </p:spPr>
      </p:sp>
      <p:sp>
        <p:nvSpPr>
          <p:cNvPr id="19" name="bar-fill"/>
          <p:cNvSpPr/>
          <p:nvPr/>
        </p:nvSpPr>
        <p:spPr>
          <a:xfrm>
            <a:off x="6720840" y="3730752"/>
            <a:ext cx="3937772" cy="384048"/>
          </a:xfrm>
          <a:prstGeom prst="rect">
            <a:avLst/>
          </a:prstGeom>
          <a:solidFill>
            <a:schemeClr val="accent1"/>
          </a:solidFill>
          <a:ln/>
        </p:spPr>
      </p:sp>
      <p:sp>
        <p:nvSpPr>
          <p:cNvPr id="20" name="Text 18"/>
          <p:cNvSpPr txBox="1"/>
          <p:nvPr/>
        </p:nvSpPr>
        <p:spPr>
          <a:xfrm>
            <a:off x="10768340" y="3730752"/>
            <a:ext cx="914400" cy="384048"/>
          </a:xfrm>
          <a:prstGeom prst="rect">
            <a:avLst/>
          </a:prstGeom>
          <a:noFill/>
          <a:ln/>
        </p:spPr>
        <p:txBody>
          <a:bodyPr wrap="square" lIns="0" tIns="0" rIns="0" bIns="0" rtlCol="0" anchor="ctr"/>
          <a:lstStyle/>
          <a:p>
            <a:pPr indent="0" marL="0">
              <a:buNone/>
            </a:pPr>
            <a:r>
              <a:rPr lang="en-US" sz="1800" b="1" dirty="0">
                <a:solidFill>
                  <a:schemeClr val="bg1"/>
                </a:solidFill>
              </a:rPr>
              <a:t>80%</a:t>
            </a:r>
            <a:endParaRPr lang="en-US" sz="1800" dirty="0"/>
          </a:p>
        </p:txBody>
      </p:sp>
      <p:sp>
        <p:nvSpPr>
          <p:cNvPr id="21" name="Text 19"/>
          <p:cNvSpPr txBox="1"/>
          <p:nvPr/>
        </p:nvSpPr>
        <p:spPr>
          <a:xfrm>
            <a:off x="6720840" y="4434840"/>
            <a:ext cx="4922215" cy="548640"/>
          </a:xfrm>
          <a:prstGeom prst="rect">
            <a:avLst/>
          </a:prstGeom>
          <a:noFill/>
          <a:ln/>
        </p:spPr>
        <p:txBody>
          <a:bodyPr wrap="square" lIns="0" tIns="0" rIns="0" bIns="0" rtlCol="0" anchor="t"/>
          <a:lstStyle/>
          <a:p>
            <a:pPr indent="0" marL="0">
              <a:buNone/>
            </a:pPr>
            <a:r>
              <a:rPr lang="en-US" sz="1400" dirty="0">
                <a:solidFill>
                  <a:srgbClr val="D0D5DD"/>
                </a:solidFill>
              </a:rPr>
              <a:t>Problems reported: misidentified violations, e.g. seat-belt detection errors</a:t>
            </a:r>
            <a:endParaRPr lang="en-US" sz="1400" dirty="0"/>
          </a:p>
        </p:txBody>
      </p:sp>
      <p:sp>
        <p:nvSpPr>
          <p:cNvPr id="22" name="question-card"/>
          <p:cNvSpPr/>
          <p:nvPr/>
        </p:nvSpPr>
        <p:spPr>
          <a:xfrm>
            <a:off x="548640" y="5257800"/>
            <a:ext cx="11094415" cy="731520"/>
          </a:xfrm>
          <a:prstGeom prst="roundRect">
            <a:avLst>
              <a:gd name="adj" fmla="val 10000"/>
            </a:avLst>
          </a:prstGeom>
          <a:solidFill>
            <a:srgbClr val="1D3550"/>
          </a:solidFill>
          <a:ln/>
        </p:spPr>
      </p:sp>
      <p:sp>
        <p:nvSpPr>
          <p:cNvPr id="23" name="Text 21"/>
          <p:cNvSpPr txBox="1"/>
          <p:nvPr/>
        </p:nvSpPr>
        <p:spPr>
          <a:xfrm>
            <a:off x="822960" y="5257800"/>
            <a:ext cx="10545775" cy="731520"/>
          </a:xfrm>
          <a:prstGeom prst="rect">
            <a:avLst/>
          </a:prstGeom>
          <a:noFill/>
          <a:ln/>
        </p:spPr>
        <p:txBody>
          <a:bodyPr wrap="square" lIns="0" tIns="0" rIns="0" bIns="0" rtlCol="0" anchor="ctr"/>
          <a:lstStyle/>
          <a:p>
            <a:pPr indent="0" marL="0">
              <a:buNone/>
            </a:pPr>
            <a:r>
              <a:rPr lang="en-US" sz="1800" b="1" dirty="0">
                <a:solidFill>
                  <a:schemeClr val="accent1"/>
                </a:solidFill>
              </a:rPr>
              <a:t>Today's question:  </a:t>
            </a:r>
            <a:pPr indent="0" marL="0">
              <a:buNone/>
            </a:pPr>
            <a:r>
              <a:rPr lang="en-US" sz="1800" dirty="0">
                <a:solidFill>
                  <a:schemeClr val="bg1"/>
                </a:solidFill>
              </a:rPr>
              <a:t>how does such a system work, and why isn't 80% good enough to fine people?</a:t>
            </a:r>
            <a:endParaRPr lang="en-US" sz="1800" dirty="0"/>
          </a:p>
        </p:txBody>
      </p:sp>
      <p:sp>
        <p:nvSpPr>
          <p:cNvPr id="24" name="Text 22"/>
          <p:cNvSpPr txBox="1"/>
          <p:nvPr/>
        </p:nvSpPr>
        <p:spPr>
          <a:xfrm>
            <a:off x="548640" y="6053328"/>
            <a:ext cx="11094415" cy="274320"/>
          </a:xfrm>
          <a:prstGeom prst="rect">
            <a:avLst/>
          </a:prstGeom>
          <a:noFill/>
          <a:ln/>
        </p:spPr>
        <p:txBody>
          <a:bodyPr wrap="square" lIns="0" tIns="0" rIns="0" bIns="0" rtlCol="0" anchor="b"/>
          <a:lstStyle/>
          <a:p>
            <a:pPr indent="0" marL="0">
              <a:buNone/>
            </a:pPr>
            <a:r>
              <a:rPr lang="en-US" sz="1000" dirty="0">
                <a:solidFill>
                  <a:schemeClr val="accent5"/>
                </a:solidFill>
              </a:rPr>
              <a:t>Sources: BizzBuzz; The Hawk; NewKerala (2026) on the GD Naidu Flyover AI speed-enforcement trial.</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ROADMAP</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One pipeline, five stages, three speakers</a:t>
            </a:r>
            <a:endParaRPr lang="en-US" sz="3000" dirty="0"/>
          </a:p>
        </p:txBody>
      </p:sp>
      <p:sp>
        <p:nvSpPr>
          <p:cNvPr id="4" name="card"/>
          <p:cNvSpPr/>
          <p:nvPr/>
        </p:nvSpPr>
        <p:spPr>
          <a:xfrm>
            <a:off x="568300" y="2148840"/>
            <a:ext cx="1874520" cy="1965960"/>
          </a:xfrm>
          <a:prstGeom prst="roundRect">
            <a:avLst>
              <a:gd name="adj" fmla="val 3902"/>
            </a:avLst>
          </a:prstGeom>
          <a:solidFill>
            <a:schemeClr val="bg2"/>
          </a:solidFill>
          <a:ln/>
        </p:spPr>
      </p:sp>
      <p:sp>
        <p:nvSpPr>
          <p:cNvPr id="5" name="icon-bg"/>
          <p:cNvSpPr/>
          <p:nvPr/>
        </p:nvSpPr>
        <p:spPr>
          <a:xfrm>
            <a:off x="1139800" y="2377440"/>
            <a:ext cx="731520" cy="731520"/>
          </a:xfrm>
          <a:prstGeom prst="ellipse">
            <a:avLst/>
          </a:prstGeom>
          <a:solidFill>
            <a:schemeClr val="tx2"/>
          </a:solidFill>
          <a:ln/>
        </p:spPr>
      </p:sp>
      <p:pic>
        <p:nvPicPr>
          <p:cNvPr id="6" name="Image 0" descr="ScanSearch icon">    </p:cNvPr>
          <p:cNvPicPr>
            <a:picLocks noChangeAspect="1"/>
          </p:cNvPicPr>
          <p:nvPr/>
        </p:nvPicPr>
        <p:blipFill>
          <a:blip r:embed="rId1"/>
          <a:stretch>
            <a:fillRect/>
          </a:stretch>
        </p:blipFill>
        <p:spPr>
          <a:xfrm>
            <a:off x="1300734" y="2538374"/>
            <a:ext cx="409651" cy="409651"/>
          </a:xfrm>
          <a:prstGeom prst="rect">
            <a:avLst/>
          </a:prstGeom>
        </p:spPr>
      </p:pic>
      <p:sp>
        <p:nvSpPr>
          <p:cNvPr id="7" name="Text 4"/>
          <p:cNvSpPr txBox="1"/>
          <p:nvPr/>
        </p:nvSpPr>
        <p:spPr>
          <a:xfrm>
            <a:off x="568300" y="3246120"/>
            <a:ext cx="1874520" cy="320040"/>
          </a:xfrm>
          <a:prstGeom prst="rect">
            <a:avLst/>
          </a:prstGeom>
          <a:noFill/>
          <a:ln/>
        </p:spPr>
        <p:txBody>
          <a:bodyPr wrap="square" lIns="0" tIns="0" rIns="0" bIns="0" rtlCol="0" anchor="t"/>
          <a:lstStyle/>
          <a:p>
            <a:pPr algn="ctr" indent="0" marL="0">
              <a:buNone/>
            </a:pPr>
            <a:r>
              <a:rPr lang="en-US" sz="1500" b="1" dirty="0">
                <a:solidFill>
                  <a:schemeClr val="tx2"/>
                </a:solidFill>
              </a:rPr>
              <a:t>PIXELS</a:t>
            </a:r>
            <a:endParaRPr lang="en-US" sz="1500" dirty="0"/>
          </a:p>
        </p:txBody>
      </p:sp>
      <p:sp>
        <p:nvSpPr>
          <p:cNvPr id="8" name="Text 5"/>
          <p:cNvSpPr txBox="1"/>
          <p:nvPr/>
        </p:nvSpPr>
        <p:spPr>
          <a:xfrm>
            <a:off x="659740" y="3566160"/>
            <a:ext cx="1691640" cy="457200"/>
          </a:xfrm>
          <a:prstGeom prst="rect">
            <a:avLst/>
          </a:prstGeom>
          <a:noFill/>
          <a:ln/>
        </p:spPr>
        <p:txBody>
          <a:bodyPr wrap="square" lIns="0" tIns="0" rIns="0" bIns="0" rtlCol="0" anchor="t"/>
          <a:lstStyle/>
          <a:p>
            <a:pPr algn="ctr" indent="0" marL="0">
              <a:buNone/>
            </a:pPr>
            <a:r>
              <a:rPr lang="en-US" sz="1300" dirty="0">
                <a:solidFill>
                  <a:schemeClr val="accent4"/>
                </a:solidFill>
              </a:rPr>
              <a:t>Image as numbers</a:t>
            </a:r>
            <a:endParaRPr lang="en-US" sz="1300" dirty="0"/>
          </a:p>
        </p:txBody>
      </p:sp>
      <p:pic>
        <p:nvPicPr>
          <p:cNvPr id="9" name="Image 1" descr="arrow">    </p:cNvPr>
          <p:cNvPicPr>
            <a:picLocks noChangeAspect="1"/>
          </p:cNvPicPr>
          <p:nvPr/>
        </p:nvPicPr>
        <p:blipFill>
          <a:blip r:embed="rId2"/>
          <a:stretch>
            <a:fillRect/>
          </a:stretch>
        </p:blipFill>
        <p:spPr>
          <a:xfrm>
            <a:off x="2515972" y="2926080"/>
            <a:ext cx="274320" cy="274320"/>
          </a:xfrm>
          <a:prstGeom prst="rect">
            <a:avLst/>
          </a:prstGeom>
        </p:spPr>
      </p:pic>
      <p:sp>
        <p:nvSpPr>
          <p:cNvPr id="10" name="card"/>
          <p:cNvSpPr/>
          <p:nvPr/>
        </p:nvSpPr>
        <p:spPr>
          <a:xfrm>
            <a:off x="2863444" y="2148840"/>
            <a:ext cx="1874520" cy="1965960"/>
          </a:xfrm>
          <a:prstGeom prst="roundRect">
            <a:avLst>
              <a:gd name="adj" fmla="val 3902"/>
            </a:avLst>
          </a:prstGeom>
          <a:solidFill>
            <a:schemeClr val="bg2"/>
          </a:solidFill>
          <a:ln/>
        </p:spPr>
      </p:sp>
      <p:sp>
        <p:nvSpPr>
          <p:cNvPr id="11" name="icon-bg"/>
          <p:cNvSpPr/>
          <p:nvPr/>
        </p:nvSpPr>
        <p:spPr>
          <a:xfrm>
            <a:off x="3434944" y="2377440"/>
            <a:ext cx="731520" cy="731520"/>
          </a:xfrm>
          <a:prstGeom prst="ellipse">
            <a:avLst/>
          </a:prstGeom>
          <a:solidFill>
            <a:schemeClr val="tx2"/>
          </a:solidFill>
          <a:ln/>
        </p:spPr>
      </p:sp>
      <p:pic>
        <p:nvPicPr>
          <p:cNvPr id="12" name="Image 2" descr="Crosshair icon">    </p:cNvPr>
          <p:cNvPicPr>
            <a:picLocks noChangeAspect="1"/>
          </p:cNvPicPr>
          <p:nvPr/>
        </p:nvPicPr>
        <p:blipFill>
          <a:blip r:embed="rId3"/>
          <a:stretch>
            <a:fillRect/>
          </a:stretch>
        </p:blipFill>
        <p:spPr>
          <a:xfrm>
            <a:off x="3595878" y="2538374"/>
            <a:ext cx="409651" cy="409651"/>
          </a:xfrm>
          <a:prstGeom prst="rect">
            <a:avLst/>
          </a:prstGeom>
        </p:spPr>
      </p:pic>
      <p:sp>
        <p:nvSpPr>
          <p:cNvPr id="13" name="Text 8"/>
          <p:cNvSpPr txBox="1"/>
          <p:nvPr/>
        </p:nvSpPr>
        <p:spPr>
          <a:xfrm>
            <a:off x="2863444" y="3246120"/>
            <a:ext cx="1874520" cy="320040"/>
          </a:xfrm>
          <a:prstGeom prst="rect">
            <a:avLst/>
          </a:prstGeom>
          <a:noFill/>
          <a:ln/>
        </p:spPr>
        <p:txBody>
          <a:bodyPr wrap="square" lIns="0" tIns="0" rIns="0" bIns="0" rtlCol="0" anchor="t"/>
          <a:lstStyle/>
          <a:p>
            <a:pPr algn="ctr" indent="0" marL="0">
              <a:buNone/>
            </a:pPr>
            <a:r>
              <a:rPr lang="en-US" sz="1500" b="1" dirty="0">
                <a:solidFill>
                  <a:schemeClr val="tx2"/>
                </a:solidFill>
              </a:rPr>
              <a:t>DETECT</a:t>
            </a:r>
            <a:endParaRPr lang="en-US" sz="1500" dirty="0"/>
          </a:p>
        </p:txBody>
      </p:sp>
      <p:sp>
        <p:nvSpPr>
          <p:cNvPr id="14" name="Text 9"/>
          <p:cNvSpPr txBox="1"/>
          <p:nvPr/>
        </p:nvSpPr>
        <p:spPr>
          <a:xfrm>
            <a:off x="2954884" y="3566160"/>
            <a:ext cx="1691640" cy="457200"/>
          </a:xfrm>
          <a:prstGeom prst="rect">
            <a:avLst/>
          </a:prstGeom>
          <a:noFill/>
          <a:ln/>
        </p:spPr>
        <p:txBody>
          <a:bodyPr wrap="square" lIns="0" tIns="0" rIns="0" bIns="0" rtlCol="0" anchor="t"/>
          <a:lstStyle/>
          <a:p>
            <a:pPr algn="ctr" indent="0" marL="0">
              <a:buNone/>
            </a:pPr>
            <a:r>
              <a:rPr lang="en-US" sz="1300" dirty="0">
                <a:solidFill>
                  <a:schemeClr val="accent4"/>
                </a:solidFill>
              </a:rPr>
              <a:t>Find vehicles (YOLO)</a:t>
            </a:r>
            <a:endParaRPr lang="en-US" sz="1300" dirty="0"/>
          </a:p>
        </p:txBody>
      </p:sp>
      <p:pic>
        <p:nvPicPr>
          <p:cNvPr id="15" name="Image 3" descr="arrow">    </p:cNvPr>
          <p:cNvPicPr>
            <a:picLocks noChangeAspect="1"/>
          </p:cNvPicPr>
          <p:nvPr/>
        </p:nvPicPr>
        <p:blipFill>
          <a:blip r:embed="rId4"/>
          <a:stretch>
            <a:fillRect/>
          </a:stretch>
        </p:blipFill>
        <p:spPr>
          <a:xfrm>
            <a:off x="4811116" y="2926080"/>
            <a:ext cx="274320" cy="274320"/>
          </a:xfrm>
          <a:prstGeom prst="rect">
            <a:avLst/>
          </a:prstGeom>
        </p:spPr>
      </p:pic>
      <p:sp>
        <p:nvSpPr>
          <p:cNvPr id="16" name="card"/>
          <p:cNvSpPr/>
          <p:nvPr/>
        </p:nvSpPr>
        <p:spPr>
          <a:xfrm>
            <a:off x="5158588" y="2148840"/>
            <a:ext cx="1874520" cy="1965960"/>
          </a:xfrm>
          <a:prstGeom prst="roundRect">
            <a:avLst>
              <a:gd name="adj" fmla="val 3902"/>
            </a:avLst>
          </a:prstGeom>
          <a:solidFill>
            <a:schemeClr val="bg2"/>
          </a:solidFill>
          <a:ln/>
        </p:spPr>
      </p:sp>
      <p:sp>
        <p:nvSpPr>
          <p:cNvPr id="17" name="icon-bg"/>
          <p:cNvSpPr/>
          <p:nvPr/>
        </p:nvSpPr>
        <p:spPr>
          <a:xfrm>
            <a:off x="5730088" y="2377440"/>
            <a:ext cx="731520" cy="731520"/>
          </a:xfrm>
          <a:prstGeom prst="ellipse">
            <a:avLst/>
          </a:prstGeom>
          <a:solidFill>
            <a:schemeClr val="tx2"/>
          </a:solidFill>
          <a:ln/>
        </p:spPr>
      </p:sp>
      <p:pic>
        <p:nvPicPr>
          <p:cNvPr id="18" name="Image 4" descr="Route icon">    </p:cNvPr>
          <p:cNvPicPr>
            <a:picLocks noChangeAspect="1"/>
          </p:cNvPicPr>
          <p:nvPr/>
        </p:nvPicPr>
        <p:blipFill>
          <a:blip r:embed="rId5"/>
          <a:stretch>
            <a:fillRect/>
          </a:stretch>
        </p:blipFill>
        <p:spPr>
          <a:xfrm>
            <a:off x="5891022" y="2538374"/>
            <a:ext cx="409651" cy="409651"/>
          </a:xfrm>
          <a:prstGeom prst="rect">
            <a:avLst/>
          </a:prstGeom>
        </p:spPr>
      </p:pic>
      <p:sp>
        <p:nvSpPr>
          <p:cNvPr id="19" name="Text 12"/>
          <p:cNvSpPr txBox="1"/>
          <p:nvPr/>
        </p:nvSpPr>
        <p:spPr>
          <a:xfrm>
            <a:off x="5158588" y="3246120"/>
            <a:ext cx="1874520" cy="320040"/>
          </a:xfrm>
          <a:prstGeom prst="rect">
            <a:avLst/>
          </a:prstGeom>
          <a:noFill/>
          <a:ln/>
        </p:spPr>
        <p:txBody>
          <a:bodyPr wrap="square" lIns="0" tIns="0" rIns="0" bIns="0" rtlCol="0" anchor="t"/>
          <a:lstStyle/>
          <a:p>
            <a:pPr algn="ctr" indent="0" marL="0">
              <a:buNone/>
            </a:pPr>
            <a:r>
              <a:rPr lang="en-US" sz="1500" b="1" dirty="0">
                <a:solidFill>
                  <a:schemeClr val="tx2"/>
                </a:solidFill>
              </a:rPr>
              <a:t>TRACK</a:t>
            </a:r>
            <a:endParaRPr lang="en-US" sz="1500" dirty="0"/>
          </a:p>
        </p:txBody>
      </p:sp>
      <p:sp>
        <p:nvSpPr>
          <p:cNvPr id="20" name="Text 13"/>
          <p:cNvSpPr txBox="1"/>
          <p:nvPr/>
        </p:nvSpPr>
        <p:spPr>
          <a:xfrm>
            <a:off x="5250028" y="3566160"/>
            <a:ext cx="1691640" cy="457200"/>
          </a:xfrm>
          <a:prstGeom prst="rect">
            <a:avLst/>
          </a:prstGeom>
          <a:noFill/>
          <a:ln/>
        </p:spPr>
        <p:txBody>
          <a:bodyPr wrap="square" lIns="0" tIns="0" rIns="0" bIns="0" rtlCol="0" anchor="t"/>
          <a:lstStyle/>
          <a:p>
            <a:pPr algn="ctr" indent="0" marL="0">
              <a:buNone/>
            </a:pPr>
            <a:r>
              <a:rPr lang="en-US" sz="1300" dirty="0">
                <a:solidFill>
                  <a:schemeClr val="accent4"/>
                </a:solidFill>
              </a:rPr>
              <a:t>Keep identity (ByteTrack)</a:t>
            </a:r>
            <a:endParaRPr lang="en-US" sz="1300" dirty="0"/>
          </a:p>
        </p:txBody>
      </p:sp>
      <p:pic>
        <p:nvPicPr>
          <p:cNvPr id="21" name="Image 5" descr="arrow">    </p:cNvPr>
          <p:cNvPicPr>
            <a:picLocks noChangeAspect="1"/>
          </p:cNvPicPr>
          <p:nvPr/>
        </p:nvPicPr>
        <p:blipFill>
          <a:blip r:embed="rId6"/>
          <a:stretch>
            <a:fillRect/>
          </a:stretch>
        </p:blipFill>
        <p:spPr>
          <a:xfrm>
            <a:off x="7106260" y="2926080"/>
            <a:ext cx="274320" cy="274320"/>
          </a:xfrm>
          <a:prstGeom prst="rect">
            <a:avLst/>
          </a:prstGeom>
        </p:spPr>
      </p:pic>
      <p:sp>
        <p:nvSpPr>
          <p:cNvPr id="22" name="card"/>
          <p:cNvSpPr/>
          <p:nvPr/>
        </p:nvSpPr>
        <p:spPr>
          <a:xfrm>
            <a:off x="7453732" y="2148840"/>
            <a:ext cx="1874520" cy="1965960"/>
          </a:xfrm>
          <a:prstGeom prst="roundRect">
            <a:avLst>
              <a:gd name="adj" fmla="val 3902"/>
            </a:avLst>
          </a:prstGeom>
          <a:solidFill>
            <a:schemeClr val="bg2"/>
          </a:solidFill>
          <a:ln/>
        </p:spPr>
      </p:sp>
      <p:sp>
        <p:nvSpPr>
          <p:cNvPr id="23" name="icon-bg"/>
          <p:cNvSpPr/>
          <p:nvPr/>
        </p:nvSpPr>
        <p:spPr>
          <a:xfrm>
            <a:off x="8025232" y="2377440"/>
            <a:ext cx="731520" cy="731520"/>
          </a:xfrm>
          <a:prstGeom prst="ellipse">
            <a:avLst/>
          </a:prstGeom>
          <a:solidFill>
            <a:schemeClr val="tx2"/>
          </a:solidFill>
          <a:ln/>
        </p:spPr>
      </p:sp>
      <p:pic>
        <p:nvPicPr>
          <p:cNvPr id="24" name="Image 6" descr="Ruler icon">    </p:cNvPr>
          <p:cNvPicPr>
            <a:picLocks noChangeAspect="1"/>
          </p:cNvPicPr>
          <p:nvPr/>
        </p:nvPicPr>
        <p:blipFill>
          <a:blip r:embed="rId7"/>
          <a:stretch>
            <a:fillRect/>
          </a:stretch>
        </p:blipFill>
        <p:spPr>
          <a:xfrm>
            <a:off x="8186166" y="2538374"/>
            <a:ext cx="409651" cy="409651"/>
          </a:xfrm>
          <a:prstGeom prst="rect">
            <a:avLst/>
          </a:prstGeom>
        </p:spPr>
      </p:pic>
      <p:sp>
        <p:nvSpPr>
          <p:cNvPr id="25" name="Text 16"/>
          <p:cNvSpPr txBox="1"/>
          <p:nvPr/>
        </p:nvSpPr>
        <p:spPr>
          <a:xfrm>
            <a:off x="7453732" y="3246120"/>
            <a:ext cx="1874520" cy="320040"/>
          </a:xfrm>
          <a:prstGeom prst="rect">
            <a:avLst/>
          </a:prstGeom>
          <a:noFill/>
          <a:ln/>
        </p:spPr>
        <p:txBody>
          <a:bodyPr wrap="square" lIns="0" tIns="0" rIns="0" bIns="0" rtlCol="0" anchor="t"/>
          <a:lstStyle/>
          <a:p>
            <a:pPr algn="ctr" indent="0" marL="0">
              <a:buNone/>
            </a:pPr>
            <a:r>
              <a:rPr lang="en-US" sz="1500" b="1" dirty="0">
                <a:solidFill>
                  <a:schemeClr val="tx2"/>
                </a:solidFill>
              </a:rPr>
              <a:t>MEASURE</a:t>
            </a:r>
            <a:endParaRPr lang="en-US" sz="1500" dirty="0"/>
          </a:p>
        </p:txBody>
      </p:sp>
      <p:sp>
        <p:nvSpPr>
          <p:cNvPr id="26" name="Text 17"/>
          <p:cNvSpPr txBox="1"/>
          <p:nvPr/>
        </p:nvSpPr>
        <p:spPr>
          <a:xfrm>
            <a:off x="7545172" y="3566160"/>
            <a:ext cx="1691640" cy="457200"/>
          </a:xfrm>
          <a:prstGeom prst="rect">
            <a:avLst/>
          </a:prstGeom>
          <a:noFill/>
          <a:ln/>
        </p:spPr>
        <p:txBody>
          <a:bodyPr wrap="square" lIns="0" tIns="0" rIns="0" bIns="0" rtlCol="0" anchor="t"/>
          <a:lstStyle/>
          <a:p>
            <a:pPr algn="ctr" indent="0" marL="0">
              <a:buNone/>
            </a:pPr>
            <a:r>
              <a:rPr lang="en-US" sz="1300" dirty="0">
                <a:solidFill>
                  <a:schemeClr val="accent4"/>
                </a:solidFill>
              </a:rPr>
              <a:t>Pixels → metres → km/h</a:t>
            </a:r>
            <a:endParaRPr lang="en-US" sz="1300" dirty="0"/>
          </a:p>
        </p:txBody>
      </p:sp>
      <p:pic>
        <p:nvPicPr>
          <p:cNvPr id="27" name="Image 7" descr="arrow">    </p:cNvPr>
          <p:cNvPicPr>
            <a:picLocks noChangeAspect="1"/>
          </p:cNvPicPr>
          <p:nvPr/>
        </p:nvPicPr>
        <p:blipFill>
          <a:blip r:embed="rId8"/>
          <a:stretch>
            <a:fillRect/>
          </a:stretch>
        </p:blipFill>
        <p:spPr>
          <a:xfrm>
            <a:off x="9401404" y="2926080"/>
            <a:ext cx="274320" cy="274320"/>
          </a:xfrm>
          <a:prstGeom prst="rect">
            <a:avLst/>
          </a:prstGeom>
        </p:spPr>
      </p:pic>
      <p:sp>
        <p:nvSpPr>
          <p:cNvPr id="28" name="card"/>
          <p:cNvSpPr/>
          <p:nvPr/>
        </p:nvSpPr>
        <p:spPr>
          <a:xfrm>
            <a:off x="9748876" y="2148840"/>
            <a:ext cx="1874520" cy="1965960"/>
          </a:xfrm>
          <a:prstGeom prst="roundRect">
            <a:avLst>
              <a:gd name="adj" fmla="val 3902"/>
            </a:avLst>
          </a:prstGeom>
          <a:solidFill>
            <a:schemeClr val="bg2"/>
          </a:solidFill>
          <a:ln/>
        </p:spPr>
      </p:sp>
      <p:sp>
        <p:nvSpPr>
          <p:cNvPr id="29" name="icon-bg"/>
          <p:cNvSpPr/>
          <p:nvPr/>
        </p:nvSpPr>
        <p:spPr>
          <a:xfrm>
            <a:off x="10320376" y="2377440"/>
            <a:ext cx="731520" cy="731520"/>
          </a:xfrm>
          <a:prstGeom prst="ellipse">
            <a:avLst/>
          </a:prstGeom>
          <a:solidFill>
            <a:schemeClr val="tx2"/>
          </a:solidFill>
          <a:ln/>
        </p:spPr>
      </p:sp>
      <p:pic>
        <p:nvPicPr>
          <p:cNvPr id="30" name="Image 8" descr="Siren icon">    </p:cNvPr>
          <p:cNvPicPr>
            <a:picLocks noChangeAspect="1"/>
          </p:cNvPicPr>
          <p:nvPr/>
        </p:nvPicPr>
        <p:blipFill>
          <a:blip r:embed="rId9"/>
          <a:stretch>
            <a:fillRect/>
          </a:stretch>
        </p:blipFill>
        <p:spPr>
          <a:xfrm>
            <a:off x="10481310" y="2538374"/>
            <a:ext cx="409651" cy="409651"/>
          </a:xfrm>
          <a:prstGeom prst="rect">
            <a:avLst/>
          </a:prstGeom>
        </p:spPr>
      </p:pic>
      <p:sp>
        <p:nvSpPr>
          <p:cNvPr id="31" name="Text 20"/>
          <p:cNvSpPr txBox="1"/>
          <p:nvPr/>
        </p:nvSpPr>
        <p:spPr>
          <a:xfrm>
            <a:off x="9748876" y="3246120"/>
            <a:ext cx="1874520" cy="320040"/>
          </a:xfrm>
          <a:prstGeom prst="rect">
            <a:avLst/>
          </a:prstGeom>
          <a:noFill/>
          <a:ln/>
        </p:spPr>
        <p:txBody>
          <a:bodyPr wrap="square" lIns="0" tIns="0" rIns="0" bIns="0" rtlCol="0" anchor="t"/>
          <a:lstStyle/>
          <a:p>
            <a:pPr algn="ctr" indent="0" marL="0">
              <a:buNone/>
            </a:pPr>
            <a:r>
              <a:rPr lang="en-US" sz="1500" b="1" dirty="0">
                <a:solidFill>
                  <a:schemeClr val="tx2"/>
                </a:solidFill>
              </a:rPr>
              <a:t>ACT</a:t>
            </a:r>
            <a:endParaRPr lang="en-US" sz="1500" dirty="0"/>
          </a:p>
        </p:txBody>
      </p:sp>
      <p:sp>
        <p:nvSpPr>
          <p:cNvPr id="32" name="Text 21"/>
          <p:cNvSpPr txBox="1"/>
          <p:nvPr/>
        </p:nvSpPr>
        <p:spPr>
          <a:xfrm>
            <a:off x="9840316" y="3566160"/>
            <a:ext cx="1691640" cy="457200"/>
          </a:xfrm>
          <a:prstGeom prst="rect">
            <a:avLst/>
          </a:prstGeom>
          <a:noFill/>
          <a:ln/>
        </p:spPr>
        <p:txBody>
          <a:bodyPr wrap="square" lIns="0" tIns="0" rIns="0" bIns="0" rtlCol="0" anchor="t"/>
          <a:lstStyle/>
          <a:p>
            <a:pPr algn="ctr" indent="0" marL="0">
              <a:buNone/>
            </a:pPr>
            <a:r>
              <a:rPr lang="en-US" sz="1300" dirty="0">
                <a:solidFill>
                  <a:schemeClr val="accent4"/>
                </a:solidFill>
              </a:rPr>
              <a:t>Rule → evidence → alert</a:t>
            </a:r>
            <a:endParaRPr lang="en-US" sz="1300" dirty="0"/>
          </a:p>
        </p:txBody>
      </p:sp>
      <p:sp>
        <p:nvSpPr>
          <p:cNvPr id="33" name="bracket"/>
          <p:cNvSpPr/>
          <p:nvPr/>
        </p:nvSpPr>
        <p:spPr>
          <a:xfrm>
            <a:off x="568300" y="4343400"/>
            <a:ext cx="4169664" cy="0"/>
          </a:xfrm>
          <a:prstGeom prst="line">
            <a:avLst/>
          </a:prstGeom>
          <a:noFill/>
          <a:ln w="38100">
            <a:solidFill>
              <a:schemeClr val="accent1"/>
            </a:solidFill>
            <a:prstDash val="solid"/>
          </a:ln>
        </p:spPr>
      </p:sp>
      <p:sp>
        <p:nvSpPr>
          <p:cNvPr id="34" name="Text 23"/>
          <p:cNvSpPr txBox="1"/>
          <p:nvPr/>
        </p:nvSpPr>
        <p:spPr>
          <a:xfrm>
            <a:off x="568300" y="4480560"/>
            <a:ext cx="4169664" cy="320040"/>
          </a:xfrm>
          <a:prstGeom prst="rect">
            <a:avLst/>
          </a:prstGeom>
          <a:noFill/>
          <a:ln/>
        </p:spPr>
        <p:txBody>
          <a:bodyPr wrap="square" lIns="0" tIns="0" rIns="0" bIns="0" rtlCol="0" anchor="t"/>
          <a:lstStyle/>
          <a:p>
            <a:pPr indent="0" marL="0">
              <a:buNone/>
            </a:pPr>
            <a:r>
              <a:rPr lang="en-US" sz="1600" b="1" dirty="0">
                <a:solidFill>
                  <a:schemeClr val="tx2"/>
                </a:solidFill>
              </a:rPr>
              <a:t>01  Thithiksha</a:t>
            </a:r>
            <a:endParaRPr lang="en-US" sz="1600" dirty="0"/>
          </a:p>
        </p:txBody>
      </p:sp>
      <p:sp>
        <p:nvSpPr>
          <p:cNvPr id="35" name="Text 24"/>
          <p:cNvSpPr txBox="1"/>
          <p:nvPr/>
        </p:nvSpPr>
        <p:spPr>
          <a:xfrm>
            <a:off x="568300" y="4800600"/>
            <a:ext cx="4169664" cy="320040"/>
          </a:xfrm>
          <a:prstGeom prst="rect">
            <a:avLst/>
          </a:prstGeom>
          <a:noFill/>
          <a:ln/>
        </p:spPr>
        <p:txBody>
          <a:bodyPr wrap="square" lIns="0" tIns="0" rIns="0" bIns="0" rtlCol="0" anchor="t"/>
          <a:lstStyle/>
          <a:p>
            <a:pPr indent="0" marL="0">
              <a:buNone/>
            </a:pPr>
            <a:r>
              <a:rPr lang="en-US" sz="1400" dirty="0">
                <a:solidFill>
                  <a:schemeClr val="tx1"/>
                </a:solidFill>
              </a:rPr>
              <a:t>How machines see</a:t>
            </a:r>
            <a:endParaRPr lang="en-US" sz="1400" dirty="0"/>
          </a:p>
        </p:txBody>
      </p:sp>
      <p:sp>
        <p:nvSpPr>
          <p:cNvPr id="36" name="Text 25"/>
          <p:cNvSpPr txBox="1"/>
          <p:nvPr/>
        </p:nvSpPr>
        <p:spPr>
          <a:xfrm>
            <a:off x="568300" y="5120640"/>
            <a:ext cx="4169664" cy="274320"/>
          </a:xfrm>
          <a:prstGeom prst="rect">
            <a:avLst/>
          </a:prstGeom>
          <a:noFill/>
          <a:ln/>
        </p:spPr>
        <p:txBody>
          <a:bodyPr wrap="square" lIns="0" tIns="0" rIns="0" bIns="0" rtlCol="0" anchor="t"/>
          <a:lstStyle/>
          <a:p>
            <a:pPr indent="0" marL="0">
              <a:buNone/>
            </a:pPr>
            <a:r>
              <a:rPr lang="en-US" sz="1200" dirty="0">
                <a:solidFill>
                  <a:schemeClr val="accent4"/>
                </a:solidFill>
              </a:rPr>
              <a:t>~7 min</a:t>
            </a:r>
            <a:endParaRPr lang="en-US" sz="1200" dirty="0"/>
          </a:p>
        </p:txBody>
      </p:sp>
      <p:sp>
        <p:nvSpPr>
          <p:cNvPr id="37" name="bracket"/>
          <p:cNvSpPr/>
          <p:nvPr/>
        </p:nvSpPr>
        <p:spPr>
          <a:xfrm>
            <a:off x="5158588" y="4343400"/>
            <a:ext cx="4169664" cy="0"/>
          </a:xfrm>
          <a:prstGeom prst="line">
            <a:avLst/>
          </a:prstGeom>
          <a:noFill/>
          <a:ln w="38100">
            <a:solidFill>
              <a:schemeClr val="accent1"/>
            </a:solidFill>
            <a:prstDash val="solid"/>
          </a:ln>
        </p:spPr>
      </p:sp>
      <p:sp>
        <p:nvSpPr>
          <p:cNvPr id="38" name="Text 27"/>
          <p:cNvSpPr txBox="1"/>
          <p:nvPr/>
        </p:nvSpPr>
        <p:spPr>
          <a:xfrm>
            <a:off x="5158588" y="4480560"/>
            <a:ext cx="4169664" cy="320040"/>
          </a:xfrm>
          <a:prstGeom prst="rect">
            <a:avLst/>
          </a:prstGeom>
          <a:noFill/>
          <a:ln/>
        </p:spPr>
        <p:txBody>
          <a:bodyPr wrap="square" lIns="0" tIns="0" rIns="0" bIns="0" rtlCol="0" anchor="t"/>
          <a:lstStyle/>
          <a:p>
            <a:pPr indent="0" marL="0">
              <a:buNone/>
            </a:pPr>
            <a:r>
              <a:rPr lang="en-US" sz="1600" b="1" dirty="0">
                <a:solidFill>
                  <a:schemeClr val="tx2"/>
                </a:solidFill>
              </a:rPr>
              <a:t>02  Arul</a:t>
            </a:r>
            <a:endParaRPr lang="en-US" sz="1600" dirty="0"/>
          </a:p>
        </p:txBody>
      </p:sp>
      <p:sp>
        <p:nvSpPr>
          <p:cNvPr id="39" name="Text 28"/>
          <p:cNvSpPr txBox="1"/>
          <p:nvPr/>
        </p:nvSpPr>
        <p:spPr>
          <a:xfrm>
            <a:off x="5158588" y="4800600"/>
            <a:ext cx="4169664" cy="320040"/>
          </a:xfrm>
          <a:prstGeom prst="rect">
            <a:avLst/>
          </a:prstGeom>
          <a:noFill/>
          <a:ln/>
        </p:spPr>
        <p:txBody>
          <a:bodyPr wrap="square" lIns="0" tIns="0" rIns="0" bIns="0" rtlCol="0" anchor="t"/>
          <a:lstStyle/>
          <a:p>
            <a:pPr indent="0" marL="0">
              <a:buNone/>
            </a:pPr>
            <a:r>
              <a:rPr lang="en-US" sz="1400" dirty="0">
                <a:solidFill>
                  <a:schemeClr val="tx1"/>
                </a:solidFill>
              </a:rPr>
              <a:t>From detections to speed</a:t>
            </a:r>
            <a:endParaRPr lang="en-US" sz="1400" dirty="0"/>
          </a:p>
        </p:txBody>
      </p:sp>
      <p:sp>
        <p:nvSpPr>
          <p:cNvPr id="40" name="Text 29"/>
          <p:cNvSpPr txBox="1"/>
          <p:nvPr/>
        </p:nvSpPr>
        <p:spPr>
          <a:xfrm>
            <a:off x="5158588" y="5120640"/>
            <a:ext cx="4169664" cy="274320"/>
          </a:xfrm>
          <a:prstGeom prst="rect">
            <a:avLst/>
          </a:prstGeom>
          <a:noFill/>
          <a:ln/>
        </p:spPr>
        <p:txBody>
          <a:bodyPr wrap="square" lIns="0" tIns="0" rIns="0" bIns="0" rtlCol="0" anchor="t"/>
          <a:lstStyle/>
          <a:p>
            <a:pPr indent="0" marL="0">
              <a:buNone/>
            </a:pPr>
            <a:r>
              <a:rPr lang="en-US" sz="1200" dirty="0">
                <a:solidFill>
                  <a:schemeClr val="accent4"/>
                </a:solidFill>
              </a:rPr>
              <a:t>~8 min</a:t>
            </a:r>
            <a:endParaRPr lang="en-US" sz="1200" dirty="0"/>
          </a:p>
        </p:txBody>
      </p:sp>
      <p:sp>
        <p:nvSpPr>
          <p:cNvPr id="41" name="bracket"/>
          <p:cNvSpPr/>
          <p:nvPr/>
        </p:nvSpPr>
        <p:spPr>
          <a:xfrm>
            <a:off x="9748876" y="4343400"/>
            <a:ext cx="1874520" cy="0"/>
          </a:xfrm>
          <a:prstGeom prst="line">
            <a:avLst/>
          </a:prstGeom>
          <a:noFill/>
          <a:ln w="38100">
            <a:solidFill>
              <a:schemeClr val="accent1"/>
            </a:solidFill>
            <a:prstDash val="solid"/>
          </a:ln>
        </p:spPr>
      </p:sp>
      <p:sp>
        <p:nvSpPr>
          <p:cNvPr id="42" name="Text 31"/>
          <p:cNvSpPr txBox="1"/>
          <p:nvPr/>
        </p:nvSpPr>
        <p:spPr>
          <a:xfrm>
            <a:off x="9748876" y="4480560"/>
            <a:ext cx="1874520" cy="320040"/>
          </a:xfrm>
          <a:prstGeom prst="rect">
            <a:avLst/>
          </a:prstGeom>
          <a:noFill/>
          <a:ln/>
        </p:spPr>
        <p:txBody>
          <a:bodyPr wrap="square" lIns="0" tIns="0" rIns="0" bIns="0" rtlCol="0" anchor="t"/>
          <a:lstStyle/>
          <a:p>
            <a:pPr indent="0" marL="0">
              <a:buNone/>
            </a:pPr>
            <a:r>
              <a:rPr lang="en-US" sz="1600" b="1" dirty="0">
                <a:solidFill>
                  <a:schemeClr val="tx2"/>
                </a:solidFill>
              </a:rPr>
              <a:t>03  DPD</a:t>
            </a:r>
            <a:endParaRPr lang="en-US" sz="1600" dirty="0"/>
          </a:p>
        </p:txBody>
      </p:sp>
      <p:sp>
        <p:nvSpPr>
          <p:cNvPr id="43" name="Text 32"/>
          <p:cNvSpPr txBox="1"/>
          <p:nvPr/>
        </p:nvSpPr>
        <p:spPr>
          <a:xfrm>
            <a:off x="9748876" y="4800600"/>
            <a:ext cx="1874520" cy="320040"/>
          </a:xfrm>
          <a:prstGeom prst="rect">
            <a:avLst/>
          </a:prstGeom>
          <a:noFill/>
          <a:ln/>
        </p:spPr>
        <p:txBody>
          <a:bodyPr wrap="square" lIns="0" tIns="0" rIns="0" bIns="0" rtlCol="0" anchor="t"/>
          <a:lstStyle/>
          <a:p>
            <a:pPr indent="0" marL="0">
              <a:buNone/>
            </a:pPr>
            <a:r>
              <a:rPr lang="en-US" sz="1400" dirty="0">
                <a:solidFill>
                  <a:schemeClr val="tx1"/>
                </a:solidFill>
              </a:rPr>
              <a:t>Automation + demo</a:t>
            </a:r>
            <a:endParaRPr lang="en-US" sz="1400" dirty="0"/>
          </a:p>
        </p:txBody>
      </p:sp>
      <p:sp>
        <p:nvSpPr>
          <p:cNvPr id="44" name="Text 33"/>
          <p:cNvSpPr txBox="1"/>
          <p:nvPr/>
        </p:nvSpPr>
        <p:spPr>
          <a:xfrm>
            <a:off x="9748876" y="5120640"/>
            <a:ext cx="1874520" cy="274320"/>
          </a:xfrm>
          <a:prstGeom prst="rect">
            <a:avLst/>
          </a:prstGeom>
          <a:noFill/>
          <a:ln/>
        </p:spPr>
        <p:txBody>
          <a:bodyPr wrap="square" lIns="0" tIns="0" rIns="0" bIns="0" rtlCol="0" anchor="t"/>
          <a:lstStyle/>
          <a:p>
            <a:pPr indent="0" marL="0">
              <a:buNone/>
            </a:pPr>
            <a:r>
              <a:rPr lang="en-US" sz="1200" dirty="0">
                <a:solidFill>
                  <a:schemeClr val="accent4"/>
                </a:solidFill>
              </a:rPr>
              <a:t>~6 min + demo</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3657600" cy="1371600"/>
          </a:xfrm>
          <a:prstGeom prst="rect">
            <a:avLst/>
          </a:prstGeom>
          <a:noFill/>
          <a:ln/>
        </p:spPr>
        <p:txBody>
          <a:bodyPr wrap="square" lIns="0" tIns="0" rIns="0" bIns="0" rtlCol="0" anchor="b"/>
          <a:lstStyle/>
          <a:p>
            <a:pPr indent="0" marL="0">
              <a:buNone/>
            </a:pPr>
            <a:r>
              <a:rPr lang="en-US" sz="9600" b="1" dirty="0">
                <a:solidFill>
                  <a:schemeClr val="accent1"/>
                </a:solidFill>
              </a:rPr>
              <a:t>01</a:t>
            </a:r>
            <a:endParaRPr lang="en-US" sz="9600" dirty="0"/>
          </a:p>
        </p:txBody>
      </p:sp>
      <p:sp>
        <p:nvSpPr>
          <p:cNvPr id="3" name="Text 0"/>
          <p:cNvSpPr/>
          <p:nvPr>
            <p:ph idx="101" type="title" hasCustomPrompt="1"/>
          </p:nvPr>
        </p:nvSpPr>
        <p:spPr>
          <a:xfrm>
            <a:off x="548640" y="2880360"/>
            <a:ext cx="10058400" cy="914400"/>
          </a:xfrm>
          <a:prstGeom prst="rect">
            <a:avLst/>
          </a:prstGeom>
          <a:noFill/>
          <a:ln/>
        </p:spPr>
        <p:txBody>
          <a:bodyPr wrap="square" lIns="0" tIns="0" rIns="0" bIns="0" rtlCol="0" anchor="t"/>
          <a:lstStyle/>
          <a:p>
            <a:pPr algn="l" indent="0" marL="0">
              <a:buNone/>
            </a:pPr>
            <a:r>
              <a:rPr lang="en-US" sz="4400" b="1" dirty="0">
                <a:solidFill>
                  <a:schemeClr val="bg1"/>
                </a:solidFill>
              </a:rPr>
              <a:t>How machines see</a:t>
            </a:r>
            <a:endParaRPr lang="en-US" sz="4400" dirty="0"/>
          </a:p>
        </p:txBody>
      </p:sp>
      <p:sp>
        <p:nvSpPr>
          <p:cNvPr id="4" name="Text 0"/>
          <p:cNvSpPr/>
          <p:nvPr>
            <p:ph idx="102" type="body" hasCustomPrompt="1"/>
          </p:nvPr>
        </p:nvSpPr>
        <p:spPr>
          <a:xfrm>
            <a:off x="548640" y="3840480"/>
            <a:ext cx="10058400" cy="411480"/>
          </a:xfrm>
          <a:prstGeom prst="rect">
            <a:avLst/>
          </a:prstGeom>
          <a:noFill/>
          <a:ln/>
        </p:spPr>
        <p:txBody>
          <a:bodyPr wrap="square" lIns="0" tIns="0" rIns="0" bIns="0" rtlCol="0" anchor="t"/>
          <a:lstStyle/>
          <a:p>
            <a:pPr indent="0" marL="0">
              <a:buNone/>
            </a:pPr>
            <a:r>
              <a:rPr lang="en-US" sz="1800" dirty="0">
                <a:solidFill>
                  <a:schemeClr val="accent5"/>
                </a:solidFill>
              </a:rPr>
              <a:t>Thithiksha  ·  Pixels and detection</a:t>
            </a:r>
            <a:endParaRPr lang="en-US" sz="1800" dirty="0"/>
          </a:p>
        </p:txBody>
      </p:sp>
      <p:sp>
        <p:nvSpPr>
          <p:cNvPr id="5" name="stage-chip-PIXELS"/>
          <p:cNvSpPr/>
          <p:nvPr/>
        </p:nvSpPr>
        <p:spPr>
          <a:xfrm>
            <a:off x="7144207" y="384048"/>
            <a:ext cx="841248" cy="274320"/>
          </a:xfrm>
          <a:prstGeom prst="roundRect">
            <a:avLst>
              <a:gd name="adj" fmla="val 50000"/>
            </a:avLst>
          </a:prstGeom>
          <a:solidFill>
            <a:schemeClr val="accent1"/>
          </a:solidFill>
          <a:ln/>
        </p:spPr>
      </p:sp>
      <p:sp>
        <p:nvSpPr>
          <p:cNvPr id="6" name="Text 4"/>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PIXELS</a:t>
            </a:r>
            <a:endParaRPr lang="en-US" sz="900" dirty="0"/>
          </a:p>
        </p:txBody>
      </p:sp>
      <p:sp>
        <p:nvSpPr>
          <p:cNvPr id="7" name="stage-chip-DETECT"/>
          <p:cNvSpPr/>
          <p:nvPr/>
        </p:nvSpPr>
        <p:spPr>
          <a:xfrm>
            <a:off x="8058607" y="384048"/>
            <a:ext cx="841248" cy="274320"/>
          </a:xfrm>
          <a:prstGeom prst="roundRect">
            <a:avLst>
              <a:gd name="adj" fmla="val 50000"/>
            </a:avLst>
          </a:prstGeom>
          <a:solidFill>
            <a:schemeClr val="accent1"/>
          </a:solidFill>
          <a:ln/>
        </p:spPr>
      </p:sp>
      <p:sp>
        <p:nvSpPr>
          <p:cNvPr id="8" name="Text 6"/>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DETECT</a:t>
            </a:r>
            <a:endParaRPr lang="en-US" sz="900" dirty="0"/>
          </a:p>
        </p:txBody>
      </p:sp>
      <p:sp>
        <p:nvSpPr>
          <p:cNvPr id="9" name="stage-chip-TRACK"/>
          <p:cNvSpPr/>
          <p:nvPr/>
        </p:nvSpPr>
        <p:spPr>
          <a:xfrm>
            <a:off x="8973007" y="384048"/>
            <a:ext cx="841248" cy="274320"/>
          </a:xfrm>
          <a:prstGeom prst="roundRect">
            <a:avLst>
              <a:gd name="adj" fmla="val 50000"/>
            </a:avLst>
          </a:prstGeom>
          <a:solidFill>
            <a:srgbClr val="1D3550"/>
          </a:solidFill>
          <a:ln/>
        </p:spPr>
      </p:sp>
      <p:sp>
        <p:nvSpPr>
          <p:cNvPr id="10" name="Text 8"/>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TRACK</a:t>
            </a:r>
            <a:endParaRPr lang="en-US" sz="900" dirty="0"/>
          </a:p>
        </p:txBody>
      </p:sp>
      <p:sp>
        <p:nvSpPr>
          <p:cNvPr id="11" name="stage-chip-MEASURE"/>
          <p:cNvSpPr/>
          <p:nvPr/>
        </p:nvSpPr>
        <p:spPr>
          <a:xfrm>
            <a:off x="9887407" y="384048"/>
            <a:ext cx="841248" cy="274320"/>
          </a:xfrm>
          <a:prstGeom prst="roundRect">
            <a:avLst>
              <a:gd name="adj" fmla="val 50000"/>
            </a:avLst>
          </a:prstGeom>
          <a:solidFill>
            <a:srgbClr val="1D3550"/>
          </a:solidFill>
          <a:ln/>
        </p:spPr>
      </p:sp>
      <p:sp>
        <p:nvSpPr>
          <p:cNvPr id="12" name="Text 10"/>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MEASURE</a:t>
            </a:r>
            <a:endParaRPr lang="en-US" sz="900" dirty="0"/>
          </a:p>
        </p:txBody>
      </p:sp>
      <p:sp>
        <p:nvSpPr>
          <p:cNvPr id="13" name="stage-chip-ACT"/>
          <p:cNvSpPr/>
          <p:nvPr/>
        </p:nvSpPr>
        <p:spPr>
          <a:xfrm>
            <a:off x="10801807" y="384048"/>
            <a:ext cx="841248" cy="274320"/>
          </a:xfrm>
          <a:prstGeom prst="roundRect">
            <a:avLst>
              <a:gd name="adj" fmla="val 50000"/>
            </a:avLst>
          </a:prstGeom>
          <a:solidFill>
            <a:srgbClr val="1D3550"/>
          </a:solidFill>
          <a:ln/>
        </p:spPr>
      </p:sp>
      <p:sp>
        <p:nvSpPr>
          <p:cNvPr id="14" name="Text 12"/>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ACT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PIXELS</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To a computer, an image is just a grid of numbers</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accent1"/>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bg2"/>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bg2"/>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img-placeholder"/>
          <p:cNvSpPr/>
          <p:nvPr/>
        </p:nvSpPr>
        <p:spPr>
          <a:xfrm>
            <a:off x="548640" y="1691640"/>
            <a:ext cx="6949440" cy="4206240"/>
          </a:xfrm>
          <a:prstGeom prst="rect">
            <a:avLst/>
          </a:prstGeom>
          <a:solidFill>
            <a:schemeClr val="bg2"/>
          </a:solidFill>
          <a:ln w="12700">
            <a:solidFill>
              <a:schemeClr val="accent5"/>
            </a:solidFill>
            <a:prstDash val="dash"/>
          </a:ln>
        </p:spPr>
      </p:sp>
      <p:sp>
        <p:nvSpPr>
          <p:cNvPr id="15" name="Text 13"/>
          <p:cNvSpPr txBox="1"/>
          <p:nvPr/>
        </p:nvSpPr>
        <p:spPr>
          <a:xfrm>
            <a:off x="548640" y="1691640"/>
            <a:ext cx="6949440" cy="4206240"/>
          </a:xfrm>
          <a:prstGeom prst="rect">
            <a:avLst/>
          </a:prstGeom>
          <a:noFill/>
          <a:ln/>
        </p:spPr>
        <p:txBody>
          <a:bodyPr wrap="square" rtlCol="0" anchor="ctr"/>
          <a:lstStyle/>
          <a:p>
            <a:pPr algn="ctr" indent="0" marL="0">
              <a:buNone/>
            </a:pPr>
            <a:r>
              <a:rPr lang="en-US" sz="1200" dirty="0">
                <a:solidFill>
                  <a:schemeClr val="accent4"/>
                </a:solidFill>
              </a:rPr>
              <a:t>[ image: pixels.png ]</a:t>
            </a:r>
            <a:endParaRPr lang="en-US" sz="1200" dirty="0"/>
          </a:p>
        </p:txBody>
      </p:sp>
      <p:sp>
        <p:nvSpPr>
          <p:cNvPr id="16" name="Text 14"/>
          <p:cNvSpPr txBox="1"/>
          <p:nvPr/>
        </p:nvSpPr>
        <p:spPr>
          <a:xfrm>
            <a:off x="8001000" y="1783080"/>
            <a:ext cx="3642055" cy="502920"/>
          </a:xfrm>
          <a:prstGeom prst="rect">
            <a:avLst/>
          </a:prstGeom>
          <a:noFill/>
          <a:ln/>
        </p:spPr>
        <p:txBody>
          <a:bodyPr wrap="square" lIns="0" tIns="0" rIns="0" bIns="0" rtlCol="0" anchor="b"/>
          <a:lstStyle/>
          <a:p>
            <a:pPr indent="0" marL="0">
              <a:buNone/>
            </a:pPr>
            <a:r>
              <a:rPr lang="en-US" sz="2800" b="1" dirty="0">
                <a:solidFill>
                  <a:schemeClr val="tx2"/>
                </a:solidFill>
              </a:rPr>
              <a:t>1920 × 1080 × 3</a:t>
            </a:r>
            <a:endParaRPr lang="en-US" sz="2800" dirty="0"/>
          </a:p>
        </p:txBody>
      </p:sp>
      <p:sp>
        <p:nvSpPr>
          <p:cNvPr id="17" name="Text 15"/>
          <p:cNvSpPr txBox="1"/>
          <p:nvPr/>
        </p:nvSpPr>
        <p:spPr>
          <a:xfrm>
            <a:off x="8001000" y="2331720"/>
            <a:ext cx="3642055" cy="548640"/>
          </a:xfrm>
          <a:prstGeom prst="rect">
            <a:avLst/>
          </a:prstGeom>
          <a:noFill/>
          <a:ln/>
        </p:spPr>
        <p:txBody>
          <a:bodyPr wrap="square" lIns="0" tIns="0" rIns="0" bIns="0" rtlCol="0" anchor="t"/>
          <a:lstStyle/>
          <a:p>
            <a:pPr indent="0" marL="0">
              <a:buNone/>
            </a:pPr>
            <a:r>
              <a:rPr lang="en-US" sz="1400" dirty="0">
                <a:solidFill>
                  <a:schemeClr val="accent4"/>
                </a:solidFill>
              </a:rPr>
              <a:t>≈ 6.2 million numbers in one 1080p colour frame</a:t>
            </a:r>
            <a:endParaRPr lang="en-US" sz="1400" dirty="0"/>
          </a:p>
        </p:txBody>
      </p:sp>
      <p:sp>
        <p:nvSpPr>
          <p:cNvPr id="18" name="Text 16"/>
          <p:cNvSpPr txBox="1"/>
          <p:nvPr/>
        </p:nvSpPr>
        <p:spPr>
          <a:xfrm>
            <a:off x="8001000" y="3063240"/>
            <a:ext cx="3642055" cy="502920"/>
          </a:xfrm>
          <a:prstGeom prst="rect">
            <a:avLst/>
          </a:prstGeom>
          <a:noFill/>
          <a:ln/>
        </p:spPr>
        <p:txBody>
          <a:bodyPr wrap="square" lIns="0" tIns="0" rIns="0" bIns="0" rtlCol="0" anchor="b"/>
          <a:lstStyle/>
          <a:p>
            <a:pPr indent="0" marL="0">
              <a:buNone/>
            </a:pPr>
            <a:r>
              <a:rPr lang="en-US" sz="2800" b="1" dirty="0">
                <a:solidFill>
                  <a:schemeClr val="tx2"/>
                </a:solidFill>
              </a:rPr>
              <a:t>× 30 FPS</a:t>
            </a:r>
            <a:endParaRPr lang="en-US" sz="2800" dirty="0"/>
          </a:p>
        </p:txBody>
      </p:sp>
      <p:sp>
        <p:nvSpPr>
          <p:cNvPr id="19" name="Text 17"/>
          <p:cNvSpPr txBox="1"/>
          <p:nvPr/>
        </p:nvSpPr>
        <p:spPr>
          <a:xfrm>
            <a:off x="8001000" y="3611880"/>
            <a:ext cx="3642055" cy="548640"/>
          </a:xfrm>
          <a:prstGeom prst="rect">
            <a:avLst/>
          </a:prstGeom>
          <a:noFill/>
          <a:ln/>
        </p:spPr>
        <p:txBody>
          <a:bodyPr wrap="square" lIns="0" tIns="0" rIns="0" bIns="0" rtlCol="0" anchor="t"/>
          <a:lstStyle/>
          <a:p>
            <a:pPr indent="0" marL="0">
              <a:buNone/>
            </a:pPr>
            <a:r>
              <a:rPr lang="en-US" sz="1400" dirty="0">
                <a:solidFill>
                  <a:schemeClr val="accent4"/>
                </a:solidFill>
              </a:rPr>
              <a:t>≈ 187 million numbers every second</a:t>
            </a:r>
            <a:endParaRPr lang="en-US" sz="1400" dirty="0"/>
          </a:p>
        </p:txBody>
      </p:sp>
      <p:sp>
        <p:nvSpPr>
          <p:cNvPr id="20" name="Text 18"/>
          <p:cNvSpPr txBox="1"/>
          <p:nvPr/>
        </p:nvSpPr>
        <p:spPr>
          <a:xfrm>
            <a:off x="8001000" y="4343400"/>
            <a:ext cx="3642055" cy="502920"/>
          </a:xfrm>
          <a:prstGeom prst="rect">
            <a:avLst/>
          </a:prstGeom>
          <a:noFill/>
          <a:ln/>
        </p:spPr>
        <p:txBody>
          <a:bodyPr wrap="square" lIns="0" tIns="0" rIns="0" bIns="0" rtlCol="0" anchor="b"/>
          <a:lstStyle/>
          <a:p>
            <a:pPr indent="0" marL="0">
              <a:buNone/>
            </a:pPr>
            <a:r>
              <a:rPr lang="en-US" sz="2800" b="1" dirty="0">
                <a:solidFill>
                  <a:schemeClr val="tx2"/>
                </a:solidFill>
              </a:rPr>
              <a:t>0 – 255</a:t>
            </a:r>
            <a:endParaRPr lang="en-US" sz="2800" dirty="0"/>
          </a:p>
        </p:txBody>
      </p:sp>
      <p:sp>
        <p:nvSpPr>
          <p:cNvPr id="21" name="Text 19"/>
          <p:cNvSpPr txBox="1"/>
          <p:nvPr/>
        </p:nvSpPr>
        <p:spPr>
          <a:xfrm>
            <a:off x="8001000" y="4892040"/>
            <a:ext cx="3642055" cy="548640"/>
          </a:xfrm>
          <a:prstGeom prst="rect">
            <a:avLst/>
          </a:prstGeom>
          <a:noFill/>
          <a:ln/>
        </p:spPr>
        <p:txBody>
          <a:bodyPr wrap="square" lIns="0" tIns="0" rIns="0" bIns="0" rtlCol="0" anchor="t"/>
          <a:lstStyle/>
          <a:p>
            <a:pPr indent="0" marL="0">
              <a:buNone/>
            </a:pPr>
            <a:r>
              <a:rPr lang="en-US" sz="1400" dirty="0">
                <a:solidFill>
                  <a:schemeClr val="accent4"/>
                </a:solidFill>
              </a:rPr>
              <a:t>intensity per channel (R, G, B)</a:t>
            </a:r>
            <a:endParaRPr lang="en-US" sz="1400" dirty="0"/>
          </a:p>
        </p:txBody>
      </p:sp>
      <p:sp>
        <p:nvSpPr>
          <p:cNvPr id="22" name="Text 20"/>
          <p:cNvSpPr txBox="1"/>
          <p:nvPr/>
        </p:nvSpPr>
        <p:spPr>
          <a:xfrm>
            <a:off x="8001000" y="5532120"/>
            <a:ext cx="3642055" cy="411480"/>
          </a:xfrm>
          <a:prstGeom prst="rect">
            <a:avLst/>
          </a:prstGeom>
          <a:noFill/>
          <a:ln/>
        </p:spPr>
        <p:txBody>
          <a:bodyPr wrap="square" lIns="0" tIns="0" rIns="0" bIns="0" rtlCol="0" anchor="t"/>
          <a:lstStyle/>
          <a:p>
            <a:pPr indent="0" marL="0">
              <a:buNone/>
            </a:pPr>
            <a:r>
              <a:rPr lang="en-US" sz="1500" b="1" dirty="0">
                <a:solidFill>
                  <a:schemeClr val="tx2"/>
                </a:solidFill>
              </a:rPr>
              <a:t>Every CV task </a:t>
            </a:r>
            <a:pPr indent="0" marL="0">
              <a:buNone/>
            </a:pPr>
            <a:r>
              <a:rPr lang="en-US" sz="1500" dirty="0">
                <a:solidFill>
                  <a:schemeClr val="tx1"/>
                </a:solidFill>
              </a:rPr>
              <a:t>turns this array into a decision.</a:t>
            </a:r>
            <a:endParaRPr lang="en-US" sz="15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CLASSICAL CV</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Classical CV sees motion, not vehicles</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accent1"/>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bg2"/>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img-placeholder"/>
          <p:cNvSpPr/>
          <p:nvPr/>
        </p:nvSpPr>
        <p:spPr>
          <a:xfrm>
            <a:off x="548640" y="1691640"/>
            <a:ext cx="7040880" cy="3566160"/>
          </a:xfrm>
          <a:prstGeom prst="rect">
            <a:avLst/>
          </a:prstGeom>
          <a:solidFill>
            <a:schemeClr val="bg2"/>
          </a:solidFill>
          <a:ln w="12700">
            <a:solidFill>
              <a:schemeClr val="accent5"/>
            </a:solidFill>
            <a:prstDash val="dash"/>
          </a:ln>
        </p:spPr>
      </p:sp>
      <p:sp>
        <p:nvSpPr>
          <p:cNvPr id="15" name="Text 13"/>
          <p:cNvSpPr txBox="1"/>
          <p:nvPr/>
        </p:nvSpPr>
        <p:spPr>
          <a:xfrm>
            <a:off x="548640" y="1691640"/>
            <a:ext cx="7040880" cy="3566160"/>
          </a:xfrm>
          <a:prstGeom prst="rect">
            <a:avLst/>
          </a:prstGeom>
          <a:noFill/>
          <a:ln/>
        </p:spPr>
        <p:txBody>
          <a:bodyPr wrap="square" rtlCol="0" anchor="ctr"/>
          <a:lstStyle/>
          <a:p>
            <a:pPr algn="ctr" indent="0" marL="0">
              <a:buNone/>
            </a:pPr>
            <a:r>
              <a:rPr lang="en-US" sz="1200" dirty="0">
                <a:solidFill>
                  <a:schemeClr val="accent4"/>
                </a:solidFill>
              </a:rPr>
              <a:t>[ image: background_subtraction.png ]</a:t>
            </a:r>
            <a:endParaRPr lang="en-US" sz="1200" dirty="0"/>
          </a:p>
        </p:txBody>
      </p:sp>
      <p:sp>
        <p:nvSpPr>
          <p:cNvPr id="16" name="Text 14"/>
          <p:cNvSpPr txBox="1"/>
          <p:nvPr/>
        </p:nvSpPr>
        <p:spPr>
          <a:xfrm>
            <a:off x="548640" y="5394960"/>
            <a:ext cx="7040880" cy="548640"/>
          </a:xfrm>
          <a:prstGeom prst="rect">
            <a:avLst/>
          </a:prstGeom>
          <a:noFill/>
          <a:ln/>
        </p:spPr>
        <p:txBody>
          <a:bodyPr wrap="square" lIns="0" tIns="0" rIns="0" bIns="0" rtlCol="0" anchor="t"/>
          <a:lstStyle/>
          <a:p>
            <a:pPr indent="0" marL="0">
              <a:buNone/>
            </a:pPr>
            <a:r>
              <a:rPr lang="en-US" sz="1400" b="1" dirty="0">
                <a:solidFill>
                  <a:schemeClr val="tx2"/>
                </a:solidFill>
              </a:rPr>
              <a:t>How it works: </a:t>
            </a:r>
            <a:pPr indent="0" marL="0">
              <a:buNone/>
            </a:pPr>
            <a:r>
              <a:rPr lang="en-US" sz="1400" dirty="0">
                <a:solidFill>
                  <a:schemeClr val="tx1"/>
                </a:solidFill>
              </a:rPr>
              <a:t>model the static road (MOG2 background model); pixels that differ from it are 'foreground'.</a:t>
            </a:r>
            <a:endParaRPr lang="en-US" sz="1400" dirty="0"/>
          </a:p>
        </p:txBody>
      </p:sp>
      <p:sp>
        <p:nvSpPr>
          <p:cNvPr id="17" name="Text 15"/>
          <p:cNvSpPr txBox="1"/>
          <p:nvPr/>
        </p:nvSpPr>
        <p:spPr>
          <a:xfrm>
            <a:off x="8001000" y="1737360"/>
            <a:ext cx="3642055" cy="320040"/>
          </a:xfrm>
          <a:prstGeom prst="rect">
            <a:avLst/>
          </a:prstGeom>
          <a:noFill/>
          <a:ln/>
        </p:spPr>
        <p:txBody>
          <a:bodyPr wrap="square" lIns="0" tIns="0" rIns="0" bIns="0" rtlCol="0" anchor="t"/>
          <a:lstStyle/>
          <a:p>
            <a:pPr indent="0" marL="0">
              <a:buNone/>
            </a:pPr>
            <a:r>
              <a:rPr lang="en-US" sz="1600" b="1" dirty="0">
                <a:solidFill>
                  <a:schemeClr val="tx2"/>
                </a:solidFill>
              </a:rPr>
              <a:t>Where it breaks</a:t>
            </a:r>
            <a:endParaRPr lang="en-US" sz="1600" dirty="0"/>
          </a:p>
        </p:txBody>
      </p:sp>
      <p:sp>
        <p:nvSpPr>
          <p:cNvPr id="18" name="icon-bg"/>
          <p:cNvSpPr/>
          <p:nvPr/>
        </p:nvSpPr>
        <p:spPr>
          <a:xfrm>
            <a:off x="8001000" y="2194560"/>
            <a:ext cx="438912" cy="438912"/>
          </a:xfrm>
          <a:prstGeom prst="ellipse">
            <a:avLst/>
          </a:prstGeom>
          <a:solidFill>
            <a:schemeClr val="bg2"/>
          </a:solidFill>
          <a:ln/>
        </p:spPr>
      </p:sp>
      <p:pic>
        <p:nvPicPr>
          <p:cNvPr id="19" name="Image 0" descr="Sun icon">    </p:cNvPr>
          <p:cNvPicPr>
            <a:picLocks noChangeAspect="1"/>
          </p:cNvPicPr>
          <p:nvPr/>
        </p:nvPicPr>
        <p:blipFill>
          <a:blip r:embed="rId1"/>
          <a:stretch>
            <a:fillRect/>
          </a:stretch>
        </p:blipFill>
        <p:spPr>
          <a:xfrm>
            <a:off x="8097561" y="2291121"/>
            <a:ext cx="245791" cy="245791"/>
          </a:xfrm>
          <a:prstGeom prst="rect">
            <a:avLst/>
          </a:prstGeom>
        </p:spPr>
      </p:pic>
      <p:sp>
        <p:nvSpPr>
          <p:cNvPr id="20" name="Text 17"/>
          <p:cNvSpPr txBox="1"/>
          <p:nvPr/>
        </p:nvSpPr>
        <p:spPr>
          <a:xfrm>
            <a:off x="8595360" y="2194560"/>
            <a:ext cx="3047695" cy="438912"/>
          </a:xfrm>
          <a:prstGeom prst="rect">
            <a:avLst/>
          </a:prstGeom>
          <a:noFill/>
          <a:ln/>
        </p:spPr>
        <p:txBody>
          <a:bodyPr wrap="square" lIns="0" tIns="0" rIns="0" bIns="0" rtlCol="0" anchor="ctr"/>
          <a:lstStyle/>
          <a:p>
            <a:pPr indent="0" marL="0">
              <a:buNone/>
            </a:pPr>
            <a:r>
              <a:rPr lang="en-US" sz="1400" dirty="0">
                <a:solidFill>
                  <a:schemeClr val="tx1"/>
                </a:solidFill>
              </a:rPr>
              <a:t>Shadows move with the car → oversized blobs</a:t>
            </a:r>
            <a:endParaRPr lang="en-US" sz="1400" dirty="0"/>
          </a:p>
        </p:txBody>
      </p:sp>
      <p:sp>
        <p:nvSpPr>
          <p:cNvPr id="21" name="icon-bg"/>
          <p:cNvSpPr/>
          <p:nvPr/>
        </p:nvSpPr>
        <p:spPr>
          <a:xfrm>
            <a:off x="8001000" y="2816352"/>
            <a:ext cx="438912" cy="438912"/>
          </a:xfrm>
          <a:prstGeom prst="ellipse">
            <a:avLst/>
          </a:prstGeom>
          <a:solidFill>
            <a:schemeClr val="bg2"/>
          </a:solidFill>
          <a:ln/>
        </p:spPr>
      </p:sp>
      <p:pic>
        <p:nvPicPr>
          <p:cNvPr id="22" name="Image 1" descr="Moon icon">    </p:cNvPr>
          <p:cNvPicPr>
            <a:picLocks noChangeAspect="1"/>
          </p:cNvPicPr>
          <p:nvPr/>
        </p:nvPicPr>
        <p:blipFill>
          <a:blip r:embed="rId2"/>
          <a:stretch>
            <a:fillRect/>
          </a:stretch>
        </p:blipFill>
        <p:spPr>
          <a:xfrm>
            <a:off x="8097561" y="2912913"/>
            <a:ext cx="245791" cy="245791"/>
          </a:xfrm>
          <a:prstGeom prst="rect">
            <a:avLst/>
          </a:prstGeom>
        </p:spPr>
      </p:pic>
      <p:sp>
        <p:nvSpPr>
          <p:cNvPr id="23" name="Text 19"/>
          <p:cNvSpPr txBox="1"/>
          <p:nvPr/>
        </p:nvSpPr>
        <p:spPr>
          <a:xfrm>
            <a:off x="8595360" y="2816352"/>
            <a:ext cx="3047695" cy="438912"/>
          </a:xfrm>
          <a:prstGeom prst="rect">
            <a:avLst/>
          </a:prstGeom>
          <a:noFill/>
          <a:ln/>
        </p:spPr>
        <p:txBody>
          <a:bodyPr wrap="square" lIns="0" tIns="0" rIns="0" bIns="0" rtlCol="0" anchor="ctr"/>
          <a:lstStyle/>
          <a:p>
            <a:pPr indent="0" marL="0">
              <a:buNone/>
            </a:pPr>
            <a:r>
              <a:rPr lang="en-US" sz="1400" dirty="0">
                <a:solidFill>
                  <a:schemeClr val="tx1"/>
                </a:solidFill>
              </a:rPr>
              <a:t>Headlights &amp; night glare → false motion</a:t>
            </a:r>
            <a:endParaRPr lang="en-US" sz="1400" dirty="0"/>
          </a:p>
        </p:txBody>
      </p:sp>
      <p:sp>
        <p:nvSpPr>
          <p:cNvPr id="24" name="icon-bg"/>
          <p:cNvSpPr/>
          <p:nvPr/>
        </p:nvSpPr>
        <p:spPr>
          <a:xfrm>
            <a:off x="8001000" y="3438144"/>
            <a:ext cx="438912" cy="438912"/>
          </a:xfrm>
          <a:prstGeom prst="ellipse">
            <a:avLst/>
          </a:prstGeom>
          <a:solidFill>
            <a:schemeClr val="bg2"/>
          </a:solidFill>
          <a:ln/>
        </p:spPr>
      </p:sp>
      <p:pic>
        <p:nvPicPr>
          <p:cNvPr id="25" name="Image 2" descr="Vibrate icon">    </p:cNvPr>
          <p:cNvPicPr>
            <a:picLocks noChangeAspect="1"/>
          </p:cNvPicPr>
          <p:nvPr/>
        </p:nvPicPr>
        <p:blipFill>
          <a:blip r:embed="rId3"/>
          <a:stretch>
            <a:fillRect/>
          </a:stretch>
        </p:blipFill>
        <p:spPr>
          <a:xfrm>
            <a:off x="8097561" y="3534705"/>
            <a:ext cx="245791" cy="245791"/>
          </a:xfrm>
          <a:prstGeom prst="rect">
            <a:avLst/>
          </a:prstGeom>
        </p:spPr>
      </p:pic>
      <p:sp>
        <p:nvSpPr>
          <p:cNvPr id="26" name="Text 21"/>
          <p:cNvSpPr txBox="1"/>
          <p:nvPr/>
        </p:nvSpPr>
        <p:spPr>
          <a:xfrm>
            <a:off x="8595360" y="3438144"/>
            <a:ext cx="3047695" cy="438912"/>
          </a:xfrm>
          <a:prstGeom prst="rect">
            <a:avLst/>
          </a:prstGeom>
          <a:noFill/>
          <a:ln/>
        </p:spPr>
        <p:txBody>
          <a:bodyPr wrap="square" lIns="0" tIns="0" rIns="0" bIns="0" rtlCol="0" anchor="ctr"/>
          <a:lstStyle/>
          <a:p>
            <a:pPr indent="0" marL="0">
              <a:buNone/>
            </a:pPr>
            <a:r>
              <a:rPr lang="en-US" sz="1400" dirty="0">
                <a:solidFill>
                  <a:schemeClr val="tx1"/>
                </a:solidFill>
              </a:rPr>
              <a:t>Camera shake on a flyover → whole frame 'moves'</a:t>
            </a:r>
            <a:endParaRPr lang="en-US" sz="1400" dirty="0"/>
          </a:p>
        </p:txBody>
      </p:sp>
      <p:sp>
        <p:nvSpPr>
          <p:cNvPr id="27" name="icon-bg"/>
          <p:cNvSpPr/>
          <p:nvPr/>
        </p:nvSpPr>
        <p:spPr>
          <a:xfrm>
            <a:off x="8001000" y="4059936"/>
            <a:ext cx="438912" cy="438912"/>
          </a:xfrm>
          <a:prstGeom prst="ellipse">
            <a:avLst/>
          </a:prstGeom>
          <a:solidFill>
            <a:schemeClr val="bg2"/>
          </a:solidFill>
          <a:ln/>
        </p:spPr>
      </p:sp>
      <p:pic>
        <p:nvPicPr>
          <p:cNvPr id="28" name="Image 3" descr="Combine icon">    </p:cNvPr>
          <p:cNvPicPr>
            <a:picLocks noChangeAspect="1"/>
          </p:cNvPicPr>
          <p:nvPr/>
        </p:nvPicPr>
        <p:blipFill>
          <a:blip r:embed="rId4"/>
          <a:stretch>
            <a:fillRect/>
          </a:stretch>
        </p:blipFill>
        <p:spPr>
          <a:xfrm>
            <a:off x="8097561" y="4156497"/>
            <a:ext cx="245791" cy="245791"/>
          </a:xfrm>
          <a:prstGeom prst="rect">
            <a:avLst/>
          </a:prstGeom>
        </p:spPr>
      </p:pic>
      <p:sp>
        <p:nvSpPr>
          <p:cNvPr id="29" name="Text 23"/>
          <p:cNvSpPr txBox="1"/>
          <p:nvPr/>
        </p:nvSpPr>
        <p:spPr>
          <a:xfrm>
            <a:off x="8595360" y="4059936"/>
            <a:ext cx="3047695" cy="438912"/>
          </a:xfrm>
          <a:prstGeom prst="rect">
            <a:avLst/>
          </a:prstGeom>
          <a:noFill/>
          <a:ln/>
        </p:spPr>
        <p:txBody>
          <a:bodyPr wrap="square" lIns="0" tIns="0" rIns="0" bIns="0" rtlCol="0" anchor="ctr"/>
          <a:lstStyle/>
          <a:p>
            <a:pPr indent="0" marL="0">
              <a:buNone/>
            </a:pPr>
            <a:r>
              <a:rPr lang="en-US" sz="1400" dirty="0">
                <a:solidFill>
                  <a:schemeClr val="tx1"/>
                </a:solidFill>
              </a:rPr>
              <a:t>Two close cars merge into one blob</a:t>
            </a:r>
            <a:endParaRPr lang="en-US" sz="1400" dirty="0"/>
          </a:p>
        </p:txBody>
      </p:sp>
      <p:sp>
        <p:nvSpPr>
          <p:cNvPr id="30" name="icon-bg"/>
          <p:cNvSpPr/>
          <p:nvPr/>
        </p:nvSpPr>
        <p:spPr>
          <a:xfrm>
            <a:off x="8001000" y="4681728"/>
            <a:ext cx="438912" cy="438912"/>
          </a:xfrm>
          <a:prstGeom prst="ellipse">
            <a:avLst/>
          </a:prstGeom>
          <a:solidFill>
            <a:schemeClr val="bg2"/>
          </a:solidFill>
          <a:ln/>
        </p:spPr>
      </p:sp>
      <p:pic>
        <p:nvPicPr>
          <p:cNvPr id="31" name="Image 4" descr="Tag icon">    </p:cNvPr>
          <p:cNvPicPr>
            <a:picLocks noChangeAspect="1"/>
          </p:cNvPicPr>
          <p:nvPr/>
        </p:nvPicPr>
        <p:blipFill>
          <a:blip r:embed="rId5"/>
          <a:stretch>
            <a:fillRect/>
          </a:stretch>
        </p:blipFill>
        <p:spPr>
          <a:xfrm>
            <a:off x="8097561" y="4778289"/>
            <a:ext cx="245791" cy="245791"/>
          </a:xfrm>
          <a:prstGeom prst="rect">
            <a:avLst/>
          </a:prstGeom>
        </p:spPr>
      </p:pic>
      <p:sp>
        <p:nvSpPr>
          <p:cNvPr id="32" name="Text 25"/>
          <p:cNvSpPr txBox="1"/>
          <p:nvPr/>
        </p:nvSpPr>
        <p:spPr>
          <a:xfrm>
            <a:off x="8595360" y="4681728"/>
            <a:ext cx="3047695" cy="438912"/>
          </a:xfrm>
          <a:prstGeom prst="rect">
            <a:avLst/>
          </a:prstGeom>
          <a:noFill/>
          <a:ln/>
        </p:spPr>
        <p:txBody>
          <a:bodyPr wrap="square" lIns="0" tIns="0" rIns="0" bIns="0" rtlCol="0" anchor="ctr"/>
          <a:lstStyle/>
          <a:p>
            <a:pPr indent="0" marL="0">
              <a:buNone/>
            </a:pPr>
            <a:r>
              <a:rPr lang="en-US" sz="1400" dirty="0">
                <a:solidFill>
                  <a:schemeClr val="tx1"/>
                </a:solidFill>
              </a:rPr>
              <a:t>No labels: car, bus or bike?</a:t>
            </a:r>
            <a:endParaRPr lang="en-US" sz="1400" dirty="0"/>
          </a:p>
        </p:txBody>
      </p:sp>
      <p:sp>
        <p:nvSpPr>
          <p:cNvPr id="33" name="verdict"/>
          <p:cNvSpPr/>
          <p:nvPr/>
        </p:nvSpPr>
        <p:spPr>
          <a:xfrm>
            <a:off x="8001000" y="5440680"/>
            <a:ext cx="3642055" cy="502920"/>
          </a:xfrm>
          <a:prstGeom prst="roundRect">
            <a:avLst>
              <a:gd name="adj" fmla="val 14545"/>
            </a:avLst>
          </a:prstGeom>
          <a:solidFill>
            <a:srgbClr val="FEF0C7"/>
          </a:solidFill>
          <a:ln/>
        </p:spPr>
      </p:sp>
      <p:sp>
        <p:nvSpPr>
          <p:cNvPr id="34" name="Text 27"/>
          <p:cNvSpPr txBox="1"/>
          <p:nvPr/>
        </p:nvSpPr>
        <p:spPr>
          <a:xfrm>
            <a:off x="8183880" y="5440680"/>
            <a:ext cx="3276295" cy="502920"/>
          </a:xfrm>
          <a:prstGeom prst="rect">
            <a:avLst/>
          </a:prstGeom>
          <a:noFill/>
          <a:ln/>
        </p:spPr>
        <p:txBody>
          <a:bodyPr wrap="square" lIns="0" tIns="0" rIns="0" bIns="0" rtlCol="0" anchor="ctr"/>
          <a:lstStyle/>
          <a:p>
            <a:pPr indent="0" marL="0">
              <a:buNone/>
            </a:pPr>
            <a:r>
              <a:rPr lang="en-US" sz="1400" b="1" dirty="0">
                <a:solidFill>
                  <a:schemeClr val="accent6"/>
                </a:solidFill>
              </a:rPr>
              <a:t>Fast, no training, too fragile for fines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DEEP LEARNING</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CNNs learn their own feature detectors from data</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accent1"/>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bg2"/>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pic>
        <p:nvPicPr>
          <p:cNvPr id="14" name="image" descr="Animated 3x3 kernel sliding over pixels to build a feature map">    </p:cNvPr>
          <p:cNvPicPr>
            <a:picLocks noChangeAspect="1"/>
          </p:cNvPicPr>
          <p:nvPr/>
        </p:nvPicPr>
        <p:blipFill>
          <a:blip r:embed="rId1"/>
          <a:stretch>
            <a:fillRect/>
          </a:stretch>
        </p:blipFill>
        <p:spPr>
          <a:xfrm>
            <a:off x="548640" y="1783080"/>
            <a:ext cx="6949440" cy="3095660"/>
          </a:xfrm>
          <a:prstGeom prst="rect">
            <a:avLst/>
          </a:prstGeom>
        </p:spPr>
      </p:pic>
      <p:sp>
        <p:nvSpPr>
          <p:cNvPr id="15" name="Text 12"/>
          <p:cNvSpPr txBox="1"/>
          <p:nvPr/>
        </p:nvSpPr>
        <p:spPr>
          <a:xfrm>
            <a:off x="548640" y="5074920"/>
            <a:ext cx="6949440" cy="685800"/>
          </a:xfrm>
          <a:prstGeom prst="rect">
            <a:avLst/>
          </a:prstGeom>
          <a:noFill/>
          <a:ln/>
        </p:spPr>
        <p:txBody>
          <a:bodyPr wrap="square" lIns="0" tIns="0" rIns="0" bIns="0" rtlCol="0" anchor="t"/>
          <a:lstStyle/>
          <a:p>
            <a:pPr indent="0" marL="0">
              <a:buNone/>
            </a:pPr>
            <a:r>
              <a:rPr lang="en-US" sz="1400" b="1" dirty="0">
                <a:solidFill>
                  <a:schemeClr val="tx2"/>
                </a:solidFill>
              </a:rPr>
              <a:t>Convolution: </a:t>
            </a:r>
            <a:pPr indent="0" marL="0">
              <a:buNone/>
            </a:pPr>
            <a:r>
              <a:rPr lang="en-US" sz="1400" dirty="0">
                <a:solidFill>
                  <a:schemeClr val="tx1"/>
                </a:solidFill>
              </a:rPr>
              <a:t>slide a small kernel over the image, multiply and sum at each position. High output = the pattern is present here.</a:t>
            </a:r>
            <a:endParaRPr lang="en-US" sz="1400" dirty="0"/>
          </a:p>
        </p:txBody>
      </p:sp>
      <p:sp>
        <p:nvSpPr>
          <p:cNvPr id="16" name="card"/>
          <p:cNvSpPr/>
          <p:nvPr/>
        </p:nvSpPr>
        <p:spPr>
          <a:xfrm>
            <a:off x="8001000" y="1783080"/>
            <a:ext cx="3642055" cy="914400"/>
          </a:xfrm>
          <a:prstGeom prst="roundRect">
            <a:avLst>
              <a:gd name="adj" fmla="val 8000"/>
            </a:avLst>
          </a:prstGeom>
          <a:solidFill>
            <a:schemeClr val="bg2"/>
          </a:solidFill>
          <a:ln/>
        </p:spPr>
      </p:sp>
      <p:sp>
        <p:nvSpPr>
          <p:cNvPr id="17" name="Text 14"/>
          <p:cNvSpPr txBox="1"/>
          <p:nvPr/>
        </p:nvSpPr>
        <p:spPr>
          <a:xfrm>
            <a:off x="8229600" y="1920240"/>
            <a:ext cx="3184855" cy="320040"/>
          </a:xfrm>
          <a:prstGeom prst="rect">
            <a:avLst/>
          </a:prstGeom>
          <a:noFill/>
          <a:ln/>
        </p:spPr>
        <p:txBody>
          <a:bodyPr wrap="square" lIns="0" tIns="0" rIns="0" bIns="0" rtlCol="0" anchor="t"/>
          <a:lstStyle/>
          <a:p>
            <a:pPr indent="0" marL="0">
              <a:buNone/>
            </a:pPr>
            <a:r>
              <a:rPr lang="en-US" sz="1500" b="1" dirty="0">
                <a:solidFill>
                  <a:schemeClr val="tx2"/>
                </a:solidFill>
              </a:rPr>
              <a:t>Early layers</a:t>
            </a:r>
            <a:endParaRPr lang="en-US" sz="1500" dirty="0"/>
          </a:p>
        </p:txBody>
      </p:sp>
      <p:sp>
        <p:nvSpPr>
          <p:cNvPr id="18" name="Text 15"/>
          <p:cNvSpPr txBox="1"/>
          <p:nvPr/>
        </p:nvSpPr>
        <p:spPr>
          <a:xfrm>
            <a:off x="8229600" y="2240280"/>
            <a:ext cx="3184855" cy="365760"/>
          </a:xfrm>
          <a:prstGeom prst="rect">
            <a:avLst/>
          </a:prstGeom>
          <a:noFill/>
          <a:ln/>
        </p:spPr>
        <p:txBody>
          <a:bodyPr wrap="square" lIns="0" tIns="0" rIns="0" bIns="0" rtlCol="0" anchor="t"/>
          <a:lstStyle/>
          <a:p>
            <a:pPr indent="0" marL="0">
              <a:buNone/>
            </a:pPr>
            <a:r>
              <a:rPr lang="en-US" sz="1400" dirty="0">
                <a:solidFill>
                  <a:schemeClr val="accent4"/>
                </a:solidFill>
              </a:rPr>
              <a:t>edges, corners, colour blobs</a:t>
            </a:r>
            <a:endParaRPr lang="en-US" sz="1400" dirty="0"/>
          </a:p>
        </p:txBody>
      </p:sp>
      <p:pic>
        <p:nvPicPr>
          <p:cNvPr id="19" name="Image 1" descr="arrow">    </p:cNvPr>
          <p:cNvPicPr>
            <a:picLocks noChangeAspect="1"/>
          </p:cNvPicPr>
          <p:nvPr/>
        </p:nvPicPr>
        <p:blipFill>
          <a:blip r:embed="rId2"/>
          <a:stretch>
            <a:fillRect/>
          </a:stretch>
        </p:blipFill>
        <p:spPr>
          <a:xfrm>
            <a:off x="9712300" y="2697480"/>
            <a:ext cx="228600" cy="228600"/>
          </a:xfrm>
          <a:prstGeom prst="rect">
            <a:avLst/>
          </a:prstGeom>
        </p:spPr>
      </p:pic>
      <p:sp>
        <p:nvSpPr>
          <p:cNvPr id="20" name="card"/>
          <p:cNvSpPr/>
          <p:nvPr/>
        </p:nvSpPr>
        <p:spPr>
          <a:xfrm>
            <a:off x="8001000" y="2926080"/>
            <a:ext cx="3642055" cy="914400"/>
          </a:xfrm>
          <a:prstGeom prst="roundRect">
            <a:avLst>
              <a:gd name="adj" fmla="val 8000"/>
            </a:avLst>
          </a:prstGeom>
          <a:solidFill>
            <a:schemeClr val="bg2"/>
          </a:solidFill>
          <a:ln/>
        </p:spPr>
      </p:sp>
      <p:sp>
        <p:nvSpPr>
          <p:cNvPr id="21" name="Text 17"/>
          <p:cNvSpPr txBox="1"/>
          <p:nvPr/>
        </p:nvSpPr>
        <p:spPr>
          <a:xfrm>
            <a:off x="8229600" y="3063240"/>
            <a:ext cx="3184855" cy="320040"/>
          </a:xfrm>
          <a:prstGeom prst="rect">
            <a:avLst/>
          </a:prstGeom>
          <a:noFill/>
          <a:ln/>
        </p:spPr>
        <p:txBody>
          <a:bodyPr wrap="square" lIns="0" tIns="0" rIns="0" bIns="0" rtlCol="0" anchor="t"/>
          <a:lstStyle/>
          <a:p>
            <a:pPr indent="0" marL="0">
              <a:buNone/>
            </a:pPr>
            <a:r>
              <a:rPr lang="en-US" sz="1500" b="1" dirty="0">
                <a:solidFill>
                  <a:schemeClr val="tx2"/>
                </a:solidFill>
              </a:rPr>
              <a:t>Middle layers</a:t>
            </a:r>
            <a:endParaRPr lang="en-US" sz="1500" dirty="0"/>
          </a:p>
        </p:txBody>
      </p:sp>
      <p:sp>
        <p:nvSpPr>
          <p:cNvPr id="22" name="Text 18"/>
          <p:cNvSpPr txBox="1"/>
          <p:nvPr/>
        </p:nvSpPr>
        <p:spPr>
          <a:xfrm>
            <a:off x="8229600" y="3383280"/>
            <a:ext cx="3184855" cy="365760"/>
          </a:xfrm>
          <a:prstGeom prst="rect">
            <a:avLst/>
          </a:prstGeom>
          <a:noFill/>
          <a:ln/>
        </p:spPr>
        <p:txBody>
          <a:bodyPr wrap="square" lIns="0" tIns="0" rIns="0" bIns="0" rtlCol="0" anchor="t"/>
          <a:lstStyle/>
          <a:p>
            <a:pPr indent="0" marL="0">
              <a:buNone/>
            </a:pPr>
            <a:r>
              <a:rPr lang="en-US" sz="1400" dirty="0">
                <a:solidFill>
                  <a:schemeClr val="accent4"/>
                </a:solidFill>
              </a:rPr>
              <a:t>parts: wheels, windows, plates</a:t>
            </a:r>
            <a:endParaRPr lang="en-US" sz="1400" dirty="0"/>
          </a:p>
        </p:txBody>
      </p:sp>
      <p:pic>
        <p:nvPicPr>
          <p:cNvPr id="23" name="Image 2" descr="arrow">    </p:cNvPr>
          <p:cNvPicPr>
            <a:picLocks noChangeAspect="1"/>
          </p:cNvPicPr>
          <p:nvPr/>
        </p:nvPicPr>
        <p:blipFill>
          <a:blip r:embed="rId3"/>
          <a:stretch>
            <a:fillRect/>
          </a:stretch>
        </p:blipFill>
        <p:spPr>
          <a:xfrm>
            <a:off x="9712300" y="3840480"/>
            <a:ext cx="228600" cy="228600"/>
          </a:xfrm>
          <a:prstGeom prst="rect">
            <a:avLst/>
          </a:prstGeom>
        </p:spPr>
      </p:pic>
      <p:sp>
        <p:nvSpPr>
          <p:cNvPr id="24" name="card"/>
          <p:cNvSpPr/>
          <p:nvPr/>
        </p:nvSpPr>
        <p:spPr>
          <a:xfrm>
            <a:off x="8001000" y="4069080"/>
            <a:ext cx="3642055" cy="914400"/>
          </a:xfrm>
          <a:prstGeom prst="roundRect">
            <a:avLst>
              <a:gd name="adj" fmla="val 8000"/>
            </a:avLst>
          </a:prstGeom>
          <a:solidFill>
            <a:srgbClr val="FEF0C7"/>
          </a:solidFill>
          <a:ln/>
        </p:spPr>
      </p:sp>
      <p:sp>
        <p:nvSpPr>
          <p:cNvPr id="25" name="Text 20"/>
          <p:cNvSpPr txBox="1"/>
          <p:nvPr/>
        </p:nvSpPr>
        <p:spPr>
          <a:xfrm>
            <a:off x="8229600" y="4206240"/>
            <a:ext cx="3184855" cy="320040"/>
          </a:xfrm>
          <a:prstGeom prst="rect">
            <a:avLst/>
          </a:prstGeom>
          <a:noFill/>
          <a:ln/>
        </p:spPr>
        <p:txBody>
          <a:bodyPr wrap="square" lIns="0" tIns="0" rIns="0" bIns="0" rtlCol="0" anchor="t"/>
          <a:lstStyle/>
          <a:p>
            <a:pPr indent="0" marL="0">
              <a:buNone/>
            </a:pPr>
            <a:r>
              <a:rPr lang="en-US" sz="1500" b="1" dirty="0">
                <a:solidFill>
                  <a:schemeClr val="tx2"/>
                </a:solidFill>
              </a:rPr>
              <a:t>Deep layers</a:t>
            </a:r>
            <a:endParaRPr lang="en-US" sz="1500" dirty="0"/>
          </a:p>
        </p:txBody>
      </p:sp>
      <p:sp>
        <p:nvSpPr>
          <p:cNvPr id="26" name="Text 21"/>
          <p:cNvSpPr txBox="1"/>
          <p:nvPr/>
        </p:nvSpPr>
        <p:spPr>
          <a:xfrm>
            <a:off x="8229600" y="4526280"/>
            <a:ext cx="3184855" cy="365760"/>
          </a:xfrm>
          <a:prstGeom prst="rect">
            <a:avLst/>
          </a:prstGeom>
          <a:noFill/>
          <a:ln/>
        </p:spPr>
        <p:txBody>
          <a:bodyPr wrap="square" lIns="0" tIns="0" rIns="0" bIns="0" rtlCol="0" anchor="t"/>
          <a:lstStyle/>
          <a:p>
            <a:pPr indent="0" marL="0">
              <a:buNone/>
            </a:pPr>
            <a:r>
              <a:rPr lang="en-US" sz="1400" dirty="0">
                <a:solidFill>
                  <a:schemeClr val="accent4"/>
                </a:solidFill>
              </a:rPr>
              <a:t>whole objects: car, bus, truck</a:t>
            </a:r>
            <a:endParaRPr lang="en-US" sz="1400" dirty="0"/>
          </a:p>
        </p:txBody>
      </p:sp>
      <p:sp>
        <p:nvSpPr>
          <p:cNvPr id="27" name="Text 22"/>
          <p:cNvSpPr txBox="1"/>
          <p:nvPr/>
        </p:nvSpPr>
        <p:spPr>
          <a:xfrm>
            <a:off x="8001000" y="5257800"/>
            <a:ext cx="3642055" cy="685800"/>
          </a:xfrm>
          <a:prstGeom prst="rect">
            <a:avLst/>
          </a:prstGeom>
          <a:noFill/>
          <a:ln/>
        </p:spPr>
        <p:txBody>
          <a:bodyPr wrap="square" lIns="0" tIns="0" rIns="0" bIns="0" rtlCol="0" anchor="t"/>
          <a:lstStyle/>
          <a:p>
            <a:pPr indent="0" marL="0">
              <a:buNone/>
            </a:pPr>
            <a:r>
              <a:rPr lang="en-US" sz="1300" dirty="0">
                <a:solidFill>
                  <a:schemeClr val="accent4"/>
                </a:solidFill>
              </a:rPr>
              <a:t>Kernels are learned by training, not hand-written. YOLOv8 is pre-trained on COCO: 118k images, 80 classes.</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OBJECT DETECTION</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YOLO finds every vehicle in a single pass</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accent1"/>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bg2"/>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img-placeholder"/>
          <p:cNvSpPr/>
          <p:nvPr/>
        </p:nvSpPr>
        <p:spPr>
          <a:xfrm>
            <a:off x="548640" y="1691640"/>
            <a:ext cx="6949440" cy="3931920"/>
          </a:xfrm>
          <a:prstGeom prst="rect">
            <a:avLst/>
          </a:prstGeom>
          <a:solidFill>
            <a:schemeClr val="bg2"/>
          </a:solidFill>
          <a:ln w="12700">
            <a:solidFill>
              <a:schemeClr val="accent5"/>
            </a:solidFill>
            <a:prstDash val="dash"/>
          </a:ln>
        </p:spPr>
      </p:sp>
      <p:sp>
        <p:nvSpPr>
          <p:cNvPr id="15" name="Text 13"/>
          <p:cNvSpPr txBox="1"/>
          <p:nvPr/>
        </p:nvSpPr>
        <p:spPr>
          <a:xfrm>
            <a:off x="548640" y="1691640"/>
            <a:ext cx="6949440" cy="3931920"/>
          </a:xfrm>
          <a:prstGeom prst="rect">
            <a:avLst/>
          </a:prstGeom>
          <a:noFill/>
          <a:ln/>
        </p:spPr>
        <p:txBody>
          <a:bodyPr wrap="square" rtlCol="0" anchor="ctr"/>
          <a:lstStyle/>
          <a:p>
            <a:pPr algn="ctr" indent="0" marL="0">
              <a:buNone/>
            </a:pPr>
            <a:r>
              <a:rPr lang="en-US" sz="1200" dirty="0">
                <a:solidFill>
                  <a:schemeClr val="accent4"/>
                </a:solidFill>
              </a:rPr>
              <a:t>[ image: frame_detections.png ]</a:t>
            </a:r>
            <a:endParaRPr lang="en-US" sz="1200" dirty="0"/>
          </a:p>
        </p:txBody>
      </p:sp>
      <p:sp>
        <p:nvSpPr>
          <p:cNvPr id="16" name="step"/>
          <p:cNvSpPr/>
          <p:nvPr/>
        </p:nvSpPr>
        <p:spPr>
          <a:xfrm>
            <a:off x="8001000" y="1783080"/>
            <a:ext cx="457200" cy="457200"/>
          </a:xfrm>
          <a:prstGeom prst="ellipse">
            <a:avLst/>
          </a:prstGeom>
          <a:solidFill>
            <a:schemeClr val="tx2"/>
          </a:solidFill>
          <a:ln/>
        </p:spPr>
      </p:sp>
      <p:sp>
        <p:nvSpPr>
          <p:cNvPr id="17" name="Text 15"/>
          <p:cNvSpPr txBox="1"/>
          <p:nvPr/>
        </p:nvSpPr>
        <p:spPr>
          <a:xfrm>
            <a:off x="8001000" y="17830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8" name="Text 16"/>
          <p:cNvSpPr txBox="1"/>
          <p:nvPr/>
        </p:nvSpPr>
        <p:spPr>
          <a:xfrm>
            <a:off x="8641080" y="1764792"/>
            <a:ext cx="3001975" cy="320040"/>
          </a:xfrm>
          <a:prstGeom prst="rect">
            <a:avLst/>
          </a:prstGeom>
          <a:noFill/>
          <a:ln/>
        </p:spPr>
        <p:txBody>
          <a:bodyPr wrap="square" lIns="0" tIns="0" rIns="0" bIns="0" rtlCol="0" anchor="t"/>
          <a:lstStyle/>
          <a:p>
            <a:pPr indent="0" marL="0">
              <a:buNone/>
            </a:pPr>
            <a:r>
              <a:rPr lang="en-US" sz="1600" b="1" dirty="0">
                <a:solidFill>
                  <a:schemeClr val="tx2"/>
                </a:solidFill>
              </a:rPr>
              <a:t>Grid</a:t>
            </a:r>
            <a:endParaRPr lang="en-US" sz="1600" dirty="0"/>
          </a:p>
        </p:txBody>
      </p:sp>
      <p:sp>
        <p:nvSpPr>
          <p:cNvPr id="19" name="Text 17"/>
          <p:cNvSpPr txBox="1"/>
          <p:nvPr/>
        </p:nvSpPr>
        <p:spPr>
          <a:xfrm>
            <a:off x="8641080" y="2084832"/>
            <a:ext cx="3001975" cy="594360"/>
          </a:xfrm>
          <a:prstGeom prst="rect">
            <a:avLst/>
          </a:prstGeom>
          <a:noFill/>
          <a:ln/>
        </p:spPr>
        <p:txBody>
          <a:bodyPr wrap="square" lIns="0" tIns="0" rIns="0" bIns="0" rtlCol="0" anchor="t"/>
          <a:lstStyle/>
          <a:p>
            <a:pPr indent="0" marL="0">
              <a:buNone/>
            </a:pPr>
            <a:r>
              <a:rPr lang="en-US" sz="1400" dirty="0">
                <a:solidFill>
                  <a:schemeClr val="accent4"/>
                </a:solidFill>
              </a:rPr>
              <a:t>Image split into cells at 3 scales; each cell predicts boxes</a:t>
            </a:r>
            <a:endParaRPr lang="en-US" sz="1400" dirty="0"/>
          </a:p>
        </p:txBody>
      </p:sp>
      <p:sp>
        <p:nvSpPr>
          <p:cNvPr id="20" name="step"/>
          <p:cNvSpPr/>
          <p:nvPr/>
        </p:nvSpPr>
        <p:spPr>
          <a:xfrm>
            <a:off x="8001000" y="2807208"/>
            <a:ext cx="457200" cy="457200"/>
          </a:xfrm>
          <a:prstGeom prst="ellipse">
            <a:avLst/>
          </a:prstGeom>
          <a:solidFill>
            <a:schemeClr val="tx2"/>
          </a:solidFill>
          <a:ln/>
        </p:spPr>
      </p:sp>
      <p:sp>
        <p:nvSpPr>
          <p:cNvPr id="21" name="Text 19"/>
          <p:cNvSpPr txBox="1"/>
          <p:nvPr/>
        </p:nvSpPr>
        <p:spPr>
          <a:xfrm>
            <a:off x="8001000" y="280720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2" name="Text 20"/>
          <p:cNvSpPr txBox="1"/>
          <p:nvPr/>
        </p:nvSpPr>
        <p:spPr>
          <a:xfrm>
            <a:off x="8641080" y="2788920"/>
            <a:ext cx="3001975" cy="320040"/>
          </a:xfrm>
          <a:prstGeom prst="rect">
            <a:avLst/>
          </a:prstGeom>
          <a:noFill/>
          <a:ln/>
        </p:spPr>
        <p:txBody>
          <a:bodyPr wrap="square" lIns="0" tIns="0" rIns="0" bIns="0" rtlCol="0" anchor="t"/>
          <a:lstStyle/>
          <a:p>
            <a:pPr indent="0" marL="0">
              <a:buNone/>
            </a:pPr>
            <a:r>
              <a:rPr lang="en-US" sz="1600" b="1" dirty="0">
                <a:solidFill>
                  <a:schemeClr val="tx2"/>
                </a:solidFill>
              </a:rPr>
              <a:t>Predict</a:t>
            </a:r>
            <a:endParaRPr lang="en-US" sz="1600" dirty="0"/>
          </a:p>
        </p:txBody>
      </p:sp>
      <p:sp>
        <p:nvSpPr>
          <p:cNvPr id="23" name="Text 21"/>
          <p:cNvSpPr txBox="1"/>
          <p:nvPr/>
        </p:nvSpPr>
        <p:spPr>
          <a:xfrm>
            <a:off x="8641080" y="3108960"/>
            <a:ext cx="3001975" cy="594360"/>
          </a:xfrm>
          <a:prstGeom prst="rect">
            <a:avLst/>
          </a:prstGeom>
          <a:noFill/>
          <a:ln/>
        </p:spPr>
        <p:txBody>
          <a:bodyPr wrap="square" lIns="0" tIns="0" rIns="0" bIns="0" rtlCol="0" anchor="t"/>
          <a:lstStyle/>
          <a:p>
            <a:pPr indent="0" marL="0">
              <a:buNone/>
            </a:pPr>
            <a:r>
              <a:rPr lang="en-US" sz="1400" dirty="0">
                <a:solidFill>
                  <a:schemeClr val="accent4"/>
                </a:solidFill>
              </a:rPr>
              <a:t>Per box: x, y, w, h + class scores (car 0.91)</a:t>
            </a:r>
            <a:endParaRPr lang="en-US" sz="1400" dirty="0"/>
          </a:p>
        </p:txBody>
      </p:sp>
      <p:sp>
        <p:nvSpPr>
          <p:cNvPr id="24" name="step"/>
          <p:cNvSpPr/>
          <p:nvPr/>
        </p:nvSpPr>
        <p:spPr>
          <a:xfrm>
            <a:off x="8001000" y="3831336"/>
            <a:ext cx="457200" cy="457200"/>
          </a:xfrm>
          <a:prstGeom prst="ellipse">
            <a:avLst/>
          </a:prstGeom>
          <a:solidFill>
            <a:schemeClr val="tx2"/>
          </a:solidFill>
          <a:ln/>
        </p:spPr>
      </p:sp>
      <p:sp>
        <p:nvSpPr>
          <p:cNvPr id="25" name="Text 23"/>
          <p:cNvSpPr txBox="1"/>
          <p:nvPr/>
        </p:nvSpPr>
        <p:spPr>
          <a:xfrm>
            <a:off x="8001000" y="383133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6" name="Text 24"/>
          <p:cNvSpPr txBox="1"/>
          <p:nvPr/>
        </p:nvSpPr>
        <p:spPr>
          <a:xfrm>
            <a:off x="8641080" y="3813048"/>
            <a:ext cx="3001975" cy="320040"/>
          </a:xfrm>
          <a:prstGeom prst="rect">
            <a:avLst/>
          </a:prstGeom>
          <a:noFill/>
          <a:ln/>
        </p:spPr>
        <p:txBody>
          <a:bodyPr wrap="square" lIns="0" tIns="0" rIns="0" bIns="0" rtlCol="0" anchor="t"/>
          <a:lstStyle/>
          <a:p>
            <a:pPr indent="0" marL="0">
              <a:buNone/>
            </a:pPr>
            <a:r>
              <a:rPr lang="en-US" sz="1600" b="1" dirty="0">
                <a:solidFill>
                  <a:schemeClr val="tx2"/>
                </a:solidFill>
              </a:rPr>
              <a:t>NMS</a:t>
            </a:r>
            <a:endParaRPr lang="en-US" sz="1600" dirty="0"/>
          </a:p>
        </p:txBody>
      </p:sp>
      <p:sp>
        <p:nvSpPr>
          <p:cNvPr id="27" name="Text 25"/>
          <p:cNvSpPr txBox="1"/>
          <p:nvPr/>
        </p:nvSpPr>
        <p:spPr>
          <a:xfrm>
            <a:off x="8641080" y="4133088"/>
            <a:ext cx="3001975" cy="594360"/>
          </a:xfrm>
          <a:prstGeom prst="rect">
            <a:avLst/>
          </a:prstGeom>
          <a:noFill/>
          <a:ln/>
        </p:spPr>
        <p:txBody>
          <a:bodyPr wrap="square" lIns="0" tIns="0" rIns="0" bIns="0" rtlCol="0" anchor="t"/>
          <a:lstStyle/>
          <a:p>
            <a:pPr indent="0" marL="0">
              <a:buNone/>
            </a:pPr>
            <a:r>
              <a:rPr lang="en-US" sz="1400" dirty="0">
                <a:solidFill>
                  <a:schemeClr val="accent4"/>
                </a:solidFill>
              </a:rPr>
              <a:t>Keep the best box, drop overlapping duplicates (IoU &gt; threshold)</a:t>
            </a:r>
            <a:endParaRPr lang="en-US" sz="1400" dirty="0"/>
          </a:p>
        </p:txBody>
      </p:sp>
      <p:sp>
        <p:nvSpPr>
          <p:cNvPr id="28" name="card"/>
          <p:cNvSpPr/>
          <p:nvPr/>
        </p:nvSpPr>
        <p:spPr>
          <a:xfrm>
            <a:off x="8001000" y="4937760"/>
            <a:ext cx="1122578" cy="960120"/>
          </a:xfrm>
          <a:prstGeom prst="roundRect">
            <a:avLst>
              <a:gd name="adj" fmla="val 7619"/>
            </a:avLst>
          </a:prstGeom>
          <a:solidFill>
            <a:schemeClr val="bg2"/>
          </a:solidFill>
          <a:ln/>
        </p:spPr>
      </p:sp>
      <p:sp>
        <p:nvSpPr>
          <p:cNvPr id="29" name="Text 27"/>
          <p:cNvSpPr txBox="1"/>
          <p:nvPr/>
        </p:nvSpPr>
        <p:spPr>
          <a:xfrm>
            <a:off x="8001000" y="5010912"/>
            <a:ext cx="1122578" cy="457200"/>
          </a:xfrm>
          <a:prstGeom prst="rect">
            <a:avLst/>
          </a:prstGeom>
          <a:noFill/>
          <a:ln/>
        </p:spPr>
        <p:txBody>
          <a:bodyPr wrap="square" lIns="0" tIns="0" rIns="0" bIns="0" rtlCol="0" anchor="ctr"/>
          <a:lstStyle/>
          <a:p>
            <a:pPr algn="ctr" indent="0" marL="0">
              <a:buNone/>
            </a:pPr>
            <a:r>
              <a:rPr lang="en-US" sz="2200" b="1" dirty="0">
                <a:solidFill>
                  <a:schemeClr val="tx2"/>
                </a:solidFill>
              </a:rPr>
              <a:t>3.2 M</a:t>
            </a:r>
            <a:endParaRPr lang="en-US" sz="2200" dirty="0"/>
          </a:p>
        </p:txBody>
      </p:sp>
      <p:sp>
        <p:nvSpPr>
          <p:cNvPr id="30" name="Text 28"/>
          <p:cNvSpPr txBox="1"/>
          <p:nvPr/>
        </p:nvSpPr>
        <p:spPr>
          <a:xfrm>
            <a:off x="8001000" y="5468112"/>
            <a:ext cx="1122578" cy="320040"/>
          </a:xfrm>
          <a:prstGeom prst="rect">
            <a:avLst/>
          </a:prstGeom>
          <a:noFill/>
          <a:ln/>
        </p:spPr>
        <p:txBody>
          <a:bodyPr wrap="square" lIns="0" tIns="0" rIns="0" bIns="0" rtlCol="0" anchor="t"/>
          <a:lstStyle/>
          <a:p>
            <a:pPr algn="ctr" indent="0" marL="0">
              <a:buNone/>
            </a:pPr>
            <a:r>
              <a:rPr lang="en-US" sz="1200" dirty="0">
                <a:solidFill>
                  <a:schemeClr val="accent4"/>
                </a:solidFill>
              </a:rPr>
              <a:t>parameters</a:t>
            </a:r>
            <a:endParaRPr lang="en-US" sz="1200" dirty="0"/>
          </a:p>
        </p:txBody>
      </p:sp>
      <p:sp>
        <p:nvSpPr>
          <p:cNvPr id="31" name="card"/>
          <p:cNvSpPr/>
          <p:nvPr/>
        </p:nvSpPr>
        <p:spPr>
          <a:xfrm>
            <a:off x="9260738" y="4937760"/>
            <a:ext cx="1122578" cy="960120"/>
          </a:xfrm>
          <a:prstGeom prst="roundRect">
            <a:avLst>
              <a:gd name="adj" fmla="val 7619"/>
            </a:avLst>
          </a:prstGeom>
          <a:solidFill>
            <a:schemeClr val="bg2"/>
          </a:solidFill>
          <a:ln/>
        </p:spPr>
      </p:sp>
      <p:sp>
        <p:nvSpPr>
          <p:cNvPr id="32" name="Text 30"/>
          <p:cNvSpPr txBox="1"/>
          <p:nvPr/>
        </p:nvSpPr>
        <p:spPr>
          <a:xfrm>
            <a:off x="9260738" y="5010912"/>
            <a:ext cx="1122578" cy="457200"/>
          </a:xfrm>
          <a:prstGeom prst="rect">
            <a:avLst/>
          </a:prstGeom>
          <a:noFill/>
          <a:ln/>
        </p:spPr>
        <p:txBody>
          <a:bodyPr wrap="square" lIns="0" tIns="0" rIns="0" bIns="0" rtlCol="0" anchor="ctr"/>
          <a:lstStyle/>
          <a:p>
            <a:pPr algn="ctr" indent="0" marL="0">
              <a:buNone/>
            </a:pPr>
            <a:r>
              <a:rPr lang="en-US" sz="2200" b="1" dirty="0">
                <a:solidFill>
                  <a:schemeClr val="tx2"/>
                </a:solidFill>
              </a:rPr>
              <a:t>37.3</a:t>
            </a:r>
            <a:endParaRPr lang="en-US" sz="2200" dirty="0"/>
          </a:p>
        </p:txBody>
      </p:sp>
      <p:sp>
        <p:nvSpPr>
          <p:cNvPr id="33" name="Text 31"/>
          <p:cNvSpPr txBox="1"/>
          <p:nvPr/>
        </p:nvSpPr>
        <p:spPr>
          <a:xfrm>
            <a:off x="9260738" y="5468112"/>
            <a:ext cx="1122578" cy="320040"/>
          </a:xfrm>
          <a:prstGeom prst="rect">
            <a:avLst/>
          </a:prstGeom>
          <a:noFill/>
          <a:ln/>
        </p:spPr>
        <p:txBody>
          <a:bodyPr wrap="square" lIns="0" tIns="0" rIns="0" bIns="0" rtlCol="0" anchor="t"/>
          <a:lstStyle/>
          <a:p>
            <a:pPr algn="ctr" indent="0" marL="0">
              <a:buNone/>
            </a:pPr>
            <a:r>
              <a:rPr lang="en-US" sz="1200" dirty="0">
                <a:solidFill>
                  <a:schemeClr val="accent4"/>
                </a:solidFill>
              </a:rPr>
              <a:t>mAP COCO</a:t>
            </a:r>
            <a:endParaRPr lang="en-US" sz="1200" dirty="0"/>
          </a:p>
        </p:txBody>
      </p:sp>
      <p:sp>
        <p:nvSpPr>
          <p:cNvPr id="34" name="card"/>
          <p:cNvSpPr/>
          <p:nvPr/>
        </p:nvSpPr>
        <p:spPr>
          <a:xfrm>
            <a:off x="10520477" y="4937760"/>
            <a:ext cx="1122578" cy="960120"/>
          </a:xfrm>
          <a:prstGeom prst="roundRect">
            <a:avLst>
              <a:gd name="adj" fmla="val 7619"/>
            </a:avLst>
          </a:prstGeom>
          <a:solidFill>
            <a:schemeClr val="bg2"/>
          </a:solidFill>
          <a:ln/>
        </p:spPr>
      </p:sp>
      <p:sp>
        <p:nvSpPr>
          <p:cNvPr id="35" name="Text 33"/>
          <p:cNvSpPr txBox="1"/>
          <p:nvPr/>
        </p:nvSpPr>
        <p:spPr>
          <a:xfrm>
            <a:off x="10520477" y="5010912"/>
            <a:ext cx="1122578" cy="457200"/>
          </a:xfrm>
          <a:prstGeom prst="rect">
            <a:avLst/>
          </a:prstGeom>
          <a:noFill/>
          <a:ln/>
        </p:spPr>
        <p:txBody>
          <a:bodyPr wrap="square" lIns="0" tIns="0" rIns="0" bIns="0" rtlCol="0" anchor="ctr"/>
          <a:lstStyle/>
          <a:p>
            <a:pPr algn="ctr" indent="0" marL="0">
              <a:buNone/>
            </a:pPr>
            <a:r>
              <a:rPr lang="en-US" sz="2200" b="1" dirty="0">
                <a:solidFill>
                  <a:schemeClr val="tx2"/>
                </a:solidFill>
              </a:rPr>
              <a:t>8.7 G</a:t>
            </a:r>
            <a:endParaRPr lang="en-US" sz="2200" dirty="0"/>
          </a:p>
        </p:txBody>
      </p:sp>
      <p:sp>
        <p:nvSpPr>
          <p:cNvPr id="36" name="Text 34"/>
          <p:cNvSpPr txBox="1"/>
          <p:nvPr/>
        </p:nvSpPr>
        <p:spPr>
          <a:xfrm>
            <a:off x="10520477" y="5468112"/>
            <a:ext cx="1122578" cy="320040"/>
          </a:xfrm>
          <a:prstGeom prst="rect">
            <a:avLst/>
          </a:prstGeom>
          <a:noFill/>
          <a:ln/>
        </p:spPr>
        <p:txBody>
          <a:bodyPr wrap="square" lIns="0" tIns="0" rIns="0" bIns="0" rtlCol="0" anchor="t"/>
          <a:lstStyle/>
          <a:p>
            <a:pPr algn="ctr" indent="0" marL="0">
              <a:buNone/>
            </a:pPr>
            <a:r>
              <a:rPr lang="en-US" sz="1200" dirty="0">
                <a:solidFill>
                  <a:schemeClr val="accent4"/>
                </a:solidFill>
              </a:rPr>
              <a:t>FLOPs</a:t>
            </a:r>
            <a:endParaRPr lang="en-US" sz="1200" dirty="0"/>
          </a:p>
        </p:txBody>
      </p:sp>
      <p:sp>
        <p:nvSpPr>
          <p:cNvPr id="37" name="Text 35"/>
          <p:cNvSpPr txBox="1"/>
          <p:nvPr/>
        </p:nvSpPr>
        <p:spPr>
          <a:xfrm>
            <a:off x="548640" y="5760720"/>
            <a:ext cx="6949440" cy="274320"/>
          </a:xfrm>
          <a:prstGeom prst="rect">
            <a:avLst/>
          </a:prstGeom>
          <a:noFill/>
          <a:ln/>
        </p:spPr>
        <p:txBody>
          <a:bodyPr wrap="square" lIns="0" tIns="0" rIns="0" bIns="0" rtlCol="0" anchor="t"/>
          <a:lstStyle/>
          <a:p>
            <a:pPr indent="0" marL="0">
              <a:buNone/>
            </a:pPr>
            <a:r>
              <a:rPr lang="en-US" sz="1100" dirty="0">
                <a:solidFill>
                  <a:schemeClr val="accent5"/>
                </a:solidFill>
              </a:rPr>
              <a:t>YOLOv8n (nano), as used in our demo. Source: Ultralytics docs.</a:t>
            </a:r>
            <a:endParaRPr lang="en-US" sz="11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EVALUATION</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Detectors are scored on overlap, not 'accuracy'</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accent1"/>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bg2"/>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ground-truth"/>
          <p:cNvSpPr/>
          <p:nvPr/>
        </p:nvSpPr>
        <p:spPr>
          <a:xfrm>
            <a:off x="822960" y="2011680"/>
            <a:ext cx="2194560" cy="1554480"/>
          </a:xfrm>
          <a:prstGeom prst="rect">
            <a:avLst/>
          </a:prstGeom>
          <a:solidFill>
            <a:srgbClr val="D1E0F0"/>
          </a:solidFill>
          <a:ln w="31750">
            <a:solidFill>
              <a:schemeClr val="tx2"/>
            </a:solidFill>
            <a:prstDash val="solid"/>
          </a:ln>
        </p:spPr>
      </p:sp>
      <p:sp>
        <p:nvSpPr>
          <p:cNvPr id="15" name="prediction"/>
          <p:cNvSpPr/>
          <p:nvPr/>
        </p:nvSpPr>
        <p:spPr>
          <a:xfrm>
            <a:off x="1645920" y="2560320"/>
            <a:ext cx="2194560" cy="1554480"/>
          </a:xfrm>
          <a:prstGeom prst="rect">
            <a:avLst/>
          </a:prstGeom>
          <a:solidFill>
            <a:srgbClr val="FEF0C7">
              <a:alpha val="70000"/>
            </a:srgbClr>
          </a:solidFill>
          <a:ln w="31750">
            <a:solidFill>
              <a:schemeClr val="accent1"/>
            </a:solidFill>
            <a:prstDash val="solid"/>
          </a:ln>
        </p:spPr>
      </p:sp>
      <p:sp>
        <p:nvSpPr>
          <p:cNvPr id="16" name="overlap"/>
          <p:cNvSpPr/>
          <p:nvPr/>
        </p:nvSpPr>
        <p:spPr>
          <a:xfrm>
            <a:off x="1645920" y="2560320"/>
            <a:ext cx="1371600" cy="1005840"/>
          </a:xfrm>
          <a:prstGeom prst="rect">
            <a:avLst/>
          </a:prstGeom>
          <a:solidFill>
            <a:schemeClr val="accent1"/>
          </a:solidFill>
          <a:ln/>
        </p:spPr>
      </p:sp>
      <p:sp>
        <p:nvSpPr>
          <p:cNvPr id="17" name="Text 15"/>
          <p:cNvSpPr txBox="1"/>
          <p:nvPr/>
        </p:nvSpPr>
        <p:spPr>
          <a:xfrm>
            <a:off x="822960" y="1664208"/>
            <a:ext cx="2194560" cy="274320"/>
          </a:xfrm>
          <a:prstGeom prst="rect">
            <a:avLst/>
          </a:prstGeom>
          <a:noFill/>
          <a:ln/>
        </p:spPr>
        <p:txBody>
          <a:bodyPr wrap="square" lIns="0" tIns="0" rIns="0" bIns="0" rtlCol="0" anchor="t"/>
          <a:lstStyle/>
          <a:p>
            <a:pPr indent="0" marL="0">
              <a:buNone/>
            </a:pPr>
            <a:r>
              <a:rPr lang="en-US" sz="1200" b="1" dirty="0">
                <a:solidFill>
                  <a:schemeClr val="tx2"/>
                </a:solidFill>
              </a:rPr>
              <a:t>Ground truth</a:t>
            </a:r>
            <a:endParaRPr lang="en-US" sz="1200" dirty="0"/>
          </a:p>
        </p:txBody>
      </p:sp>
      <p:sp>
        <p:nvSpPr>
          <p:cNvPr id="18" name="Text 16"/>
          <p:cNvSpPr txBox="1"/>
          <p:nvPr/>
        </p:nvSpPr>
        <p:spPr>
          <a:xfrm>
            <a:off x="1645920" y="4187952"/>
            <a:ext cx="2194560" cy="274320"/>
          </a:xfrm>
          <a:prstGeom prst="rect">
            <a:avLst/>
          </a:prstGeom>
          <a:noFill/>
          <a:ln/>
        </p:spPr>
        <p:txBody>
          <a:bodyPr wrap="square" lIns="0" tIns="0" rIns="0" bIns="0" rtlCol="0" anchor="t"/>
          <a:lstStyle/>
          <a:p>
            <a:pPr algn="r" indent="0" marL="0">
              <a:buNone/>
            </a:pPr>
            <a:r>
              <a:rPr lang="en-US" sz="1200" b="1" dirty="0">
                <a:solidFill>
                  <a:schemeClr val="accent6"/>
                </a:solidFill>
              </a:rPr>
              <a:t>Prediction</a:t>
            </a:r>
            <a:endParaRPr lang="en-US" sz="1200" dirty="0"/>
          </a:p>
        </p:txBody>
      </p:sp>
      <p:sp>
        <p:nvSpPr>
          <p:cNvPr id="19" name="Text 17"/>
          <p:cNvSpPr txBox="1"/>
          <p:nvPr/>
        </p:nvSpPr>
        <p:spPr>
          <a:xfrm>
            <a:off x="4206240" y="2468880"/>
            <a:ext cx="2926080" cy="411480"/>
          </a:xfrm>
          <a:prstGeom prst="rect">
            <a:avLst/>
          </a:prstGeom>
          <a:noFill/>
          <a:ln/>
        </p:spPr>
        <p:txBody>
          <a:bodyPr wrap="square" lIns="0" tIns="0" rIns="0" bIns="0" rtlCol="0" anchor="t"/>
          <a:lstStyle/>
          <a:p>
            <a:pPr indent="0" marL="0">
              <a:buNone/>
            </a:pPr>
            <a:r>
              <a:rPr lang="en-US" sz="2200" b="1" dirty="0">
                <a:solidFill>
                  <a:schemeClr val="tx2"/>
                </a:solidFill>
              </a:rPr>
              <a:t>IoU = </a:t>
            </a:r>
            <a:pPr indent="0" marL="0">
              <a:buNone/>
            </a:pPr>
            <a:r>
              <a:rPr lang="en-US" sz="2200" dirty="0">
                <a:solidFill>
                  <a:schemeClr val="tx1"/>
                </a:solidFill>
              </a:rPr>
              <a:t>overlap ÷ union</a:t>
            </a:r>
            <a:endParaRPr lang="en-US" sz="2200" dirty="0"/>
          </a:p>
        </p:txBody>
      </p:sp>
      <p:sp>
        <p:nvSpPr>
          <p:cNvPr id="20" name="Text 18"/>
          <p:cNvSpPr txBox="1"/>
          <p:nvPr/>
        </p:nvSpPr>
        <p:spPr>
          <a:xfrm>
            <a:off x="4206240" y="2971800"/>
            <a:ext cx="2743200" cy="731520"/>
          </a:xfrm>
          <a:prstGeom prst="rect">
            <a:avLst/>
          </a:prstGeom>
          <a:noFill/>
          <a:ln/>
        </p:spPr>
        <p:txBody>
          <a:bodyPr wrap="square" lIns="0" tIns="0" rIns="0" bIns="0" rtlCol="0" anchor="t"/>
          <a:lstStyle/>
          <a:p>
            <a:pPr indent="0" marL="0">
              <a:buNone/>
            </a:pPr>
            <a:r>
              <a:rPr lang="en-US" sz="1400" dirty="0">
                <a:solidFill>
                  <a:schemeClr val="accent4"/>
                </a:solidFill>
              </a:rPr>
              <a:t>IoU ≥ 0.5 → counts as a correct detection (true positive)</a:t>
            </a:r>
            <a:endParaRPr lang="en-US" sz="1400" dirty="0"/>
          </a:p>
        </p:txBody>
      </p:sp>
      <p:sp>
        <p:nvSpPr>
          <p:cNvPr id="21" name="card"/>
          <p:cNvSpPr/>
          <p:nvPr/>
        </p:nvSpPr>
        <p:spPr>
          <a:xfrm>
            <a:off x="7315200" y="1737360"/>
            <a:ext cx="4327855" cy="1051560"/>
          </a:xfrm>
          <a:prstGeom prst="roundRect">
            <a:avLst>
              <a:gd name="adj" fmla="val 6957"/>
            </a:avLst>
          </a:prstGeom>
          <a:solidFill>
            <a:schemeClr val="bg2"/>
          </a:solidFill>
          <a:ln/>
        </p:spPr>
      </p:sp>
      <p:sp>
        <p:nvSpPr>
          <p:cNvPr id="22" name="Text 20"/>
          <p:cNvSpPr txBox="1"/>
          <p:nvPr/>
        </p:nvSpPr>
        <p:spPr>
          <a:xfrm>
            <a:off x="7543800" y="1847088"/>
            <a:ext cx="1463040" cy="365760"/>
          </a:xfrm>
          <a:prstGeom prst="rect">
            <a:avLst/>
          </a:prstGeom>
          <a:noFill/>
          <a:ln/>
        </p:spPr>
        <p:txBody>
          <a:bodyPr wrap="square" lIns="0" tIns="0" rIns="0" bIns="0" rtlCol="0" anchor="t"/>
          <a:lstStyle/>
          <a:p>
            <a:pPr indent="0" marL="0">
              <a:buNone/>
            </a:pPr>
            <a:r>
              <a:rPr lang="en-US" sz="1700" b="1" dirty="0">
                <a:solidFill>
                  <a:schemeClr val="tx2"/>
                </a:solidFill>
              </a:rPr>
              <a:t>Precision</a:t>
            </a:r>
            <a:endParaRPr lang="en-US" sz="1700" dirty="0"/>
          </a:p>
        </p:txBody>
      </p:sp>
      <p:sp>
        <p:nvSpPr>
          <p:cNvPr id="23" name="Text 21"/>
          <p:cNvSpPr txBox="1"/>
          <p:nvPr/>
        </p:nvSpPr>
        <p:spPr>
          <a:xfrm>
            <a:off x="8961120" y="1865376"/>
            <a:ext cx="2499055" cy="365760"/>
          </a:xfrm>
          <a:prstGeom prst="rect">
            <a:avLst/>
          </a:prstGeom>
          <a:noFill/>
          <a:ln/>
        </p:spPr>
        <p:txBody>
          <a:bodyPr wrap="square" lIns="0" tIns="0" rIns="0" bIns="0" rtlCol="0" anchor="t"/>
          <a:lstStyle/>
          <a:p>
            <a:pPr algn="r" indent="0" marL="0">
              <a:buNone/>
            </a:pPr>
            <a:r>
              <a:rPr lang="en-US" sz="1400" b="1" dirty="0">
                <a:solidFill>
                  <a:schemeClr val="accent6"/>
                </a:solidFill>
              </a:rPr>
              <a:t>TP ÷ (TP + FP)</a:t>
            </a:r>
            <a:endParaRPr lang="en-US" sz="1400" dirty="0"/>
          </a:p>
        </p:txBody>
      </p:sp>
      <p:sp>
        <p:nvSpPr>
          <p:cNvPr id="24" name="Text 22"/>
          <p:cNvSpPr txBox="1"/>
          <p:nvPr/>
        </p:nvSpPr>
        <p:spPr>
          <a:xfrm>
            <a:off x="7543800" y="2267712"/>
            <a:ext cx="3870655" cy="411480"/>
          </a:xfrm>
          <a:prstGeom prst="rect">
            <a:avLst/>
          </a:prstGeom>
          <a:noFill/>
          <a:ln/>
        </p:spPr>
        <p:txBody>
          <a:bodyPr wrap="square" lIns="0" tIns="0" rIns="0" bIns="0" rtlCol="0" anchor="t"/>
          <a:lstStyle/>
          <a:p>
            <a:pPr indent="0" marL="0">
              <a:buNone/>
            </a:pPr>
            <a:r>
              <a:rPr lang="en-US" sz="1400" dirty="0">
                <a:solidFill>
                  <a:schemeClr val="accent4"/>
                </a:solidFill>
              </a:rPr>
              <a:t>Of vehicles flagged, how many were real?</a:t>
            </a:r>
            <a:endParaRPr lang="en-US" sz="1400" dirty="0"/>
          </a:p>
        </p:txBody>
      </p:sp>
      <p:sp>
        <p:nvSpPr>
          <p:cNvPr id="25" name="card"/>
          <p:cNvSpPr/>
          <p:nvPr/>
        </p:nvSpPr>
        <p:spPr>
          <a:xfrm>
            <a:off x="7315200" y="2944368"/>
            <a:ext cx="4327855" cy="1051560"/>
          </a:xfrm>
          <a:prstGeom prst="roundRect">
            <a:avLst>
              <a:gd name="adj" fmla="val 6957"/>
            </a:avLst>
          </a:prstGeom>
          <a:solidFill>
            <a:schemeClr val="bg2"/>
          </a:solidFill>
          <a:ln/>
        </p:spPr>
      </p:sp>
      <p:sp>
        <p:nvSpPr>
          <p:cNvPr id="26" name="Text 24"/>
          <p:cNvSpPr txBox="1"/>
          <p:nvPr/>
        </p:nvSpPr>
        <p:spPr>
          <a:xfrm>
            <a:off x="7543800" y="3054096"/>
            <a:ext cx="1463040" cy="365760"/>
          </a:xfrm>
          <a:prstGeom prst="rect">
            <a:avLst/>
          </a:prstGeom>
          <a:noFill/>
          <a:ln/>
        </p:spPr>
        <p:txBody>
          <a:bodyPr wrap="square" lIns="0" tIns="0" rIns="0" bIns="0" rtlCol="0" anchor="t"/>
          <a:lstStyle/>
          <a:p>
            <a:pPr indent="0" marL="0">
              <a:buNone/>
            </a:pPr>
            <a:r>
              <a:rPr lang="en-US" sz="1700" b="1" dirty="0">
                <a:solidFill>
                  <a:schemeClr val="tx2"/>
                </a:solidFill>
              </a:rPr>
              <a:t>Recall</a:t>
            </a:r>
            <a:endParaRPr lang="en-US" sz="1700" dirty="0"/>
          </a:p>
        </p:txBody>
      </p:sp>
      <p:sp>
        <p:nvSpPr>
          <p:cNvPr id="27" name="Text 25"/>
          <p:cNvSpPr txBox="1"/>
          <p:nvPr/>
        </p:nvSpPr>
        <p:spPr>
          <a:xfrm>
            <a:off x="8961120" y="3072384"/>
            <a:ext cx="2499055" cy="365760"/>
          </a:xfrm>
          <a:prstGeom prst="rect">
            <a:avLst/>
          </a:prstGeom>
          <a:noFill/>
          <a:ln/>
        </p:spPr>
        <p:txBody>
          <a:bodyPr wrap="square" lIns="0" tIns="0" rIns="0" bIns="0" rtlCol="0" anchor="t"/>
          <a:lstStyle/>
          <a:p>
            <a:pPr algn="r" indent="0" marL="0">
              <a:buNone/>
            </a:pPr>
            <a:r>
              <a:rPr lang="en-US" sz="1400" b="1" dirty="0">
                <a:solidFill>
                  <a:schemeClr val="accent6"/>
                </a:solidFill>
              </a:rPr>
              <a:t>TP ÷ (TP + FN)</a:t>
            </a:r>
            <a:endParaRPr lang="en-US" sz="1400" dirty="0"/>
          </a:p>
        </p:txBody>
      </p:sp>
      <p:sp>
        <p:nvSpPr>
          <p:cNvPr id="28" name="Text 26"/>
          <p:cNvSpPr txBox="1"/>
          <p:nvPr/>
        </p:nvSpPr>
        <p:spPr>
          <a:xfrm>
            <a:off x="7543800" y="3474720"/>
            <a:ext cx="3870655" cy="411480"/>
          </a:xfrm>
          <a:prstGeom prst="rect">
            <a:avLst/>
          </a:prstGeom>
          <a:noFill/>
          <a:ln/>
        </p:spPr>
        <p:txBody>
          <a:bodyPr wrap="square" lIns="0" tIns="0" rIns="0" bIns="0" rtlCol="0" anchor="t"/>
          <a:lstStyle/>
          <a:p>
            <a:pPr indent="0" marL="0">
              <a:buNone/>
            </a:pPr>
            <a:r>
              <a:rPr lang="en-US" sz="1400" dirty="0">
                <a:solidFill>
                  <a:schemeClr val="accent4"/>
                </a:solidFill>
              </a:rPr>
              <a:t>Of the real vehicles, how many did we catch?</a:t>
            </a:r>
            <a:endParaRPr lang="en-US" sz="1400" dirty="0"/>
          </a:p>
        </p:txBody>
      </p:sp>
      <p:sp>
        <p:nvSpPr>
          <p:cNvPr id="29" name="card"/>
          <p:cNvSpPr/>
          <p:nvPr/>
        </p:nvSpPr>
        <p:spPr>
          <a:xfrm>
            <a:off x="7315200" y="4151376"/>
            <a:ext cx="4327855" cy="1051560"/>
          </a:xfrm>
          <a:prstGeom prst="roundRect">
            <a:avLst>
              <a:gd name="adj" fmla="val 6957"/>
            </a:avLst>
          </a:prstGeom>
          <a:solidFill>
            <a:schemeClr val="bg2"/>
          </a:solidFill>
          <a:ln/>
        </p:spPr>
      </p:sp>
      <p:sp>
        <p:nvSpPr>
          <p:cNvPr id="30" name="Text 28"/>
          <p:cNvSpPr txBox="1"/>
          <p:nvPr/>
        </p:nvSpPr>
        <p:spPr>
          <a:xfrm>
            <a:off x="7543800" y="4261104"/>
            <a:ext cx="1463040" cy="365760"/>
          </a:xfrm>
          <a:prstGeom prst="rect">
            <a:avLst/>
          </a:prstGeom>
          <a:noFill/>
          <a:ln/>
        </p:spPr>
        <p:txBody>
          <a:bodyPr wrap="square" lIns="0" tIns="0" rIns="0" bIns="0" rtlCol="0" anchor="t"/>
          <a:lstStyle/>
          <a:p>
            <a:pPr indent="0" marL="0">
              <a:buNone/>
            </a:pPr>
            <a:r>
              <a:rPr lang="en-US" sz="1700" b="1" dirty="0">
                <a:solidFill>
                  <a:schemeClr val="tx2"/>
                </a:solidFill>
              </a:rPr>
              <a:t>mAP</a:t>
            </a:r>
            <a:endParaRPr lang="en-US" sz="1700" dirty="0"/>
          </a:p>
        </p:txBody>
      </p:sp>
      <p:sp>
        <p:nvSpPr>
          <p:cNvPr id="31" name="Text 29"/>
          <p:cNvSpPr txBox="1"/>
          <p:nvPr/>
        </p:nvSpPr>
        <p:spPr>
          <a:xfrm>
            <a:off x="8961120" y="4279392"/>
            <a:ext cx="2499055" cy="365760"/>
          </a:xfrm>
          <a:prstGeom prst="rect">
            <a:avLst/>
          </a:prstGeom>
          <a:noFill/>
          <a:ln/>
        </p:spPr>
        <p:txBody>
          <a:bodyPr wrap="square" lIns="0" tIns="0" rIns="0" bIns="0" rtlCol="0" anchor="t"/>
          <a:lstStyle/>
          <a:p>
            <a:pPr algn="r" indent="0" marL="0">
              <a:buNone/>
            </a:pPr>
            <a:r>
              <a:rPr lang="en-US" sz="1400" b="1" dirty="0">
                <a:solidFill>
                  <a:schemeClr val="accent6"/>
                </a:solidFill>
              </a:rPr>
              <a:t>avg AP · IoU 0.5–0.95</a:t>
            </a:r>
            <a:endParaRPr lang="en-US" sz="1400" dirty="0"/>
          </a:p>
        </p:txBody>
      </p:sp>
      <p:sp>
        <p:nvSpPr>
          <p:cNvPr id="32" name="Text 30"/>
          <p:cNvSpPr txBox="1"/>
          <p:nvPr/>
        </p:nvSpPr>
        <p:spPr>
          <a:xfrm>
            <a:off x="7543800" y="4681728"/>
            <a:ext cx="3870655" cy="411480"/>
          </a:xfrm>
          <a:prstGeom prst="rect">
            <a:avLst/>
          </a:prstGeom>
          <a:noFill/>
          <a:ln/>
        </p:spPr>
        <p:txBody>
          <a:bodyPr wrap="square" lIns="0" tIns="0" rIns="0" bIns="0" rtlCol="0" anchor="t"/>
          <a:lstStyle/>
          <a:p>
            <a:pPr indent="0" marL="0">
              <a:buNone/>
            </a:pPr>
            <a:r>
              <a:rPr lang="en-US" sz="1400" dirty="0">
                <a:solidFill>
                  <a:schemeClr val="accent4"/>
                </a:solidFill>
              </a:rPr>
              <a:t>Single quality score: 37.3 for YOLOv8n</a:t>
            </a:r>
            <a:endParaRPr lang="en-US" sz="1400" dirty="0"/>
          </a:p>
        </p:txBody>
      </p:sp>
      <p:sp>
        <p:nvSpPr>
          <p:cNvPr id="33" name="callout"/>
          <p:cNvSpPr/>
          <p:nvPr/>
        </p:nvSpPr>
        <p:spPr>
          <a:xfrm>
            <a:off x="548640" y="5303520"/>
            <a:ext cx="11094415" cy="640080"/>
          </a:xfrm>
          <a:prstGeom prst="roundRect">
            <a:avLst>
              <a:gd name="adj" fmla="val 11429"/>
            </a:avLst>
          </a:prstGeom>
          <a:solidFill>
            <a:schemeClr val="tx2"/>
          </a:solidFill>
          <a:ln/>
        </p:spPr>
      </p:sp>
      <p:sp>
        <p:nvSpPr>
          <p:cNvPr id="34" name="Text 32"/>
          <p:cNvSpPr txBox="1"/>
          <p:nvPr/>
        </p:nvSpPr>
        <p:spPr>
          <a:xfrm>
            <a:off x="822960" y="5303520"/>
            <a:ext cx="10545775" cy="640080"/>
          </a:xfrm>
          <a:prstGeom prst="rect">
            <a:avLst/>
          </a:prstGeom>
          <a:noFill/>
          <a:ln/>
        </p:spPr>
        <p:txBody>
          <a:bodyPr wrap="square" lIns="0" tIns="0" rIns="0" bIns="0" rtlCol="0" anchor="ctr"/>
          <a:lstStyle/>
          <a:p>
            <a:pPr indent="0" marL="0">
              <a:buNone/>
            </a:pPr>
            <a:r>
              <a:rPr lang="en-US" sz="1700" b="1" dirty="0">
                <a:solidFill>
                  <a:schemeClr val="accent1"/>
                </a:solidFill>
              </a:rPr>
              <a:t>For enforcement, precision comes first: </a:t>
            </a:r>
            <a:pPr indent="0" marL="0">
              <a:buNone/>
            </a:pPr>
            <a:r>
              <a:rPr lang="en-US" sz="1700" dirty="0">
                <a:solidFill>
                  <a:schemeClr val="bg1"/>
                </a:solidFill>
              </a:rPr>
              <a:t>every false positive is an innocent driver fined.</a:t>
            </a:r>
            <a:endParaRPr lang="en-US" sz="17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3657600" cy="1371600"/>
          </a:xfrm>
          <a:prstGeom prst="rect">
            <a:avLst/>
          </a:prstGeom>
          <a:noFill/>
          <a:ln/>
        </p:spPr>
        <p:txBody>
          <a:bodyPr wrap="square" lIns="0" tIns="0" rIns="0" bIns="0" rtlCol="0" anchor="b"/>
          <a:lstStyle/>
          <a:p>
            <a:pPr indent="0" marL="0">
              <a:buNone/>
            </a:pPr>
            <a:r>
              <a:rPr lang="en-US" sz="9600" b="1" dirty="0">
                <a:solidFill>
                  <a:schemeClr val="accent1"/>
                </a:solidFill>
              </a:rPr>
              <a:t>02</a:t>
            </a:r>
            <a:endParaRPr lang="en-US" sz="9600" dirty="0"/>
          </a:p>
        </p:txBody>
      </p:sp>
      <p:sp>
        <p:nvSpPr>
          <p:cNvPr id="3" name="Text 0"/>
          <p:cNvSpPr/>
          <p:nvPr>
            <p:ph idx="101" type="title" hasCustomPrompt="1"/>
          </p:nvPr>
        </p:nvSpPr>
        <p:spPr>
          <a:xfrm>
            <a:off x="548640" y="2880360"/>
            <a:ext cx="10058400" cy="914400"/>
          </a:xfrm>
          <a:prstGeom prst="rect">
            <a:avLst/>
          </a:prstGeom>
          <a:noFill/>
          <a:ln/>
        </p:spPr>
        <p:txBody>
          <a:bodyPr wrap="square" lIns="0" tIns="0" rIns="0" bIns="0" rtlCol="0" anchor="t"/>
          <a:lstStyle/>
          <a:p>
            <a:pPr algn="l" indent="0" marL="0">
              <a:buNone/>
            </a:pPr>
            <a:r>
              <a:rPr lang="en-US" sz="4400" b="1" dirty="0">
                <a:solidFill>
                  <a:schemeClr val="bg1"/>
                </a:solidFill>
              </a:rPr>
              <a:t>From detections to speed</a:t>
            </a:r>
            <a:endParaRPr lang="en-US" sz="4400" dirty="0"/>
          </a:p>
        </p:txBody>
      </p:sp>
      <p:sp>
        <p:nvSpPr>
          <p:cNvPr id="4" name="Text 0"/>
          <p:cNvSpPr/>
          <p:nvPr>
            <p:ph idx="102" type="body" hasCustomPrompt="1"/>
          </p:nvPr>
        </p:nvSpPr>
        <p:spPr>
          <a:xfrm>
            <a:off x="548640" y="3840480"/>
            <a:ext cx="10058400" cy="411480"/>
          </a:xfrm>
          <a:prstGeom prst="rect">
            <a:avLst/>
          </a:prstGeom>
          <a:noFill/>
          <a:ln/>
        </p:spPr>
        <p:txBody>
          <a:bodyPr wrap="square" lIns="0" tIns="0" rIns="0" bIns="0" rtlCol="0" anchor="t"/>
          <a:lstStyle/>
          <a:p>
            <a:pPr indent="0" marL="0">
              <a:buNone/>
            </a:pPr>
            <a:r>
              <a:rPr lang="en-US" sz="1800" dirty="0">
                <a:solidFill>
                  <a:schemeClr val="accent5"/>
                </a:solidFill>
              </a:rPr>
              <a:t>Arul  ·  Tracking and measurement</a:t>
            </a:r>
            <a:endParaRPr lang="en-US" sz="1800" dirty="0"/>
          </a:p>
        </p:txBody>
      </p:sp>
      <p:sp>
        <p:nvSpPr>
          <p:cNvPr id="5" name="stage-chip-PIXELS"/>
          <p:cNvSpPr/>
          <p:nvPr/>
        </p:nvSpPr>
        <p:spPr>
          <a:xfrm>
            <a:off x="7144207" y="384048"/>
            <a:ext cx="841248" cy="274320"/>
          </a:xfrm>
          <a:prstGeom prst="roundRect">
            <a:avLst>
              <a:gd name="adj" fmla="val 50000"/>
            </a:avLst>
          </a:prstGeom>
          <a:solidFill>
            <a:srgbClr val="1D3550"/>
          </a:solidFill>
          <a:ln/>
        </p:spPr>
      </p:sp>
      <p:sp>
        <p:nvSpPr>
          <p:cNvPr id="6" name="Text 4"/>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PIXELS</a:t>
            </a:r>
            <a:endParaRPr lang="en-US" sz="900" dirty="0"/>
          </a:p>
        </p:txBody>
      </p:sp>
      <p:sp>
        <p:nvSpPr>
          <p:cNvPr id="7" name="stage-chip-DETECT"/>
          <p:cNvSpPr/>
          <p:nvPr/>
        </p:nvSpPr>
        <p:spPr>
          <a:xfrm>
            <a:off x="8058607" y="384048"/>
            <a:ext cx="841248" cy="274320"/>
          </a:xfrm>
          <a:prstGeom prst="roundRect">
            <a:avLst>
              <a:gd name="adj" fmla="val 50000"/>
            </a:avLst>
          </a:prstGeom>
          <a:solidFill>
            <a:srgbClr val="1D3550"/>
          </a:solidFill>
          <a:ln/>
        </p:spPr>
      </p:sp>
      <p:sp>
        <p:nvSpPr>
          <p:cNvPr id="8" name="Text 6"/>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DETECT</a:t>
            </a:r>
            <a:endParaRPr lang="en-US" sz="900" dirty="0"/>
          </a:p>
        </p:txBody>
      </p:sp>
      <p:sp>
        <p:nvSpPr>
          <p:cNvPr id="9" name="stage-chip-TRACK"/>
          <p:cNvSpPr/>
          <p:nvPr/>
        </p:nvSpPr>
        <p:spPr>
          <a:xfrm>
            <a:off x="8973007" y="384048"/>
            <a:ext cx="841248" cy="274320"/>
          </a:xfrm>
          <a:prstGeom prst="roundRect">
            <a:avLst>
              <a:gd name="adj" fmla="val 50000"/>
            </a:avLst>
          </a:prstGeom>
          <a:solidFill>
            <a:schemeClr val="accent1"/>
          </a:solidFill>
          <a:ln/>
        </p:spPr>
      </p:sp>
      <p:sp>
        <p:nvSpPr>
          <p:cNvPr id="10" name="Text 8"/>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TRACK</a:t>
            </a:r>
            <a:endParaRPr lang="en-US" sz="900" dirty="0"/>
          </a:p>
        </p:txBody>
      </p:sp>
      <p:sp>
        <p:nvSpPr>
          <p:cNvPr id="11" name="stage-chip-MEASURE"/>
          <p:cNvSpPr/>
          <p:nvPr/>
        </p:nvSpPr>
        <p:spPr>
          <a:xfrm>
            <a:off x="9887407" y="384048"/>
            <a:ext cx="841248" cy="274320"/>
          </a:xfrm>
          <a:prstGeom prst="roundRect">
            <a:avLst>
              <a:gd name="adj" fmla="val 50000"/>
            </a:avLst>
          </a:prstGeom>
          <a:solidFill>
            <a:schemeClr val="accent1"/>
          </a:solidFill>
          <a:ln/>
        </p:spPr>
      </p:sp>
      <p:sp>
        <p:nvSpPr>
          <p:cNvPr id="12" name="Text 10"/>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MEASURE</a:t>
            </a:r>
            <a:endParaRPr lang="en-US" sz="900" dirty="0"/>
          </a:p>
        </p:txBody>
      </p:sp>
      <p:sp>
        <p:nvSpPr>
          <p:cNvPr id="13" name="stage-chip-ACT"/>
          <p:cNvSpPr/>
          <p:nvPr/>
        </p:nvSpPr>
        <p:spPr>
          <a:xfrm>
            <a:off x="10801807" y="384048"/>
            <a:ext cx="841248" cy="274320"/>
          </a:xfrm>
          <a:prstGeom prst="roundRect">
            <a:avLst>
              <a:gd name="adj" fmla="val 50000"/>
            </a:avLst>
          </a:prstGeom>
          <a:solidFill>
            <a:srgbClr val="1D3550"/>
          </a:solidFill>
          <a:ln/>
        </p:spPr>
      </p:sp>
      <p:sp>
        <p:nvSpPr>
          <p:cNvPr id="14" name="Text 12"/>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ACT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WHY TRACKING</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Detection has no memory; tracking adds identity</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bg2"/>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accent1"/>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bg2"/>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Text 12"/>
          <p:cNvSpPr txBox="1"/>
          <p:nvPr/>
        </p:nvSpPr>
        <p:spPr>
          <a:xfrm>
            <a:off x="548640" y="2286000"/>
            <a:ext cx="1600200" cy="548640"/>
          </a:xfrm>
          <a:prstGeom prst="rect">
            <a:avLst/>
          </a:prstGeom>
          <a:noFill/>
          <a:ln/>
        </p:spPr>
        <p:txBody>
          <a:bodyPr wrap="square" lIns="0" tIns="0" rIns="0" bIns="0" rtlCol="0" anchor="t"/>
          <a:lstStyle/>
          <a:p>
            <a:pPr indent="0" marL="0">
              <a:buNone/>
            </a:pPr>
            <a:r>
              <a:rPr lang="en-US" sz="1500" b="1" dirty="0">
                <a:solidFill>
                  <a:schemeClr val="tx2"/>
                </a:solidFill>
              </a:rPr>
              <a:t>Detection only</a:t>
            </a:r>
            <a:endParaRPr lang="en-US" sz="1500" dirty="0"/>
          </a:p>
        </p:txBody>
      </p:sp>
      <p:sp>
        <p:nvSpPr>
          <p:cNvPr id="15" name="frame"/>
          <p:cNvSpPr/>
          <p:nvPr/>
        </p:nvSpPr>
        <p:spPr>
          <a:xfrm>
            <a:off x="2331720" y="1828800"/>
            <a:ext cx="2743200" cy="1417320"/>
          </a:xfrm>
          <a:prstGeom prst="rect">
            <a:avLst/>
          </a:prstGeom>
          <a:solidFill>
            <a:schemeClr val="bg2"/>
          </a:solidFill>
          <a:ln w="12700">
            <a:solidFill>
              <a:srgbClr val="D0D5DD"/>
            </a:solidFill>
            <a:prstDash val="solid"/>
          </a:ln>
        </p:spPr>
      </p:sp>
      <p:sp>
        <p:nvSpPr>
          <p:cNvPr id="16" name="lane"/>
          <p:cNvSpPr/>
          <p:nvPr/>
        </p:nvSpPr>
        <p:spPr>
          <a:xfrm>
            <a:off x="2514600" y="3017520"/>
            <a:ext cx="2377440" cy="0"/>
          </a:xfrm>
          <a:prstGeom prst="line">
            <a:avLst/>
          </a:prstGeom>
          <a:noFill/>
          <a:ln w="19050">
            <a:solidFill>
              <a:srgbClr val="D0D5DD"/>
            </a:solidFill>
            <a:prstDash val="dash"/>
          </a:ln>
        </p:spPr>
      </p:sp>
      <p:sp>
        <p:nvSpPr>
          <p:cNvPr id="17" name="box"/>
          <p:cNvSpPr/>
          <p:nvPr/>
        </p:nvSpPr>
        <p:spPr>
          <a:xfrm>
            <a:off x="2606040" y="2240280"/>
            <a:ext cx="960120" cy="640080"/>
          </a:xfrm>
          <a:prstGeom prst="rect">
            <a:avLst/>
          </a:prstGeom>
          <a:solidFill>
            <a:schemeClr val="bg1"/>
          </a:solidFill>
          <a:ln w="31750">
            <a:solidFill>
              <a:schemeClr val="accent4"/>
            </a:solidFill>
            <a:prstDash val="solid"/>
          </a:ln>
        </p:spPr>
      </p:sp>
      <p:pic>
        <p:nvPicPr>
          <p:cNvPr id="18" name="Image 0" descr="car">    </p:cNvPr>
          <p:cNvPicPr>
            <a:picLocks noChangeAspect="1"/>
          </p:cNvPicPr>
          <p:nvPr/>
        </p:nvPicPr>
        <p:blipFill>
          <a:blip r:embed="rId1"/>
          <a:stretch>
            <a:fillRect/>
          </a:stretch>
        </p:blipFill>
        <p:spPr>
          <a:xfrm>
            <a:off x="2880360" y="2331720"/>
            <a:ext cx="411480" cy="411480"/>
          </a:xfrm>
          <a:prstGeom prst="rect">
            <a:avLst/>
          </a:prstGeom>
        </p:spPr>
      </p:pic>
      <p:sp>
        <p:nvSpPr>
          <p:cNvPr id="19" name="Text 16"/>
          <p:cNvSpPr txBox="1"/>
          <p:nvPr/>
        </p:nvSpPr>
        <p:spPr>
          <a:xfrm>
            <a:off x="2606040" y="1938528"/>
            <a:ext cx="1188720" cy="274320"/>
          </a:xfrm>
          <a:prstGeom prst="rect">
            <a:avLst/>
          </a:prstGeom>
          <a:noFill/>
          <a:ln/>
        </p:spPr>
        <p:txBody>
          <a:bodyPr wrap="square" lIns="0" tIns="0" rIns="0" bIns="0" rtlCol="0" anchor="t"/>
          <a:lstStyle/>
          <a:p>
            <a:pPr indent="0" marL="0">
              <a:buNone/>
            </a:pPr>
            <a:r>
              <a:rPr lang="en-US" sz="1300" b="1" dirty="0">
                <a:solidFill>
                  <a:schemeClr val="accent4"/>
                </a:solidFill>
              </a:rPr>
              <a:t>car</a:t>
            </a:r>
            <a:endParaRPr lang="en-US" sz="1300" dirty="0"/>
          </a:p>
        </p:txBody>
      </p:sp>
      <p:sp>
        <p:nvSpPr>
          <p:cNvPr id="20" name="Text 17"/>
          <p:cNvSpPr txBox="1"/>
          <p:nvPr/>
        </p:nvSpPr>
        <p:spPr>
          <a:xfrm>
            <a:off x="2331720" y="3291840"/>
            <a:ext cx="2743200" cy="256032"/>
          </a:xfrm>
          <a:prstGeom prst="rect">
            <a:avLst/>
          </a:prstGeom>
          <a:noFill/>
          <a:ln/>
        </p:spPr>
        <p:txBody>
          <a:bodyPr wrap="square" lIns="0" tIns="0" rIns="0" bIns="0" rtlCol="0" anchor="t"/>
          <a:lstStyle/>
          <a:p>
            <a:pPr algn="ctr" indent="0" marL="0">
              <a:buNone/>
            </a:pPr>
            <a:r>
              <a:rPr lang="en-US" sz="1100" dirty="0">
                <a:solidFill>
                  <a:schemeClr val="accent5"/>
                </a:solidFill>
              </a:rPr>
              <a:t>t</a:t>
            </a:r>
            <a:endParaRPr lang="en-US" sz="1100" dirty="0"/>
          </a:p>
        </p:txBody>
      </p:sp>
      <p:sp>
        <p:nvSpPr>
          <p:cNvPr id="21" name="frame"/>
          <p:cNvSpPr/>
          <p:nvPr/>
        </p:nvSpPr>
        <p:spPr>
          <a:xfrm>
            <a:off x="5486400" y="1828800"/>
            <a:ext cx="2743200" cy="1417320"/>
          </a:xfrm>
          <a:prstGeom prst="rect">
            <a:avLst/>
          </a:prstGeom>
          <a:solidFill>
            <a:schemeClr val="bg2"/>
          </a:solidFill>
          <a:ln w="12700">
            <a:solidFill>
              <a:srgbClr val="D0D5DD"/>
            </a:solidFill>
            <a:prstDash val="solid"/>
          </a:ln>
        </p:spPr>
      </p:sp>
      <p:sp>
        <p:nvSpPr>
          <p:cNvPr id="22" name="lane"/>
          <p:cNvSpPr/>
          <p:nvPr/>
        </p:nvSpPr>
        <p:spPr>
          <a:xfrm>
            <a:off x="5669280" y="3017520"/>
            <a:ext cx="2377440" cy="0"/>
          </a:xfrm>
          <a:prstGeom prst="line">
            <a:avLst/>
          </a:prstGeom>
          <a:noFill/>
          <a:ln w="19050">
            <a:solidFill>
              <a:srgbClr val="D0D5DD"/>
            </a:solidFill>
            <a:prstDash val="dash"/>
          </a:ln>
        </p:spPr>
      </p:sp>
      <p:sp>
        <p:nvSpPr>
          <p:cNvPr id="23" name="box"/>
          <p:cNvSpPr/>
          <p:nvPr/>
        </p:nvSpPr>
        <p:spPr>
          <a:xfrm>
            <a:off x="6446520" y="2240280"/>
            <a:ext cx="960120" cy="640080"/>
          </a:xfrm>
          <a:prstGeom prst="rect">
            <a:avLst/>
          </a:prstGeom>
          <a:solidFill>
            <a:schemeClr val="bg1"/>
          </a:solidFill>
          <a:ln w="31750">
            <a:solidFill>
              <a:schemeClr val="accent4"/>
            </a:solidFill>
            <a:prstDash val="solid"/>
          </a:ln>
        </p:spPr>
      </p:sp>
      <p:pic>
        <p:nvPicPr>
          <p:cNvPr id="24" name="Image 1" descr="car">    </p:cNvPr>
          <p:cNvPicPr>
            <a:picLocks noChangeAspect="1"/>
          </p:cNvPicPr>
          <p:nvPr/>
        </p:nvPicPr>
        <p:blipFill>
          <a:blip r:embed="rId2"/>
          <a:stretch>
            <a:fillRect/>
          </a:stretch>
        </p:blipFill>
        <p:spPr>
          <a:xfrm>
            <a:off x="6720840" y="2331720"/>
            <a:ext cx="411480" cy="411480"/>
          </a:xfrm>
          <a:prstGeom prst="rect">
            <a:avLst/>
          </a:prstGeom>
        </p:spPr>
      </p:pic>
      <p:sp>
        <p:nvSpPr>
          <p:cNvPr id="25" name="Text 21"/>
          <p:cNvSpPr txBox="1"/>
          <p:nvPr/>
        </p:nvSpPr>
        <p:spPr>
          <a:xfrm>
            <a:off x="6446520" y="1938528"/>
            <a:ext cx="1188720" cy="274320"/>
          </a:xfrm>
          <a:prstGeom prst="rect">
            <a:avLst/>
          </a:prstGeom>
          <a:noFill/>
          <a:ln/>
        </p:spPr>
        <p:txBody>
          <a:bodyPr wrap="square" lIns="0" tIns="0" rIns="0" bIns="0" rtlCol="0" anchor="t"/>
          <a:lstStyle/>
          <a:p>
            <a:pPr indent="0" marL="0">
              <a:buNone/>
            </a:pPr>
            <a:r>
              <a:rPr lang="en-US" sz="1300" b="1" dirty="0">
                <a:solidFill>
                  <a:schemeClr val="accent4"/>
                </a:solidFill>
              </a:rPr>
              <a:t>car</a:t>
            </a:r>
            <a:endParaRPr lang="en-US" sz="1300" dirty="0"/>
          </a:p>
        </p:txBody>
      </p:sp>
      <p:sp>
        <p:nvSpPr>
          <p:cNvPr id="26" name="Text 22"/>
          <p:cNvSpPr txBox="1"/>
          <p:nvPr/>
        </p:nvSpPr>
        <p:spPr>
          <a:xfrm>
            <a:off x="5486400" y="3291840"/>
            <a:ext cx="2743200" cy="256032"/>
          </a:xfrm>
          <a:prstGeom prst="rect">
            <a:avLst/>
          </a:prstGeom>
          <a:noFill/>
          <a:ln/>
        </p:spPr>
        <p:txBody>
          <a:bodyPr wrap="square" lIns="0" tIns="0" rIns="0" bIns="0" rtlCol="0" anchor="t"/>
          <a:lstStyle/>
          <a:p>
            <a:pPr algn="ctr" indent="0" marL="0">
              <a:buNone/>
            </a:pPr>
            <a:r>
              <a:rPr lang="en-US" sz="1100" dirty="0">
                <a:solidFill>
                  <a:schemeClr val="accent5"/>
                </a:solidFill>
              </a:rPr>
              <a:t>t + 1</a:t>
            </a:r>
            <a:endParaRPr lang="en-US" sz="1100" dirty="0"/>
          </a:p>
        </p:txBody>
      </p:sp>
      <p:sp>
        <p:nvSpPr>
          <p:cNvPr id="27" name="frame"/>
          <p:cNvSpPr/>
          <p:nvPr/>
        </p:nvSpPr>
        <p:spPr>
          <a:xfrm>
            <a:off x="8641080" y="1828800"/>
            <a:ext cx="2743200" cy="1417320"/>
          </a:xfrm>
          <a:prstGeom prst="rect">
            <a:avLst/>
          </a:prstGeom>
          <a:solidFill>
            <a:schemeClr val="bg2"/>
          </a:solidFill>
          <a:ln w="12700">
            <a:solidFill>
              <a:srgbClr val="D0D5DD"/>
            </a:solidFill>
            <a:prstDash val="solid"/>
          </a:ln>
        </p:spPr>
      </p:sp>
      <p:sp>
        <p:nvSpPr>
          <p:cNvPr id="28" name="lane"/>
          <p:cNvSpPr/>
          <p:nvPr/>
        </p:nvSpPr>
        <p:spPr>
          <a:xfrm>
            <a:off x="8823960" y="3017520"/>
            <a:ext cx="2377440" cy="0"/>
          </a:xfrm>
          <a:prstGeom prst="line">
            <a:avLst/>
          </a:prstGeom>
          <a:noFill/>
          <a:ln w="19050">
            <a:solidFill>
              <a:srgbClr val="D0D5DD"/>
            </a:solidFill>
            <a:prstDash val="dash"/>
          </a:ln>
        </p:spPr>
      </p:sp>
      <p:sp>
        <p:nvSpPr>
          <p:cNvPr id="29" name="box"/>
          <p:cNvSpPr/>
          <p:nvPr/>
        </p:nvSpPr>
        <p:spPr>
          <a:xfrm>
            <a:off x="10287000" y="2240280"/>
            <a:ext cx="960120" cy="640080"/>
          </a:xfrm>
          <a:prstGeom prst="rect">
            <a:avLst/>
          </a:prstGeom>
          <a:solidFill>
            <a:schemeClr val="bg1"/>
          </a:solidFill>
          <a:ln w="31750">
            <a:solidFill>
              <a:schemeClr val="accent4"/>
            </a:solidFill>
            <a:prstDash val="solid"/>
          </a:ln>
        </p:spPr>
      </p:sp>
      <p:pic>
        <p:nvPicPr>
          <p:cNvPr id="30" name="Image 2" descr="car">    </p:cNvPr>
          <p:cNvPicPr>
            <a:picLocks noChangeAspect="1"/>
          </p:cNvPicPr>
          <p:nvPr/>
        </p:nvPicPr>
        <p:blipFill>
          <a:blip r:embed="rId3"/>
          <a:stretch>
            <a:fillRect/>
          </a:stretch>
        </p:blipFill>
        <p:spPr>
          <a:xfrm>
            <a:off x="10561320" y="2331720"/>
            <a:ext cx="411480" cy="411480"/>
          </a:xfrm>
          <a:prstGeom prst="rect">
            <a:avLst/>
          </a:prstGeom>
        </p:spPr>
      </p:pic>
      <p:sp>
        <p:nvSpPr>
          <p:cNvPr id="31" name="Text 26"/>
          <p:cNvSpPr txBox="1"/>
          <p:nvPr/>
        </p:nvSpPr>
        <p:spPr>
          <a:xfrm>
            <a:off x="10287000" y="1938528"/>
            <a:ext cx="1188720" cy="274320"/>
          </a:xfrm>
          <a:prstGeom prst="rect">
            <a:avLst/>
          </a:prstGeom>
          <a:noFill/>
          <a:ln/>
        </p:spPr>
        <p:txBody>
          <a:bodyPr wrap="square" lIns="0" tIns="0" rIns="0" bIns="0" rtlCol="0" anchor="t"/>
          <a:lstStyle/>
          <a:p>
            <a:pPr indent="0" marL="0">
              <a:buNone/>
            </a:pPr>
            <a:r>
              <a:rPr lang="en-US" sz="1300" b="1" dirty="0">
                <a:solidFill>
                  <a:schemeClr val="accent4"/>
                </a:solidFill>
              </a:rPr>
              <a:t>car</a:t>
            </a:r>
            <a:endParaRPr lang="en-US" sz="1300" dirty="0"/>
          </a:p>
        </p:txBody>
      </p:sp>
      <p:sp>
        <p:nvSpPr>
          <p:cNvPr id="32" name="Text 27"/>
          <p:cNvSpPr txBox="1"/>
          <p:nvPr/>
        </p:nvSpPr>
        <p:spPr>
          <a:xfrm>
            <a:off x="8641080" y="3291840"/>
            <a:ext cx="2743200" cy="256032"/>
          </a:xfrm>
          <a:prstGeom prst="rect">
            <a:avLst/>
          </a:prstGeom>
          <a:noFill/>
          <a:ln/>
        </p:spPr>
        <p:txBody>
          <a:bodyPr wrap="square" lIns="0" tIns="0" rIns="0" bIns="0" rtlCol="0" anchor="t"/>
          <a:lstStyle/>
          <a:p>
            <a:pPr algn="ctr" indent="0" marL="0">
              <a:buNone/>
            </a:pPr>
            <a:r>
              <a:rPr lang="en-US" sz="1100" dirty="0">
                <a:solidFill>
                  <a:schemeClr val="accent5"/>
                </a:solidFill>
              </a:rPr>
              <a:t>t + 2</a:t>
            </a:r>
            <a:endParaRPr lang="en-US" sz="1100" dirty="0"/>
          </a:p>
        </p:txBody>
      </p:sp>
      <p:sp>
        <p:nvSpPr>
          <p:cNvPr id="33" name="Text 28"/>
          <p:cNvSpPr txBox="1"/>
          <p:nvPr/>
        </p:nvSpPr>
        <p:spPr>
          <a:xfrm>
            <a:off x="2331720" y="3566160"/>
            <a:ext cx="9052560" cy="274320"/>
          </a:xfrm>
          <a:prstGeom prst="rect">
            <a:avLst/>
          </a:prstGeom>
          <a:noFill/>
          <a:ln/>
        </p:spPr>
        <p:txBody>
          <a:bodyPr wrap="square" lIns="0" tIns="0" rIns="0" bIns="0" rtlCol="0" anchor="t"/>
          <a:lstStyle/>
          <a:p>
            <a:pPr indent="0" marL="0">
              <a:buNone/>
            </a:pPr>
            <a:r>
              <a:rPr lang="en-US" sz="1400" dirty="0">
                <a:solidFill>
                  <a:schemeClr val="accent4"/>
                </a:solidFill>
              </a:rPr>
              <a:t>Same car? Unknown. No speed possible.</a:t>
            </a:r>
            <a:endParaRPr lang="en-US" sz="1400" dirty="0"/>
          </a:p>
        </p:txBody>
      </p:sp>
      <p:sp>
        <p:nvSpPr>
          <p:cNvPr id="34" name="Text 29"/>
          <p:cNvSpPr txBox="1"/>
          <p:nvPr/>
        </p:nvSpPr>
        <p:spPr>
          <a:xfrm>
            <a:off x="548640" y="4251960"/>
            <a:ext cx="1600200" cy="548640"/>
          </a:xfrm>
          <a:prstGeom prst="rect">
            <a:avLst/>
          </a:prstGeom>
          <a:noFill/>
          <a:ln/>
        </p:spPr>
        <p:txBody>
          <a:bodyPr wrap="square" lIns="0" tIns="0" rIns="0" bIns="0" rtlCol="0" anchor="t"/>
          <a:lstStyle/>
          <a:p>
            <a:pPr indent="0" marL="0">
              <a:buNone/>
            </a:pPr>
            <a:r>
              <a:rPr lang="en-US" sz="1500" b="1" dirty="0">
                <a:solidFill>
                  <a:schemeClr val="tx2"/>
                </a:solidFill>
              </a:rPr>
              <a:t>With tracking</a:t>
            </a:r>
            <a:endParaRPr lang="en-US" sz="1500" dirty="0"/>
          </a:p>
        </p:txBody>
      </p:sp>
      <p:sp>
        <p:nvSpPr>
          <p:cNvPr id="35" name="frame"/>
          <p:cNvSpPr/>
          <p:nvPr/>
        </p:nvSpPr>
        <p:spPr>
          <a:xfrm>
            <a:off x="2331720" y="3794760"/>
            <a:ext cx="2743200" cy="1417320"/>
          </a:xfrm>
          <a:prstGeom prst="rect">
            <a:avLst/>
          </a:prstGeom>
          <a:solidFill>
            <a:schemeClr val="bg2"/>
          </a:solidFill>
          <a:ln w="12700">
            <a:solidFill>
              <a:srgbClr val="D0D5DD"/>
            </a:solidFill>
            <a:prstDash val="solid"/>
          </a:ln>
        </p:spPr>
      </p:sp>
      <p:sp>
        <p:nvSpPr>
          <p:cNvPr id="36" name="lane"/>
          <p:cNvSpPr/>
          <p:nvPr/>
        </p:nvSpPr>
        <p:spPr>
          <a:xfrm>
            <a:off x="2514600" y="4983480"/>
            <a:ext cx="2377440" cy="0"/>
          </a:xfrm>
          <a:prstGeom prst="line">
            <a:avLst/>
          </a:prstGeom>
          <a:noFill/>
          <a:ln w="19050">
            <a:solidFill>
              <a:srgbClr val="D0D5DD"/>
            </a:solidFill>
            <a:prstDash val="dash"/>
          </a:ln>
        </p:spPr>
      </p:sp>
      <p:sp>
        <p:nvSpPr>
          <p:cNvPr id="37" name="box"/>
          <p:cNvSpPr/>
          <p:nvPr/>
        </p:nvSpPr>
        <p:spPr>
          <a:xfrm>
            <a:off x="2606040" y="4206240"/>
            <a:ext cx="960120" cy="640080"/>
          </a:xfrm>
          <a:prstGeom prst="rect">
            <a:avLst/>
          </a:prstGeom>
          <a:solidFill>
            <a:schemeClr val="bg1"/>
          </a:solidFill>
          <a:ln w="31750">
            <a:solidFill>
              <a:schemeClr val="accent1"/>
            </a:solidFill>
            <a:prstDash val="solid"/>
          </a:ln>
        </p:spPr>
      </p:sp>
      <p:pic>
        <p:nvPicPr>
          <p:cNvPr id="38" name="Image 3" descr="car">    </p:cNvPr>
          <p:cNvPicPr>
            <a:picLocks noChangeAspect="1"/>
          </p:cNvPicPr>
          <p:nvPr/>
        </p:nvPicPr>
        <p:blipFill>
          <a:blip r:embed="rId4"/>
          <a:stretch>
            <a:fillRect/>
          </a:stretch>
        </p:blipFill>
        <p:spPr>
          <a:xfrm>
            <a:off x="2880360" y="4297680"/>
            <a:ext cx="411480" cy="411480"/>
          </a:xfrm>
          <a:prstGeom prst="rect">
            <a:avLst/>
          </a:prstGeom>
        </p:spPr>
      </p:pic>
      <p:sp>
        <p:nvSpPr>
          <p:cNvPr id="39" name="Text 33"/>
          <p:cNvSpPr txBox="1"/>
          <p:nvPr/>
        </p:nvSpPr>
        <p:spPr>
          <a:xfrm>
            <a:off x="2606040" y="3904488"/>
            <a:ext cx="1188720" cy="274320"/>
          </a:xfrm>
          <a:prstGeom prst="rect">
            <a:avLst/>
          </a:prstGeom>
          <a:noFill/>
          <a:ln/>
        </p:spPr>
        <p:txBody>
          <a:bodyPr wrap="square" lIns="0" tIns="0" rIns="0" bIns="0" rtlCol="0" anchor="t"/>
          <a:lstStyle/>
          <a:p>
            <a:pPr indent="0" marL="0">
              <a:buNone/>
            </a:pPr>
            <a:r>
              <a:rPr lang="en-US" sz="1300" b="1" dirty="0">
                <a:solidFill>
                  <a:schemeClr val="accent6"/>
                </a:solidFill>
              </a:rPr>
              <a:t>#7</a:t>
            </a:r>
            <a:endParaRPr lang="en-US" sz="1300" dirty="0"/>
          </a:p>
        </p:txBody>
      </p:sp>
      <p:sp>
        <p:nvSpPr>
          <p:cNvPr id="40" name="Text 34"/>
          <p:cNvSpPr txBox="1"/>
          <p:nvPr/>
        </p:nvSpPr>
        <p:spPr>
          <a:xfrm>
            <a:off x="2331720" y="5257800"/>
            <a:ext cx="2743200" cy="256032"/>
          </a:xfrm>
          <a:prstGeom prst="rect">
            <a:avLst/>
          </a:prstGeom>
          <a:noFill/>
          <a:ln/>
        </p:spPr>
        <p:txBody>
          <a:bodyPr wrap="square" lIns="0" tIns="0" rIns="0" bIns="0" rtlCol="0" anchor="t"/>
          <a:lstStyle/>
          <a:p>
            <a:pPr algn="ctr" indent="0" marL="0">
              <a:buNone/>
            </a:pPr>
            <a:r>
              <a:rPr lang="en-US" sz="1100" dirty="0">
                <a:solidFill>
                  <a:schemeClr val="accent5"/>
                </a:solidFill>
              </a:rPr>
              <a:t>t</a:t>
            </a:r>
            <a:endParaRPr lang="en-US" sz="1100" dirty="0"/>
          </a:p>
        </p:txBody>
      </p:sp>
      <p:sp>
        <p:nvSpPr>
          <p:cNvPr id="41" name="trajectory"/>
          <p:cNvSpPr/>
          <p:nvPr/>
        </p:nvSpPr>
        <p:spPr>
          <a:xfrm>
            <a:off x="3566160" y="4526280"/>
            <a:ext cx="2880360" cy="0"/>
          </a:xfrm>
          <a:prstGeom prst="line">
            <a:avLst/>
          </a:prstGeom>
          <a:noFill/>
          <a:ln w="19050">
            <a:solidFill>
              <a:schemeClr val="accent1"/>
            </a:solidFill>
            <a:prstDash val="sysDot"/>
            <a:tailEnd type="triangle"/>
          </a:ln>
        </p:spPr>
      </p:sp>
      <p:sp>
        <p:nvSpPr>
          <p:cNvPr id="42" name="frame"/>
          <p:cNvSpPr/>
          <p:nvPr/>
        </p:nvSpPr>
        <p:spPr>
          <a:xfrm>
            <a:off x="5486400" y="3794760"/>
            <a:ext cx="2743200" cy="1417320"/>
          </a:xfrm>
          <a:prstGeom prst="rect">
            <a:avLst/>
          </a:prstGeom>
          <a:solidFill>
            <a:schemeClr val="bg2"/>
          </a:solidFill>
          <a:ln w="12700">
            <a:solidFill>
              <a:srgbClr val="D0D5DD"/>
            </a:solidFill>
            <a:prstDash val="solid"/>
          </a:ln>
        </p:spPr>
      </p:sp>
      <p:sp>
        <p:nvSpPr>
          <p:cNvPr id="43" name="lane"/>
          <p:cNvSpPr/>
          <p:nvPr/>
        </p:nvSpPr>
        <p:spPr>
          <a:xfrm>
            <a:off x="5669280" y="4983480"/>
            <a:ext cx="2377440" cy="0"/>
          </a:xfrm>
          <a:prstGeom prst="line">
            <a:avLst/>
          </a:prstGeom>
          <a:noFill/>
          <a:ln w="19050">
            <a:solidFill>
              <a:srgbClr val="D0D5DD"/>
            </a:solidFill>
            <a:prstDash val="dash"/>
          </a:ln>
        </p:spPr>
      </p:sp>
      <p:sp>
        <p:nvSpPr>
          <p:cNvPr id="44" name="box"/>
          <p:cNvSpPr/>
          <p:nvPr/>
        </p:nvSpPr>
        <p:spPr>
          <a:xfrm>
            <a:off x="6446520" y="4206240"/>
            <a:ext cx="960120" cy="640080"/>
          </a:xfrm>
          <a:prstGeom prst="rect">
            <a:avLst/>
          </a:prstGeom>
          <a:solidFill>
            <a:schemeClr val="bg1"/>
          </a:solidFill>
          <a:ln w="31750">
            <a:solidFill>
              <a:schemeClr val="accent1"/>
            </a:solidFill>
            <a:prstDash val="solid"/>
          </a:ln>
        </p:spPr>
      </p:sp>
      <p:pic>
        <p:nvPicPr>
          <p:cNvPr id="45" name="Image 4" descr="car">    </p:cNvPr>
          <p:cNvPicPr>
            <a:picLocks noChangeAspect="1"/>
          </p:cNvPicPr>
          <p:nvPr/>
        </p:nvPicPr>
        <p:blipFill>
          <a:blip r:embed="rId5"/>
          <a:stretch>
            <a:fillRect/>
          </a:stretch>
        </p:blipFill>
        <p:spPr>
          <a:xfrm>
            <a:off x="6720840" y="4297680"/>
            <a:ext cx="411480" cy="411480"/>
          </a:xfrm>
          <a:prstGeom prst="rect">
            <a:avLst/>
          </a:prstGeom>
        </p:spPr>
      </p:pic>
      <p:sp>
        <p:nvSpPr>
          <p:cNvPr id="46" name="Text 39"/>
          <p:cNvSpPr txBox="1"/>
          <p:nvPr/>
        </p:nvSpPr>
        <p:spPr>
          <a:xfrm>
            <a:off x="6446520" y="3904488"/>
            <a:ext cx="1188720" cy="274320"/>
          </a:xfrm>
          <a:prstGeom prst="rect">
            <a:avLst/>
          </a:prstGeom>
          <a:noFill/>
          <a:ln/>
        </p:spPr>
        <p:txBody>
          <a:bodyPr wrap="square" lIns="0" tIns="0" rIns="0" bIns="0" rtlCol="0" anchor="t"/>
          <a:lstStyle/>
          <a:p>
            <a:pPr indent="0" marL="0">
              <a:buNone/>
            </a:pPr>
            <a:r>
              <a:rPr lang="en-US" sz="1300" b="1" dirty="0">
                <a:solidFill>
                  <a:schemeClr val="accent6"/>
                </a:solidFill>
              </a:rPr>
              <a:t>#7</a:t>
            </a:r>
            <a:endParaRPr lang="en-US" sz="1300" dirty="0"/>
          </a:p>
        </p:txBody>
      </p:sp>
      <p:sp>
        <p:nvSpPr>
          <p:cNvPr id="47" name="Text 40"/>
          <p:cNvSpPr txBox="1"/>
          <p:nvPr/>
        </p:nvSpPr>
        <p:spPr>
          <a:xfrm>
            <a:off x="5486400" y="5257800"/>
            <a:ext cx="2743200" cy="256032"/>
          </a:xfrm>
          <a:prstGeom prst="rect">
            <a:avLst/>
          </a:prstGeom>
          <a:noFill/>
          <a:ln/>
        </p:spPr>
        <p:txBody>
          <a:bodyPr wrap="square" lIns="0" tIns="0" rIns="0" bIns="0" rtlCol="0" anchor="t"/>
          <a:lstStyle/>
          <a:p>
            <a:pPr algn="ctr" indent="0" marL="0">
              <a:buNone/>
            </a:pPr>
            <a:r>
              <a:rPr lang="en-US" sz="1100" dirty="0">
                <a:solidFill>
                  <a:schemeClr val="accent5"/>
                </a:solidFill>
              </a:rPr>
              <a:t>t + 1</a:t>
            </a:r>
            <a:endParaRPr lang="en-US" sz="1100" dirty="0"/>
          </a:p>
        </p:txBody>
      </p:sp>
      <p:sp>
        <p:nvSpPr>
          <p:cNvPr id="48" name="trajectory"/>
          <p:cNvSpPr/>
          <p:nvPr/>
        </p:nvSpPr>
        <p:spPr>
          <a:xfrm>
            <a:off x="7406640" y="4526280"/>
            <a:ext cx="2880360" cy="0"/>
          </a:xfrm>
          <a:prstGeom prst="line">
            <a:avLst/>
          </a:prstGeom>
          <a:noFill/>
          <a:ln w="19050">
            <a:solidFill>
              <a:schemeClr val="accent1"/>
            </a:solidFill>
            <a:prstDash val="sysDot"/>
            <a:tailEnd type="triangle"/>
          </a:ln>
        </p:spPr>
      </p:sp>
      <p:sp>
        <p:nvSpPr>
          <p:cNvPr id="49" name="frame"/>
          <p:cNvSpPr/>
          <p:nvPr/>
        </p:nvSpPr>
        <p:spPr>
          <a:xfrm>
            <a:off x="8641080" y="3794760"/>
            <a:ext cx="2743200" cy="1417320"/>
          </a:xfrm>
          <a:prstGeom prst="rect">
            <a:avLst/>
          </a:prstGeom>
          <a:solidFill>
            <a:schemeClr val="bg2"/>
          </a:solidFill>
          <a:ln w="12700">
            <a:solidFill>
              <a:srgbClr val="D0D5DD"/>
            </a:solidFill>
            <a:prstDash val="solid"/>
          </a:ln>
        </p:spPr>
      </p:sp>
      <p:sp>
        <p:nvSpPr>
          <p:cNvPr id="50" name="lane"/>
          <p:cNvSpPr/>
          <p:nvPr/>
        </p:nvSpPr>
        <p:spPr>
          <a:xfrm>
            <a:off x="8823960" y="4983480"/>
            <a:ext cx="2377440" cy="0"/>
          </a:xfrm>
          <a:prstGeom prst="line">
            <a:avLst/>
          </a:prstGeom>
          <a:noFill/>
          <a:ln w="19050">
            <a:solidFill>
              <a:srgbClr val="D0D5DD"/>
            </a:solidFill>
            <a:prstDash val="dash"/>
          </a:ln>
        </p:spPr>
      </p:sp>
      <p:sp>
        <p:nvSpPr>
          <p:cNvPr id="51" name="box"/>
          <p:cNvSpPr/>
          <p:nvPr/>
        </p:nvSpPr>
        <p:spPr>
          <a:xfrm>
            <a:off x="10287000" y="4206240"/>
            <a:ext cx="960120" cy="640080"/>
          </a:xfrm>
          <a:prstGeom prst="rect">
            <a:avLst/>
          </a:prstGeom>
          <a:solidFill>
            <a:schemeClr val="bg1"/>
          </a:solidFill>
          <a:ln w="31750">
            <a:solidFill>
              <a:schemeClr val="accent1"/>
            </a:solidFill>
            <a:prstDash val="solid"/>
          </a:ln>
        </p:spPr>
      </p:sp>
      <p:pic>
        <p:nvPicPr>
          <p:cNvPr id="52" name="Image 5" descr="car">    </p:cNvPr>
          <p:cNvPicPr>
            <a:picLocks noChangeAspect="1"/>
          </p:cNvPicPr>
          <p:nvPr/>
        </p:nvPicPr>
        <p:blipFill>
          <a:blip r:embed="rId6"/>
          <a:stretch>
            <a:fillRect/>
          </a:stretch>
        </p:blipFill>
        <p:spPr>
          <a:xfrm>
            <a:off x="10561320" y="4297680"/>
            <a:ext cx="411480" cy="411480"/>
          </a:xfrm>
          <a:prstGeom prst="rect">
            <a:avLst/>
          </a:prstGeom>
        </p:spPr>
      </p:pic>
      <p:sp>
        <p:nvSpPr>
          <p:cNvPr id="53" name="Text 45"/>
          <p:cNvSpPr txBox="1"/>
          <p:nvPr/>
        </p:nvSpPr>
        <p:spPr>
          <a:xfrm>
            <a:off x="10287000" y="3904488"/>
            <a:ext cx="1188720" cy="274320"/>
          </a:xfrm>
          <a:prstGeom prst="rect">
            <a:avLst/>
          </a:prstGeom>
          <a:noFill/>
          <a:ln/>
        </p:spPr>
        <p:txBody>
          <a:bodyPr wrap="square" lIns="0" tIns="0" rIns="0" bIns="0" rtlCol="0" anchor="t"/>
          <a:lstStyle/>
          <a:p>
            <a:pPr indent="0" marL="0">
              <a:buNone/>
            </a:pPr>
            <a:r>
              <a:rPr lang="en-US" sz="1300" b="1" dirty="0">
                <a:solidFill>
                  <a:schemeClr val="accent6"/>
                </a:solidFill>
              </a:rPr>
              <a:t>#7</a:t>
            </a:r>
            <a:endParaRPr lang="en-US" sz="1300" dirty="0"/>
          </a:p>
        </p:txBody>
      </p:sp>
      <p:sp>
        <p:nvSpPr>
          <p:cNvPr id="54" name="Text 46"/>
          <p:cNvSpPr txBox="1"/>
          <p:nvPr/>
        </p:nvSpPr>
        <p:spPr>
          <a:xfrm>
            <a:off x="8641080" y="5257800"/>
            <a:ext cx="2743200" cy="256032"/>
          </a:xfrm>
          <a:prstGeom prst="rect">
            <a:avLst/>
          </a:prstGeom>
          <a:noFill/>
          <a:ln/>
        </p:spPr>
        <p:txBody>
          <a:bodyPr wrap="square" lIns="0" tIns="0" rIns="0" bIns="0" rtlCol="0" anchor="t"/>
          <a:lstStyle/>
          <a:p>
            <a:pPr algn="ctr" indent="0" marL="0">
              <a:buNone/>
            </a:pPr>
            <a:r>
              <a:rPr lang="en-US" sz="1100" dirty="0">
                <a:solidFill>
                  <a:schemeClr val="accent5"/>
                </a:solidFill>
              </a:rPr>
              <a:t>t + 2</a:t>
            </a:r>
            <a:endParaRPr lang="en-US" sz="1100" dirty="0"/>
          </a:p>
        </p:txBody>
      </p:sp>
      <p:sp>
        <p:nvSpPr>
          <p:cNvPr id="55" name="Text 47"/>
          <p:cNvSpPr txBox="1"/>
          <p:nvPr/>
        </p:nvSpPr>
        <p:spPr>
          <a:xfrm>
            <a:off x="2331720" y="5532120"/>
            <a:ext cx="9052560" cy="274320"/>
          </a:xfrm>
          <a:prstGeom prst="rect">
            <a:avLst/>
          </a:prstGeom>
          <a:noFill/>
          <a:ln/>
        </p:spPr>
        <p:txBody>
          <a:bodyPr wrap="square" lIns="0" tIns="0" rIns="0" bIns="0" rtlCol="0" anchor="t"/>
          <a:lstStyle/>
          <a:p>
            <a:pPr indent="0" marL="0">
              <a:buNone/>
            </a:pPr>
            <a:r>
              <a:rPr lang="en-US" sz="1400" b="1" dirty="0">
                <a:solidFill>
                  <a:schemeClr val="tx2"/>
                </a:solidFill>
              </a:rPr>
              <a:t>One identity → a trajectory → a speed.</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MULTI-OBJECT TRACKING</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ByteTrack: predict, match, then rescue weak boxes</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bg2"/>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accent1"/>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bg2"/>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step"/>
          <p:cNvSpPr/>
          <p:nvPr/>
        </p:nvSpPr>
        <p:spPr>
          <a:xfrm>
            <a:off x="548640" y="1783080"/>
            <a:ext cx="1417320" cy="749808"/>
          </a:xfrm>
          <a:prstGeom prst="roundRect">
            <a:avLst>
              <a:gd name="adj" fmla="val 9756"/>
            </a:avLst>
          </a:prstGeom>
          <a:solidFill>
            <a:schemeClr val="tx2"/>
          </a:solidFill>
          <a:ln/>
        </p:spPr>
      </p:sp>
      <p:sp>
        <p:nvSpPr>
          <p:cNvPr id="15" name="Text 13"/>
          <p:cNvSpPr txBox="1"/>
          <p:nvPr/>
        </p:nvSpPr>
        <p:spPr>
          <a:xfrm>
            <a:off x="548640" y="1783080"/>
            <a:ext cx="1417320" cy="749808"/>
          </a:xfrm>
          <a:prstGeom prst="rect">
            <a:avLst/>
          </a:prstGeom>
          <a:noFill/>
          <a:ln/>
        </p:spPr>
        <p:txBody>
          <a:bodyPr wrap="square" lIns="0" tIns="0" rIns="0" bIns="0" rtlCol="0" anchor="ctr"/>
          <a:lstStyle/>
          <a:p>
            <a:pPr algn="ctr" indent="0" marL="0">
              <a:buNone/>
            </a:pPr>
            <a:r>
              <a:rPr lang="en-US" sz="1500" b="1" dirty="0">
                <a:solidFill>
                  <a:schemeClr val="bg1"/>
                </a:solidFill>
              </a:rPr>
              <a:t>Predict</a:t>
            </a:r>
            <a:endParaRPr lang="en-US" sz="1500" dirty="0"/>
          </a:p>
        </p:txBody>
      </p:sp>
      <p:sp>
        <p:nvSpPr>
          <p:cNvPr id="16" name="Text 14"/>
          <p:cNvSpPr txBox="1"/>
          <p:nvPr/>
        </p:nvSpPr>
        <p:spPr>
          <a:xfrm>
            <a:off x="2148840" y="1783080"/>
            <a:ext cx="3840480" cy="749808"/>
          </a:xfrm>
          <a:prstGeom prst="rect">
            <a:avLst/>
          </a:prstGeom>
          <a:noFill/>
          <a:ln/>
        </p:spPr>
        <p:txBody>
          <a:bodyPr wrap="square" lIns="0" tIns="0" rIns="0" bIns="0" rtlCol="0" anchor="ctr"/>
          <a:lstStyle/>
          <a:p>
            <a:pPr indent="0" marL="0">
              <a:buNone/>
            </a:pPr>
            <a:r>
              <a:rPr lang="en-US" sz="1400" dirty="0">
                <a:solidFill>
                  <a:schemeClr val="tx1"/>
                </a:solidFill>
              </a:rPr>
              <a:t>Kalman filter estimates each track's next box from its velocity</a:t>
            </a:r>
            <a:endParaRPr lang="en-US" sz="1400" dirty="0"/>
          </a:p>
        </p:txBody>
      </p:sp>
      <p:sp>
        <p:nvSpPr>
          <p:cNvPr id="17" name="step"/>
          <p:cNvSpPr/>
          <p:nvPr/>
        </p:nvSpPr>
        <p:spPr>
          <a:xfrm>
            <a:off x="548640" y="2770632"/>
            <a:ext cx="1417320" cy="749808"/>
          </a:xfrm>
          <a:prstGeom prst="roundRect">
            <a:avLst>
              <a:gd name="adj" fmla="val 9756"/>
            </a:avLst>
          </a:prstGeom>
          <a:solidFill>
            <a:schemeClr val="tx2"/>
          </a:solidFill>
          <a:ln/>
        </p:spPr>
      </p:sp>
      <p:sp>
        <p:nvSpPr>
          <p:cNvPr id="18" name="Text 16"/>
          <p:cNvSpPr txBox="1"/>
          <p:nvPr/>
        </p:nvSpPr>
        <p:spPr>
          <a:xfrm>
            <a:off x="548640" y="2770632"/>
            <a:ext cx="1417320" cy="749808"/>
          </a:xfrm>
          <a:prstGeom prst="rect">
            <a:avLst/>
          </a:prstGeom>
          <a:noFill/>
          <a:ln/>
        </p:spPr>
        <p:txBody>
          <a:bodyPr wrap="square" lIns="0" tIns="0" rIns="0" bIns="0" rtlCol="0" anchor="ctr"/>
          <a:lstStyle/>
          <a:p>
            <a:pPr algn="ctr" indent="0" marL="0">
              <a:buNone/>
            </a:pPr>
            <a:r>
              <a:rPr lang="en-US" sz="1500" b="1" dirty="0">
                <a:solidFill>
                  <a:schemeClr val="bg1"/>
                </a:solidFill>
              </a:rPr>
              <a:t>Match</a:t>
            </a:r>
            <a:endParaRPr lang="en-US" sz="1500" dirty="0"/>
          </a:p>
        </p:txBody>
      </p:sp>
      <p:sp>
        <p:nvSpPr>
          <p:cNvPr id="19" name="Text 17"/>
          <p:cNvSpPr txBox="1"/>
          <p:nvPr/>
        </p:nvSpPr>
        <p:spPr>
          <a:xfrm>
            <a:off x="2148840" y="2770632"/>
            <a:ext cx="3840480" cy="749808"/>
          </a:xfrm>
          <a:prstGeom prst="rect">
            <a:avLst/>
          </a:prstGeom>
          <a:noFill/>
          <a:ln/>
        </p:spPr>
        <p:txBody>
          <a:bodyPr wrap="square" lIns="0" tIns="0" rIns="0" bIns="0" rtlCol="0" anchor="ctr"/>
          <a:lstStyle/>
          <a:p>
            <a:pPr indent="0" marL="0">
              <a:buNone/>
            </a:pPr>
            <a:r>
              <a:rPr lang="en-US" sz="1400" dirty="0">
                <a:solidFill>
                  <a:schemeClr val="tx1"/>
                </a:solidFill>
              </a:rPr>
              <a:t>High-confidence boxes ↔ predictions by IoU (Hungarian assignment)</a:t>
            </a:r>
            <a:endParaRPr lang="en-US" sz="1400" dirty="0"/>
          </a:p>
        </p:txBody>
      </p:sp>
      <p:sp>
        <p:nvSpPr>
          <p:cNvPr id="20" name="step"/>
          <p:cNvSpPr/>
          <p:nvPr/>
        </p:nvSpPr>
        <p:spPr>
          <a:xfrm>
            <a:off x="548640" y="3758184"/>
            <a:ext cx="1417320" cy="749808"/>
          </a:xfrm>
          <a:prstGeom prst="roundRect">
            <a:avLst>
              <a:gd name="adj" fmla="val 9756"/>
            </a:avLst>
          </a:prstGeom>
          <a:solidFill>
            <a:schemeClr val="accent1"/>
          </a:solidFill>
          <a:ln/>
        </p:spPr>
      </p:sp>
      <p:sp>
        <p:nvSpPr>
          <p:cNvPr id="21" name="Text 19"/>
          <p:cNvSpPr txBox="1"/>
          <p:nvPr/>
        </p:nvSpPr>
        <p:spPr>
          <a:xfrm>
            <a:off x="548640" y="3758184"/>
            <a:ext cx="1417320" cy="749808"/>
          </a:xfrm>
          <a:prstGeom prst="rect">
            <a:avLst/>
          </a:prstGeom>
          <a:noFill/>
          <a:ln/>
        </p:spPr>
        <p:txBody>
          <a:bodyPr wrap="square" lIns="0" tIns="0" rIns="0" bIns="0" rtlCol="0" anchor="ctr"/>
          <a:lstStyle/>
          <a:p>
            <a:pPr algn="ctr" indent="0" marL="0">
              <a:buNone/>
            </a:pPr>
            <a:r>
              <a:rPr lang="en-US" sz="1500" b="1" dirty="0">
                <a:solidFill>
                  <a:schemeClr val="tx1"/>
                </a:solidFill>
              </a:rPr>
              <a:t>Rescue</a:t>
            </a:r>
            <a:endParaRPr lang="en-US" sz="1500" dirty="0"/>
          </a:p>
        </p:txBody>
      </p:sp>
      <p:sp>
        <p:nvSpPr>
          <p:cNvPr id="22" name="Text 20"/>
          <p:cNvSpPr txBox="1"/>
          <p:nvPr/>
        </p:nvSpPr>
        <p:spPr>
          <a:xfrm>
            <a:off x="2148840" y="3758184"/>
            <a:ext cx="3840480" cy="749808"/>
          </a:xfrm>
          <a:prstGeom prst="rect">
            <a:avLst/>
          </a:prstGeom>
          <a:noFill/>
          <a:ln/>
        </p:spPr>
        <p:txBody>
          <a:bodyPr wrap="square" lIns="0" tIns="0" rIns="0" bIns="0" rtlCol="0" anchor="ctr"/>
          <a:lstStyle/>
          <a:p>
            <a:pPr indent="0" marL="0">
              <a:buNone/>
            </a:pPr>
            <a:r>
              <a:rPr lang="en-US" sz="1400" dirty="0">
                <a:solidFill>
                  <a:schemeClr val="tx1"/>
                </a:solidFill>
              </a:rPr>
              <a:t>Low-confidence boxes matched to leftover tracks: keeps occluded cars</a:t>
            </a:r>
            <a:endParaRPr lang="en-US" sz="1400" dirty="0"/>
          </a:p>
        </p:txBody>
      </p:sp>
      <p:sp>
        <p:nvSpPr>
          <p:cNvPr id="23" name="step"/>
          <p:cNvSpPr/>
          <p:nvPr/>
        </p:nvSpPr>
        <p:spPr>
          <a:xfrm>
            <a:off x="548640" y="4745736"/>
            <a:ext cx="1417320" cy="749808"/>
          </a:xfrm>
          <a:prstGeom prst="roundRect">
            <a:avLst>
              <a:gd name="adj" fmla="val 9756"/>
            </a:avLst>
          </a:prstGeom>
          <a:solidFill>
            <a:schemeClr val="tx2"/>
          </a:solidFill>
          <a:ln/>
        </p:spPr>
      </p:sp>
      <p:sp>
        <p:nvSpPr>
          <p:cNvPr id="24" name="Text 22"/>
          <p:cNvSpPr txBox="1"/>
          <p:nvPr/>
        </p:nvSpPr>
        <p:spPr>
          <a:xfrm>
            <a:off x="548640" y="4745736"/>
            <a:ext cx="1417320" cy="749808"/>
          </a:xfrm>
          <a:prstGeom prst="rect">
            <a:avLst/>
          </a:prstGeom>
          <a:noFill/>
          <a:ln/>
        </p:spPr>
        <p:txBody>
          <a:bodyPr wrap="square" lIns="0" tIns="0" rIns="0" bIns="0" rtlCol="0" anchor="ctr"/>
          <a:lstStyle/>
          <a:p>
            <a:pPr algn="ctr" indent="0" marL="0">
              <a:buNone/>
            </a:pPr>
            <a:r>
              <a:rPr lang="en-US" sz="1500" b="1" dirty="0">
                <a:solidFill>
                  <a:schemeClr val="bg1"/>
                </a:solidFill>
              </a:rPr>
              <a:t>Update</a:t>
            </a:r>
            <a:endParaRPr lang="en-US" sz="1500" dirty="0"/>
          </a:p>
        </p:txBody>
      </p:sp>
      <p:sp>
        <p:nvSpPr>
          <p:cNvPr id="25" name="Text 23"/>
          <p:cNvSpPr txBox="1"/>
          <p:nvPr/>
        </p:nvSpPr>
        <p:spPr>
          <a:xfrm>
            <a:off x="2148840" y="4745736"/>
            <a:ext cx="3840480" cy="749808"/>
          </a:xfrm>
          <a:prstGeom prst="rect">
            <a:avLst/>
          </a:prstGeom>
          <a:noFill/>
          <a:ln/>
        </p:spPr>
        <p:txBody>
          <a:bodyPr wrap="square" lIns="0" tIns="0" rIns="0" bIns="0" rtlCol="0" anchor="ctr"/>
          <a:lstStyle/>
          <a:p>
            <a:pPr indent="0" marL="0">
              <a:buNone/>
            </a:pPr>
            <a:r>
              <a:rPr lang="en-US" sz="1400" dirty="0">
                <a:solidFill>
                  <a:schemeClr val="tx1"/>
                </a:solidFill>
              </a:rPr>
              <a:t>Unmatched boxes → new IDs; tracks lost ~1 s → deleted</a:t>
            </a:r>
            <a:endParaRPr lang="en-US" sz="1400" dirty="0"/>
          </a:p>
        </p:txBody>
      </p:sp>
      <p:sp>
        <p:nvSpPr>
          <p:cNvPr id="26" name="Text 24"/>
          <p:cNvSpPr txBox="1"/>
          <p:nvPr/>
        </p:nvSpPr>
        <p:spPr>
          <a:xfrm>
            <a:off x="548640" y="5715000"/>
            <a:ext cx="3657600" cy="274320"/>
          </a:xfrm>
          <a:prstGeom prst="rect">
            <a:avLst/>
          </a:prstGeom>
          <a:noFill/>
          <a:ln/>
        </p:spPr>
        <p:txBody>
          <a:bodyPr wrap="square" lIns="0" tIns="0" rIns="0" bIns="0" rtlCol="0" anchor="t"/>
          <a:lstStyle/>
          <a:p>
            <a:pPr indent="0" marL="0">
              <a:buNone/>
            </a:pPr>
            <a:r>
              <a:rPr lang="en-US" sz="1200" dirty="0">
                <a:solidFill>
                  <a:schemeClr val="accent5"/>
                </a:solidFill>
              </a:rPr>
              <a:t>↻ repeats every frame</a:t>
            </a:r>
            <a:endParaRPr lang="en-US" sz="1200" dirty="0"/>
          </a:p>
        </p:txBody>
      </p:sp>
      <p:sp>
        <p:nvSpPr>
          <p:cNvPr id="27" name="img-placeholder"/>
          <p:cNvSpPr/>
          <p:nvPr/>
        </p:nvSpPr>
        <p:spPr>
          <a:xfrm>
            <a:off x="6172200" y="1783080"/>
            <a:ext cx="5470855" cy="3246120"/>
          </a:xfrm>
          <a:prstGeom prst="rect">
            <a:avLst/>
          </a:prstGeom>
          <a:solidFill>
            <a:schemeClr val="bg2"/>
          </a:solidFill>
          <a:ln w="12700">
            <a:solidFill>
              <a:schemeClr val="accent5"/>
            </a:solidFill>
            <a:prstDash val="dash"/>
          </a:ln>
        </p:spPr>
      </p:sp>
      <p:sp>
        <p:nvSpPr>
          <p:cNvPr id="28" name="Text 26"/>
          <p:cNvSpPr txBox="1"/>
          <p:nvPr/>
        </p:nvSpPr>
        <p:spPr>
          <a:xfrm>
            <a:off x="6172200" y="1783080"/>
            <a:ext cx="5470855" cy="3246120"/>
          </a:xfrm>
          <a:prstGeom prst="rect">
            <a:avLst/>
          </a:prstGeom>
          <a:noFill/>
          <a:ln/>
        </p:spPr>
        <p:txBody>
          <a:bodyPr wrap="square" rtlCol="0" anchor="ctr"/>
          <a:lstStyle/>
          <a:p>
            <a:pPr algn="ctr" indent="0" marL="0">
              <a:buNone/>
            </a:pPr>
            <a:r>
              <a:rPr lang="en-US" sz="1200" dirty="0">
                <a:solidFill>
                  <a:schemeClr val="accent4"/>
                </a:solidFill>
              </a:rPr>
              <a:t>[ image: tracking_preview.gif ]</a:t>
            </a:r>
            <a:endParaRPr lang="en-US" sz="1200" dirty="0"/>
          </a:p>
        </p:txBody>
      </p:sp>
      <p:sp>
        <p:nvSpPr>
          <p:cNvPr id="29" name="card"/>
          <p:cNvSpPr/>
          <p:nvPr/>
        </p:nvSpPr>
        <p:spPr>
          <a:xfrm>
            <a:off x="6172200" y="5166360"/>
            <a:ext cx="1732178" cy="777240"/>
          </a:xfrm>
          <a:prstGeom prst="roundRect">
            <a:avLst>
              <a:gd name="adj" fmla="val 9412"/>
            </a:avLst>
          </a:prstGeom>
          <a:solidFill>
            <a:schemeClr val="bg2"/>
          </a:solidFill>
          <a:ln/>
        </p:spPr>
      </p:sp>
      <p:sp>
        <p:nvSpPr>
          <p:cNvPr id="30" name="Text 28"/>
          <p:cNvSpPr txBox="1"/>
          <p:nvPr/>
        </p:nvSpPr>
        <p:spPr>
          <a:xfrm>
            <a:off x="6172200" y="5193792"/>
            <a:ext cx="1732178" cy="411480"/>
          </a:xfrm>
          <a:prstGeom prst="rect">
            <a:avLst/>
          </a:prstGeom>
          <a:noFill/>
          <a:ln/>
        </p:spPr>
        <p:txBody>
          <a:bodyPr wrap="square" lIns="0" tIns="0" rIns="0" bIns="0" rtlCol="0" anchor="ctr"/>
          <a:lstStyle/>
          <a:p>
            <a:pPr algn="ctr" indent="0" marL="0">
              <a:buNone/>
            </a:pPr>
            <a:r>
              <a:rPr lang="en-US" sz="2000" b="1" dirty="0">
                <a:solidFill>
                  <a:schemeClr val="tx2"/>
                </a:solidFill>
              </a:rPr>
              <a:t>80.3</a:t>
            </a:r>
            <a:endParaRPr lang="en-US" sz="2000" dirty="0"/>
          </a:p>
        </p:txBody>
      </p:sp>
      <p:sp>
        <p:nvSpPr>
          <p:cNvPr id="31" name="Text 29"/>
          <p:cNvSpPr txBox="1"/>
          <p:nvPr/>
        </p:nvSpPr>
        <p:spPr>
          <a:xfrm>
            <a:off x="6172200" y="5596128"/>
            <a:ext cx="1732178" cy="274320"/>
          </a:xfrm>
          <a:prstGeom prst="rect">
            <a:avLst/>
          </a:prstGeom>
          <a:noFill/>
          <a:ln/>
        </p:spPr>
        <p:txBody>
          <a:bodyPr wrap="square" lIns="0" tIns="0" rIns="0" bIns="0" rtlCol="0" anchor="t"/>
          <a:lstStyle/>
          <a:p>
            <a:pPr algn="ctr" indent="0" marL="0">
              <a:buNone/>
            </a:pPr>
            <a:r>
              <a:rPr lang="en-US" sz="1200" dirty="0">
                <a:solidFill>
                  <a:schemeClr val="accent4"/>
                </a:solidFill>
              </a:rPr>
              <a:t>MOTA</a:t>
            </a:r>
            <a:endParaRPr lang="en-US" sz="1200" dirty="0"/>
          </a:p>
        </p:txBody>
      </p:sp>
      <p:sp>
        <p:nvSpPr>
          <p:cNvPr id="32" name="card"/>
          <p:cNvSpPr/>
          <p:nvPr/>
        </p:nvSpPr>
        <p:spPr>
          <a:xfrm>
            <a:off x="8041538" y="5166360"/>
            <a:ext cx="1732178" cy="777240"/>
          </a:xfrm>
          <a:prstGeom prst="roundRect">
            <a:avLst>
              <a:gd name="adj" fmla="val 9412"/>
            </a:avLst>
          </a:prstGeom>
          <a:solidFill>
            <a:schemeClr val="bg2"/>
          </a:solidFill>
          <a:ln/>
        </p:spPr>
      </p:sp>
      <p:sp>
        <p:nvSpPr>
          <p:cNvPr id="33" name="Text 31"/>
          <p:cNvSpPr txBox="1"/>
          <p:nvPr/>
        </p:nvSpPr>
        <p:spPr>
          <a:xfrm>
            <a:off x="8041538" y="5193792"/>
            <a:ext cx="1732178" cy="411480"/>
          </a:xfrm>
          <a:prstGeom prst="rect">
            <a:avLst/>
          </a:prstGeom>
          <a:noFill/>
          <a:ln/>
        </p:spPr>
        <p:txBody>
          <a:bodyPr wrap="square" lIns="0" tIns="0" rIns="0" bIns="0" rtlCol="0" anchor="ctr"/>
          <a:lstStyle/>
          <a:p>
            <a:pPr algn="ctr" indent="0" marL="0">
              <a:buNone/>
            </a:pPr>
            <a:r>
              <a:rPr lang="en-US" sz="2000" b="1" dirty="0">
                <a:solidFill>
                  <a:schemeClr val="tx2"/>
                </a:solidFill>
              </a:rPr>
              <a:t>77.3</a:t>
            </a:r>
            <a:endParaRPr lang="en-US" sz="2000" dirty="0"/>
          </a:p>
        </p:txBody>
      </p:sp>
      <p:sp>
        <p:nvSpPr>
          <p:cNvPr id="34" name="Text 32"/>
          <p:cNvSpPr txBox="1"/>
          <p:nvPr/>
        </p:nvSpPr>
        <p:spPr>
          <a:xfrm>
            <a:off x="8041538" y="5596128"/>
            <a:ext cx="1732178" cy="274320"/>
          </a:xfrm>
          <a:prstGeom prst="rect">
            <a:avLst/>
          </a:prstGeom>
          <a:noFill/>
          <a:ln/>
        </p:spPr>
        <p:txBody>
          <a:bodyPr wrap="square" lIns="0" tIns="0" rIns="0" bIns="0" rtlCol="0" anchor="t"/>
          <a:lstStyle/>
          <a:p>
            <a:pPr algn="ctr" indent="0" marL="0">
              <a:buNone/>
            </a:pPr>
            <a:r>
              <a:rPr lang="en-US" sz="1200" dirty="0">
                <a:solidFill>
                  <a:schemeClr val="accent4"/>
                </a:solidFill>
              </a:rPr>
              <a:t>IDF1</a:t>
            </a:r>
            <a:endParaRPr lang="en-US" sz="1200" dirty="0"/>
          </a:p>
        </p:txBody>
      </p:sp>
      <p:sp>
        <p:nvSpPr>
          <p:cNvPr id="35" name="card"/>
          <p:cNvSpPr/>
          <p:nvPr/>
        </p:nvSpPr>
        <p:spPr>
          <a:xfrm>
            <a:off x="9910877" y="5166360"/>
            <a:ext cx="1732178" cy="777240"/>
          </a:xfrm>
          <a:prstGeom prst="roundRect">
            <a:avLst>
              <a:gd name="adj" fmla="val 9412"/>
            </a:avLst>
          </a:prstGeom>
          <a:solidFill>
            <a:schemeClr val="bg2"/>
          </a:solidFill>
          <a:ln/>
        </p:spPr>
      </p:sp>
      <p:sp>
        <p:nvSpPr>
          <p:cNvPr id="36" name="Text 34"/>
          <p:cNvSpPr txBox="1"/>
          <p:nvPr/>
        </p:nvSpPr>
        <p:spPr>
          <a:xfrm>
            <a:off x="9910877" y="5193792"/>
            <a:ext cx="1732178" cy="411480"/>
          </a:xfrm>
          <a:prstGeom prst="rect">
            <a:avLst/>
          </a:prstGeom>
          <a:noFill/>
          <a:ln/>
        </p:spPr>
        <p:txBody>
          <a:bodyPr wrap="square" lIns="0" tIns="0" rIns="0" bIns="0" rtlCol="0" anchor="ctr"/>
          <a:lstStyle/>
          <a:p>
            <a:pPr algn="ctr" indent="0" marL="0">
              <a:buNone/>
            </a:pPr>
            <a:r>
              <a:rPr lang="en-US" sz="2000" b="1" dirty="0">
                <a:solidFill>
                  <a:schemeClr val="tx2"/>
                </a:solidFill>
              </a:rPr>
              <a:t>30 FPS</a:t>
            </a:r>
            <a:endParaRPr lang="en-US" sz="2000" dirty="0"/>
          </a:p>
        </p:txBody>
      </p:sp>
      <p:sp>
        <p:nvSpPr>
          <p:cNvPr id="37" name="Text 35"/>
          <p:cNvSpPr txBox="1"/>
          <p:nvPr/>
        </p:nvSpPr>
        <p:spPr>
          <a:xfrm>
            <a:off x="9910877" y="5596128"/>
            <a:ext cx="1732178" cy="274320"/>
          </a:xfrm>
          <a:prstGeom prst="rect">
            <a:avLst/>
          </a:prstGeom>
          <a:noFill/>
          <a:ln/>
        </p:spPr>
        <p:txBody>
          <a:bodyPr wrap="square" lIns="0" tIns="0" rIns="0" bIns="0" rtlCol="0" anchor="t"/>
          <a:lstStyle/>
          <a:p>
            <a:pPr algn="ctr" indent="0" marL="0">
              <a:buNone/>
            </a:pPr>
            <a:r>
              <a:rPr lang="en-US" sz="1200" dirty="0">
                <a:solidFill>
                  <a:schemeClr val="accent4"/>
                </a:solidFill>
              </a:rPr>
              <a:t>on MOT17</a:t>
            </a:r>
            <a:endParaRPr lang="en-US" sz="12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CAMERA GEOMETRY</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A homography turns pixels into metres</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bg2"/>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accent1"/>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img-placeholder"/>
          <p:cNvSpPr/>
          <p:nvPr/>
        </p:nvSpPr>
        <p:spPr>
          <a:xfrm>
            <a:off x="548640" y="1737360"/>
            <a:ext cx="4572000" cy="3017520"/>
          </a:xfrm>
          <a:prstGeom prst="rect">
            <a:avLst/>
          </a:prstGeom>
          <a:solidFill>
            <a:schemeClr val="bg2"/>
          </a:solidFill>
          <a:ln w="12700">
            <a:solidFill>
              <a:schemeClr val="accent5"/>
            </a:solidFill>
            <a:prstDash val="dash"/>
          </a:ln>
        </p:spPr>
      </p:sp>
      <p:sp>
        <p:nvSpPr>
          <p:cNvPr id="15" name="Text 13"/>
          <p:cNvSpPr txBox="1"/>
          <p:nvPr/>
        </p:nvSpPr>
        <p:spPr>
          <a:xfrm>
            <a:off x="548640" y="1737360"/>
            <a:ext cx="4572000" cy="3017520"/>
          </a:xfrm>
          <a:prstGeom prst="rect">
            <a:avLst/>
          </a:prstGeom>
          <a:noFill/>
          <a:ln/>
        </p:spPr>
        <p:txBody>
          <a:bodyPr wrap="square" rtlCol="0" anchor="ctr"/>
          <a:lstStyle/>
          <a:p>
            <a:pPr algn="ctr" indent="0" marL="0">
              <a:buNone/>
            </a:pPr>
            <a:r>
              <a:rPr lang="en-US" sz="1200" dirty="0">
                <a:solidFill>
                  <a:schemeClr val="accent4"/>
                </a:solidFill>
              </a:rPr>
              <a:t>[ image: homography_before.png ]</a:t>
            </a:r>
            <a:endParaRPr lang="en-US" sz="1200" dirty="0"/>
          </a:p>
        </p:txBody>
      </p:sp>
      <p:sp>
        <p:nvSpPr>
          <p:cNvPr id="16" name="img-placeholder"/>
          <p:cNvSpPr/>
          <p:nvPr/>
        </p:nvSpPr>
        <p:spPr>
          <a:xfrm>
            <a:off x="5852160" y="1737360"/>
            <a:ext cx="2377440" cy="3017520"/>
          </a:xfrm>
          <a:prstGeom prst="rect">
            <a:avLst/>
          </a:prstGeom>
          <a:solidFill>
            <a:schemeClr val="bg2"/>
          </a:solidFill>
          <a:ln w="12700">
            <a:solidFill>
              <a:schemeClr val="accent5"/>
            </a:solidFill>
            <a:prstDash val="dash"/>
          </a:ln>
        </p:spPr>
      </p:sp>
      <p:sp>
        <p:nvSpPr>
          <p:cNvPr id="17" name="Text 15"/>
          <p:cNvSpPr txBox="1"/>
          <p:nvPr/>
        </p:nvSpPr>
        <p:spPr>
          <a:xfrm>
            <a:off x="5852160" y="1737360"/>
            <a:ext cx="2377440" cy="3017520"/>
          </a:xfrm>
          <a:prstGeom prst="rect">
            <a:avLst/>
          </a:prstGeom>
          <a:noFill/>
          <a:ln/>
        </p:spPr>
        <p:txBody>
          <a:bodyPr wrap="square" rtlCol="0" anchor="ctr"/>
          <a:lstStyle/>
          <a:p>
            <a:pPr algn="ctr" indent="0" marL="0">
              <a:buNone/>
            </a:pPr>
            <a:r>
              <a:rPr lang="en-US" sz="1200" dirty="0">
                <a:solidFill>
                  <a:schemeClr val="accent4"/>
                </a:solidFill>
              </a:rPr>
              <a:t>[ image: homography_after.png ]</a:t>
            </a:r>
            <a:endParaRPr lang="en-US" sz="1200" dirty="0"/>
          </a:p>
        </p:txBody>
      </p:sp>
      <p:pic>
        <p:nvPicPr>
          <p:cNvPr id="18" name="Image 0" descr="warp arrow">    </p:cNvPr>
          <p:cNvPicPr>
            <a:picLocks noChangeAspect="1"/>
          </p:cNvPicPr>
          <p:nvPr/>
        </p:nvPicPr>
        <p:blipFill>
          <a:blip r:embed="rId1"/>
          <a:stretch>
            <a:fillRect/>
          </a:stretch>
        </p:blipFill>
        <p:spPr>
          <a:xfrm>
            <a:off x="5303520" y="2971800"/>
            <a:ext cx="411480" cy="411480"/>
          </a:xfrm>
          <a:prstGeom prst="rect">
            <a:avLst/>
          </a:prstGeom>
        </p:spPr>
      </p:pic>
      <p:sp>
        <p:nvSpPr>
          <p:cNvPr id="19" name="Text 16"/>
          <p:cNvSpPr txBox="1"/>
          <p:nvPr/>
        </p:nvSpPr>
        <p:spPr>
          <a:xfrm>
            <a:off x="548640" y="4846320"/>
            <a:ext cx="4572000" cy="274320"/>
          </a:xfrm>
          <a:prstGeom prst="rect">
            <a:avLst/>
          </a:prstGeom>
          <a:noFill/>
          <a:ln/>
        </p:spPr>
        <p:txBody>
          <a:bodyPr wrap="square" lIns="0" tIns="0" rIns="0" bIns="0" rtlCol="0" anchor="t"/>
          <a:lstStyle/>
          <a:p>
            <a:pPr indent="0" marL="0">
              <a:buNone/>
            </a:pPr>
            <a:r>
              <a:rPr lang="en-US" sz="1200" dirty="0">
                <a:solidFill>
                  <a:schemeClr val="accent4"/>
                </a:solidFill>
              </a:rPr>
              <a:t>Camera view: 4 points on the road</a:t>
            </a:r>
            <a:endParaRPr lang="en-US" sz="1200" dirty="0"/>
          </a:p>
        </p:txBody>
      </p:sp>
      <p:sp>
        <p:nvSpPr>
          <p:cNvPr id="20" name="Text 17"/>
          <p:cNvSpPr txBox="1"/>
          <p:nvPr/>
        </p:nvSpPr>
        <p:spPr>
          <a:xfrm>
            <a:off x="5852160" y="4846320"/>
            <a:ext cx="2560320" cy="274320"/>
          </a:xfrm>
          <a:prstGeom prst="rect">
            <a:avLst/>
          </a:prstGeom>
          <a:noFill/>
          <a:ln/>
        </p:spPr>
        <p:txBody>
          <a:bodyPr wrap="square" lIns="0" tIns="0" rIns="0" bIns="0" rtlCol="0" anchor="t"/>
          <a:lstStyle/>
          <a:p>
            <a:pPr indent="0" marL="0">
              <a:buNone/>
            </a:pPr>
            <a:r>
              <a:rPr lang="en-US" sz="1200" dirty="0">
                <a:solidFill>
                  <a:schemeClr val="accent4"/>
                </a:solidFill>
              </a:rPr>
              <a:t>Bird's-eye view (metres)</a:t>
            </a:r>
            <a:endParaRPr lang="en-US" sz="1200" dirty="0"/>
          </a:p>
        </p:txBody>
      </p:sp>
      <p:sp>
        <p:nvSpPr>
          <p:cNvPr id="21" name="Text 18"/>
          <p:cNvSpPr txBox="1"/>
          <p:nvPr/>
        </p:nvSpPr>
        <p:spPr>
          <a:xfrm>
            <a:off x="8549640" y="1783080"/>
            <a:ext cx="3093415" cy="320040"/>
          </a:xfrm>
          <a:prstGeom prst="rect">
            <a:avLst/>
          </a:prstGeom>
          <a:noFill/>
          <a:ln/>
        </p:spPr>
        <p:txBody>
          <a:bodyPr wrap="square" lIns="0" tIns="0" rIns="0" bIns="0" rtlCol="0" anchor="t"/>
          <a:lstStyle/>
          <a:p>
            <a:pPr indent="0" marL="0">
              <a:buNone/>
            </a:pPr>
            <a:r>
              <a:rPr lang="en-US" sz="1600" b="1" dirty="0">
                <a:solidFill>
                  <a:schemeClr val="tx2"/>
                </a:solidFill>
              </a:rPr>
              <a:t>The problem</a:t>
            </a:r>
            <a:endParaRPr lang="en-US" sz="1600" dirty="0"/>
          </a:p>
        </p:txBody>
      </p:sp>
      <p:sp>
        <p:nvSpPr>
          <p:cNvPr id="22" name="Text 19"/>
          <p:cNvSpPr txBox="1"/>
          <p:nvPr/>
        </p:nvSpPr>
        <p:spPr>
          <a:xfrm>
            <a:off x="8549640" y="2103120"/>
            <a:ext cx="3093415" cy="868680"/>
          </a:xfrm>
          <a:prstGeom prst="rect">
            <a:avLst/>
          </a:prstGeom>
          <a:noFill/>
          <a:ln/>
        </p:spPr>
        <p:txBody>
          <a:bodyPr wrap="square" lIns="0" tIns="0" rIns="0" bIns="0" rtlCol="0" anchor="t"/>
          <a:lstStyle/>
          <a:p>
            <a:pPr indent="0" marL="0">
              <a:buNone/>
            </a:pPr>
            <a:r>
              <a:rPr lang="en-US" sz="1400" dirty="0">
                <a:solidFill>
                  <a:schemeClr val="accent4"/>
                </a:solidFill>
              </a:rPr>
              <a:t>Perspective shrinks distance: 1 m near the camera spans many more pixels than 1 m far away.</a:t>
            </a:r>
            <a:endParaRPr lang="en-US" sz="1400" dirty="0"/>
          </a:p>
        </p:txBody>
      </p:sp>
      <p:sp>
        <p:nvSpPr>
          <p:cNvPr id="23" name="Text 20"/>
          <p:cNvSpPr txBox="1"/>
          <p:nvPr/>
        </p:nvSpPr>
        <p:spPr>
          <a:xfrm>
            <a:off x="8549640" y="3063240"/>
            <a:ext cx="3093415" cy="320040"/>
          </a:xfrm>
          <a:prstGeom prst="rect">
            <a:avLst/>
          </a:prstGeom>
          <a:noFill/>
          <a:ln/>
        </p:spPr>
        <p:txBody>
          <a:bodyPr wrap="square" lIns="0" tIns="0" rIns="0" bIns="0" rtlCol="0" anchor="t"/>
          <a:lstStyle/>
          <a:p>
            <a:pPr indent="0" marL="0">
              <a:buNone/>
            </a:pPr>
            <a:r>
              <a:rPr lang="en-US" sz="1600" b="1" dirty="0">
                <a:solidFill>
                  <a:schemeClr val="tx2"/>
                </a:solidFill>
              </a:rPr>
              <a:t>The fix</a:t>
            </a:r>
            <a:endParaRPr lang="en-US" sz="1600" dirty="0"/>
          </a:p>
        </p:txBody>
      </p:sp>
      <p:sp>
        <p:nvSpPr>
          <p:cNvPr id="24" name="Text 21"/>
          <p:cNvSpPr txBox="1"/>
          <p:nvPr/>
        </p:nvSpPr>
        <p:spPr>
          <a:xfrm>
            <a:off x="8549640" y="3383280"/>
            <a:ext cx="3093415" cy="868680"/>
          </a:xfrm>
          <a:prstGeom prst="rect">
            <a:avLst/>
          </a:prstGeom>
          <a:noFill/>
          <a:ln/>
        </p:spPr>
        <p:txBody>
          <a:bodyPr wrap="square" lIns="0" tIns="0" rIns="0" bIns="0" rtlCol="0" anchor="t"/>
          <a:lstStyle/>
          <a:p>
            <a:pPr indent="0" marL="0">
              <a:buNone/>
            </a:pPr>
            <a:r>
              <a:rPr lang="en-US" sz="1400" dirty="0">
                <a:solidFill>
                  <a:schemeClr val="accent4"/>
                </a:solidFill>
              </a:rPr>
              <a:t>Map 4 road points to a rectangle of known size. 4 point pairs → 8 equations → the 3×3 matrix H.</a:t>
            </a:r>
            <a:endParaRPr lang="en-US" sz="1400" dirty="0"/>
          </a:p>
        </p:txBody>
      </p:sp>
      <p:sp>
        <p:nvSpPr>
          <p:cNvPr id="25" name="card"/>
          <p:cNvSpPr/>
          <p:nvPr/>
        </p:nvSpPr>
        <p:spPr>
          <a:xfrm>
            <a:off x="8549640" y="4389120"/>
            <a:ext cx="3093415" cy="685800"/>
          </a:xfrm>
          <a:prstGeom prst="roundRect">
            <a:avLst>
              <a:gd name="adj" fmla="val 10667"/>
            </a:avLst>
          </a:prstGeom>
          <a:solidFill>
            <a:srgbClr val="FEF0C7"/>
          </a:solidFill>
          <a:ln/>
        </p:spPr>
      </p:sp>
      <p:sp>
        <p:nvSpPr>
          <p:cNvPr id="26" name="Text 23"/>
          <p:cNvSpPr txBox="1"/>
          <p:nvPr/>
        </p:nvSpPr>
        <p:spPr>
          <a:xfrm>
            <a:off x="8549640" y="4389120"/>
            <a:ext cx="3093415" cy="685800"/>
          </a:xfrm>
          <a:prstGeom prst="rect">
            <a:avLst/>
          </a:prstGeom>
          <a:noFill/>
          <a:ln/>
        </p:spPr>
        <p:txBody>
          <a:bodyPr wrap="square" lIns="0" tIns="0" rIns="0" bIns="0" rtlCol="0" anchor="ctr"/>
          <a:lstStyle/>
          <a:p>
            <a:pPr algn="ctr" indent="0" marL="0">
              <a:buNone/>
            </a:pPr>
            <a:r>
              <a:rPr lang="en-US" sz="2000" b="1" dirty="0">
                <a:solidFill>
                  <a:schemeClr val="tx1"/>
                </a:solidFill>
              </a:rPr>
              <a:t>p′ ∝ H · p</a:t>
            </a:r>
            <a:endParaRPr lang="en-US" sz="1600" dirty="0"/>
          </a:p>
          <a:p>
            <a:pPr algn="ctr" indent="0" marL="0">
              <a:buNone/>
            </a:pPr>
            <a:r>
              <a:rPr lang="en-US" sz="1200" dirty="0">
                <a:solidFill>
                  <a:schemeClr val="accent4"/>
                </a:solidFill>
              </a:rPr>
              <a:t>p = [x, y, 1]ᵀ  (homogeneous)</a:t>
            </a:r>
            <a:endParaRPr lang="en-US" sz="1600" dirty="0"/>
          </a:p>
        </p:txBody>
      </p:sp>
      <p:sp>
        <p:nvSpPr>
          <p:cNvPr id="27" name="Text 24"/>
          <p:cNvSpPr txBox="1"/>
          <p:nvPr/>
        </p:nvSpPr>
        <p:spPr>
          <a:xfrm>
            <a:off x="548640" y="5349240"/>
            <a:ext cx="11094415" cy="548640"/>
          </a:xfrm>
          <a:prstGeom prst="rect">
            <a:avLst/>
          </a:prstGeom>
          <a:noFill/>
          <a:ln/>
        </p:spPr>
        <p:txBody>
          <a:bodyPr wrap="square" lIns="0" tIns="0" rIns="0" bIns="0" rtlCol="0" anchor="t"/>
          <a:lstStyle/>
          <a:p>
            <a:pPr indent="0" marL="0">
              <a:buNone/>
            </a:pPr>
            <a:r>
              <a:rPr lang="en-US" sz="1300" dirty="0">
                <a:solidFill>
                  <a:schemeClr val="accent4"/>
                </a:solidFill>
              </a:rPr>
              <a:t>Zone calibrated from lane markings (assumed lane width).</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SPEED ESTIMATION</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Speed is metres travelled per second of video</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bg2"/>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accent1"/>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card"/>
          <p:cNvSpPr/>
          <p:nvPr/>
        </p:nvSpPr>
        <p:spPr>
          <a:xfrm>
            <a:off x="548640" y="1737360"/>
            <a:ext cx="11094415" cy="1051560"/>
          </a:xfrm>
          <a:prstGeom prst="roundRect">
            <a:avLst>
              <a:gd name="adj" fmla="val 6957"/>
            </a:avLst>
          </a:prstGeom>
          <a:solidFill>
            <a:schemeClr val="tx2"/>
          </a:solidFill>
          <a:ln/>
        </p:spPr>
      </p:sp>
      <p:sp>
        <p:nvSpPr>
          <p:cNvPr id="15" name="Text 13"/>
          <p:cNvSpPr txBox="1"/>
          <p:nvPr/>
        </p:nvSpPr>
        <p:spPr>
          <a:xfrm>
            <a:off x="914400" y="1737360"/>
            <a:ext cx="6400800" cy="1051560"/>
          </a:xfrm>
          <a:prstGeom prst="rect">
            <a:avLst/>
          </a:prstGeom>
          <a:noFill/>
          <a:ln/>
        </p:spPr>
        <p:txBody>
          <a:bodyPr wrap="square" lIns="0" tIns="0" rIns="0" bIns="0" rtlCol="0" anchor="ctr"/>
          <a:lstStyle/>
          <a:p>
            <a:pPr indent="0" marL="0">
              <a:buNone/>
            </a:pPr>
            <a:r>
              <a:rPr lang="en-US" sz="3000" b="1" dirty="0">
                <a:solidFill>
                  <a:schemeClr val="bg1"/>
                </a:solidFill>
              </a:rPr>
              <a:t>v  =  </a:t>
            </a:r>
            <a:pPr indent="0" marL="0">
              <a:buNone/>
            </a:pPr>
            <a:r>
              <a:rPr lang="en-US" sz="3000" b="1" dirty="0">
                <a:solidFill>
                  <a:schemeClr val="accent1"/>
                </a:solidFill>
              </a:rPr>
              <a:t>|Δy|</a:t>
            </a:r>
            <a:pPr indent="0" marL="0">
              <a:buNone/>
            </a:pPr>
            <a:r>
              <a:rPr lang="en-US" sz="3000" b="1" dirty="0">
                <a:solidFill>
                  <a:schemeClr val="bg1"/>
                </a:solidFill>
              </a:rPr>
              <a:t>  ÷  </a:t>
            </a:r>
            <a:pPr indent="0" marL="0">
              <a:buNone/>
            </a:pPr>
            <a:r>
              <a:rPr lang="en-US" sz="3000" b="1" dirty="0">
                <a:solidFill>
                  <a:schemeClr val="accent1"/>
                </a:solidFill>
              </a:rPr>
              <a:t>(N ÷ FPS)</a:t>
            </a:r>
            <a:pPr indent="0" marL="0">
              <a:buNone/>
            </a:pPr>
            <a:r>
              <a:rPr lang="en-US" sz="3000" b="1" dirty="0">
                <a:solidFill>
                  <a:schemeClr val="bg1"/>
                </a:solidFill>
              </a:rPr>
              <a:t>  ×  3.6</a:t>
            </a:r>
            <a:endParaRPr lang="en-US" sz="3000" dirty="0"/>
          </a:p>
        </p:txBody>
      </p:sp>
      <p:sp>
        <p:nvSpPr>
          <p:cNvPr id="16" name="Text 14"/>
          <p:cNvSpPr txBox="1"/>
          <p:nvPr/>
        </p:nvSpPr>
        <p:spPr>
          <a:xfrm>
            <a:off x="7498080" y="1810512"/>
            <a:ext cx="3962095" cy="914400"/>
          </a:xfrm>
          <a:prstGeom prst="rect">
            <a:avLst/>
          </a:prstGeom>
          <a:noFill/>
          <a:ln/>
        </p:spPr>
        <p:txBody>
          <a:bodyPr wrap="square" lIns="0" tIns="0" rIns="0" bIns="0" rtlCol="0" anchor="ctr"/>
          <a:lstStyle/>
          <a:p>
            <a:pPr indent="0" marL="0">
              <a:buNone/>
            </a:pPr>
            <a:r>
              <a:rPr lang="en-US" sz="1300" dirty="0">
                <a:solidFill>
                  <a:srgbClr val="D0D5DD"/>
                </a:solidFill>
              </a:rPr>
              <a:t>Δy: metres moved in the bird's-eye view</a:t>
            </a:r>
            <a:endParaRPr lang="en-US" sz="1300" dirty="0"/>
          </a:p>
          <a:p>
            <a:pPr indent="0" marL="0">
              <a:buNone/>
            </a:pPr>
            <a:r>
              <a:rPr lang="en-US" sz="1300" dirty="0">
                <a:solidFill>
                  <a:srgbClr val="D0D5DD"/>
                </a:solidFill>
              </a:rPr>
              <a:t>N: frames in the window (~1 s)</a:t>
            </a:r>
            <a:endParaRPr lang="en-US" sz="1300" dirty="0"/>
          </a:p>
          <a:p>
            <a:pPr indent="0" marL="0">
              <a:buNone/>
            </a:pPr>
            <a:r>
              <a:rPr lang="en-US" sz="1300" dirty="0">
                <a:solidFill>
                  <a:srgbClr val="D0D5DD"/>
                </a:solidFill>
              </a:rPr>
              <a:t>× 3.6: m/s → km/h</a:t>
            </a:r>
            <a:endParaRPr lang="en-US" sz="1300" dirty="0"/>
          </a:p>
        </p:txBody>
      </p:sp>
      <p:sp>
        <p:nvSpPr>
          <p:cNvPr id="17" name="Text 15"/>
          <p:cNvSpPr txBox="1"/>
          <p:nvPr/>
        </p:nvSpPr>
        <p:spPr>
          <a:xfrm>
            <a:off x="548640" y="3063240"/>
            <a:ext cx="7315200" cy="320040"/>
          </a:xfrm>
          <a:prstGeom prst="rect">
            <a:avLst/>
          </a:prstGeom>
          <a:noFill/>
          <a:ln/>
        </p:spPr>
        <p:txBody>
          <a:bodyPr wrap="square" lIns="0" tIns="0" rIns="0" bIns="0" rtlCol="0" anchor="t"/>
          <a:lstStyle/>
          <a:p>
            <a:pPr indent="0" marL="0">
              <a:buNone/>
            </a:pPr>
            <a:r>
              <a:rPr lang="en-US" sz="1600" b="1" dirty="0">
                <a:solidFill>
                  <a:schemeClr val="tx2"/>
                </a:solidFill>
              </a:rPr>
              <a:t>Worked example from our demo  ·  track #—</a:t>
            </a:r>
            <a:endParaRPr lang="en-US" sz="1600" dirty="0"/>
          </a:p>
        </p:txBody>
      </p:sp>
      <p:sp>
        <p:nvSpPr>
          <p:cNvPr id="18" name="card"/>
          <p:cNvSpPr/>
          <p:nvPr/>
        </p:nvSpPr>
        <p:spPr>
          <a:xfrm>
            <a:off x="548640" y="3520440"/>
            <a:ext cx="2430704" cy="1463040"/>
          </a:xfrm>
          <a:prstGeom prst="roundRect">
            <a:avLst>
              <a:gd name="adj" fmla="val 5000"/>
            </a:avLst>
          </a:prstGeom>
          <a:solidFill>
            <a:schemeClr val="bg2"/>
          </a:solidFill>
          <a:ln/>
        </p:spPr>
      </p:sp>
      <p:sp>
        <p:nvSpPr>
          <p:cNvPr id="19" name="Text 17"/>
          <p:cNvSpPr txBox="1"/>
          <p:nvPr/>
        </p:nvSpPr>
        <p:spPr>
          <a:xfrm>
            <a:off x="731520" y="3657600"/>
            <a:ext cx="2064944" cy="640080"/>
          </a:xfrm>
          <a:prstGeom prst="rect">
            <a:avLst/>
          </a:prstGeom>
          <a:noFill/>
          <a:ln/>
        </p:spPr>
        <p:txBody>
          <a:bodyPr wrap="square" lIns="0" tIns="0" rIns="0" bIns="0" rtlCol="0" anchor="ctr"/>
          <a:lstStyle/>
          <a:p>
            <a:pPr algn="ctr" indent="0" marL="0">
              <a:buNone/>
            </a:pPr>
            <a:r>
              <a:rPr lang="en-US" sz="2800" b="1" dirty="0">
                <a:solidFill>
                  <a:schemeClr val="tx2"/>
                </a:solidFill>
              </a:rPr>
              <a:t>— m</a:t>
            </a:r>
            <a:endParaRPr lang="en-US" sz="2800" dirty="0"/>
          </a:p>
        </p:txBody>
      </p:sp>
      <p:sp>
        <p:nvSpPr>
          <p:cNvPr id="20" name="Text 18"/>
          <p:cNvSpPr txBox="1"/>
          <p:nvPr/>
        </p:nvSpPr>
        <p:spPr>
          <a:xfrm>
            <a:off x="731520" y="4343400"/>
            <a:ext cx="2064944" cy="457200"/>
          </a:xfrm>
          <a:prstGeom prst="rect">
            <a:avLst/>
          </a:prstGeom>
          <a:noFill/>
          <a:ln/>
        </p:spPr>
        <p:txBody>
          <a:bodyPr wrap="square" lIns="0" tIns="0" rIns="0" bIns="0" rtlCol="0" anchor="t"/>
          <a:lstStyle/>
          <a:p>
            <a:pPr algn="ctr" indent="0" marL="0">
              <a:buNone/>
            </a:pPr>
            <a:r>
              <a:rPr lang="en-US" sz="1400" dirty="0">
                <a:solidFill>
                  <a:schemeClr val="accent4"/>
                </a:solidFill>
              </a:rPr>
              <a:t>distance in zone</a:t>
            </a:r>
            <a:endParaRPr lang="en-US" sz="1400" dirty="0"/>
          </a:p>
        </p:txBody>
      </p:sp>
      <p:pic>
        <p:nvPicPr>
          <p:cNvPr id="21" name="Image 0" descr="arrow">    </p:cNvPr>
          <p:cNvPicPr>
            <a:picLocks noChangeAspect="1"/>
          </p:cNvPicPr>
          <p:nvPr/>
        </p:nvPicPr>
        <p:blipFill>
          <a:blip r:embed="rId1"/>
          <a:stretch>
            <a:fillRect/>
          </a:stretch>
        </p:blipFill>
        <p:spPr>
          <a:xfrm>
            <a:off x="3070784" y="4096512"/>
            <a:ext cx="274320" cy="274320"/>
          </a:xfrm>
          <a:prstGeom prst="rect">
            <a:avLst/>
          </a:prstGeom>
        </p:spPr>
      </p:pic>
      <p:sp>
        <p:nvSpPr>
          <p:cNvPr id="22" name="card"/>
          <p:cNvSpPr/>
          <p:nvPr/>
        </p:nvSpPr>
        <p:spPr>
          <a:xfrm>
            <a:off x="3436544" y="3520440"/>
            <a:ext cx="2430704" cy="1463040"/>
          </a:xfrm>
          <a:prstGeom prst="roundRect">
            <a:avLst>
              <a:gd name="adj" fmla="val 5000"/>
            </a:avLst>
          </a:prstGeom>
          <a:solidFill>
            <a:schemeClr val="bg2"/>
          </a:solidFill>
          <a:ln/>
        </p:spPr>
      </p:sp>
      <p:sp>
        <p:nvSpPr>
          <p:cNvPr id="23" name="Text 20"/>
          <p:cNvSpPr txBox="1"/>
          <p:nvPr/>
        </p:nvSpPr>
        <p:spPr>
          <a:xfrm>
            <a:off x="3619424" y="3657600"/>
            <a:ext cx="2064944" cy="640080"/>
          </a:xfrm>
          <a:prstGeom prst="rect">
            <a:avLst/>
          </a:prstGeom>
          <a:noFill/>
          <a:ln/>
        </p:spPr>
        <p:txBody>
          <a:bodyPr wrap="square" lIns="0" tIns="0" rIns="0" bIns="0" rtlCol="0" anchor="ctr"/>
          <a:lstStyle/>
          <a:p>
            <a:pPr algn="ctr" indent="0" marL="0">
              <a:buNone/>
            </a:pPr>
            <a:r>
              <a:rPr lang="en-US" sz="2800" b="1" dirty="0">
                <a:solidFill>
                  <a:schemeClr val="tx2"/>
                </a:solidFill>
              </a:rPr>
              <a:t>— frames</a:t>
            </a:r>
            <a:endParaRPr lang="en-US" sz="2800" dirty="0"/>
          </a:p>
        </p:txBody>
      </p:sp>
      <p:sp>
        <p:nvSpPr>
          <p:cNvPr id="24" name="Text 21"/>
          <p:cNvSpPr txBox="1"/>
          <p:nvPr/>
        </p:nvSpPr>
        <p:spPr>
          <a:xfrm>
            <a:off x="3619424" y="4343400"/>
            <a:ext cx="2064944" cy="457200"/>
          </a:xfrm>
          <a:prstGeom prst="rect">
            <a:avLst/>
          </a:prstGeom>
          <a:noFill/>
          <a:ln/>
        </p:spPr>
        <p:txBody>
          <a:bodyPr wrap="square" lIns="0" tIns="0" rIns="0" bIns="0" rtlCol="0" anchor="t"/>
          <a:lstStyle/>
          <a:p>
            <a:pPr algn="ctr" indent="0" marL="0">
              <a:buNone/>
            </a:pPr>
            <a:r>
              <a:rPr lang="en-US" sz="1400" dirty="0">
                <a:solidFill>
                  <a:schemeClr val="accent4"/>
                </a:solidFill>
              </a:rPr>
              <a:t>at — FPS = — s</a:t>
            </a:r>
            <a:endParaRPr lang="en-US" sz="1400" dirty="0"/>
          </a:p>
        </p:txBody>
      </p:sp>
      <p:pic>
        <p:nvPicPr>
          <p:cNvPr id="25" name="Image 1" descr="arrow">    </p:cNvPr>
          <p:cNvPicPr>
            <a:picLocks noChangeAspect="1"/>
          </p:cNvPicPr>
          <p:nvPr/>
        </p:nvPicPr>
        <p:blipFill>
          <a:blip r:embed="rId2"/>
          <a:stretch>
            <a:fillRect/>
          </a:stretch>
        </p:blipFill>
        <p:spPr>
          <a:xfrm>
            <a:off x="5958688" y="4096512"/>
            <a:ext cx="274320" cy="274320"/>
          </a:xfrm>
          <a:prstGeom prst="rect">
            <a:avLst/>
          </a:prstGeom>
        </p:spPr>
      </p:pic>
      <p:sp>
        <p:nvSpPr>
          <p:cNvPr id="26" name="card"/>
          <p:cNvSpPr/>
          <p:nvPr/>
        </p:nvSpPr>
        <p:spPr>
          <a:xfrm>
            <a:off x="6324448" y="3520440"/>
            <a:ext cx="2430704" cy="1463040"/>
          </a:xfrm>
          <a:prstGeom prst="roundRect">
            <a:avLst>
              <a:gd name="adj" fmla="val 5000"/>
            </a:avLst>
          </a:prstGeom>
          <a:solidFill>
            <a:schemeClr val="bg2"/>
          </a:solidFill>
          <a:ln/>
        </p:spPr>
      </p:sp>
      <p:sp>
        <p:nvSpPr>
          <p:cNvPr id="27" name="Text 23"/>
          <p:cNvSpPr txBox="1"/>
          <p:nvPr/>
        </p:nvSpPr>
        <p:spPr>
          <a:xfrm>
            <a:off x="6507328" y="3657600"/>
            <a:ext cx="2064944" cy="640080"/>
          </a:xfrm>
          <a:prstGeom prst="rect">
            <a:avLst/>
          </a:prstGeom>
          <a:noFill/>
          <a:ln/>
        </p:spPr>
        <p:txBody>
          <a:bodyPr wrap="square" lIns="0" tIns="0" rIns="0" bIns="0" rtlCol="0" anchor="ctr"/>
          <a:lstStyle/>
          <a:p>
            <a:pPr algn="ctr" indent="0" marL="0">
              <a:buNone/>
            </a:pPr>
            <a:r>
              <a:rPr lang="en-US" sz="2800" b="1" dirty="0">
                <a:solidFill>
                  <a:schemeClr val="tx2"/>
                </a:solidFill>
              </a:rPr>
              <a:t>— m/s</a:t>
            </a:r>
            <a:endParaRPr lang="en-US" sz="2800" dirty="0"/>
          </a:p>
        </p:txBody>
      </p:sp>
      <p:sp>
        <p:nvSpPr>
          <p:cNvPr id="28" name="Text 24"/>
          <p:cNvSpPr txBox="1"/>
          <p:nvPr/>
        </p:nvSpPr>
        <p:spPr>
          <a:xfrm>
            <a:off x="6507328" y="4343400"/>
            <a:ext cx="2064944" cy="457200"/>
          </a:xfrm>
          <a:prstGeom prst="rect">
            <a:avLst/>
          </a:prstGeom>
          <a:noFill/>
          <a:ln/>
        </p:spPr>
        <p:txBody>
          <a:bodyPr wrap="square" lIns="0" tIns="0" rIns="0" bIns="0" rtlCol="0" anchor="t"/>
          <a:lstStyle/>
          <a:p>
            <a:pPr algn="ctr" indent="0" marL="0">
              <a:buNone/>
            </a:pPr>
            <a:r>
              <a:rPr lang="en-US" sz="1400" dirty="0">
                <a:solidFill>
                  <a:schemeClr val="accent4"/>
                </a:solidFill>
              </a:rPr>
              <a:t>Δy ÷ time</a:t>
            </a:r>
            <a:endParaRPr lang="en-US" sz="1400" dirty="0"/>
          </a:p>
        </p:txBody>
      </p:sp>
      <p:pic>
        <p:nvPicPr>
          <p:cNvPr id="29" name="Image 2" descr="arrow">    </p:cNvPr>
          <p:cNvPicPr>
            <a:picLocks noChangeAspect="1"/>
          </p:cNvPicPr>
          <p:nvPr/>
        </p:nvPicPr>
        <p:blipFill>
          <a:blip r:embed="rId3"/>
          <a:stretch>
            <a:fillRect/>
          </a:stretch>
        </p:blipFill>
        <p:spPr>
          <a:xfrm>
            <a:off x="8846591" y="4096512"/>
            <a:ext cx="274320" cy="274320"/>
          </a:xfrm>
          <a:prstGeom prst="rect">
            <a:avLst/>
          </a:prstGeom>
        </p:spPr>
      </p:pic>
      <p:sp>
        <p:nvSpPr>
          <p:cNvPr id="30" name="card"/>
          <p:cNvSpPr/>
          <p:nvPr/>
        </p:nvSpPr>
        <p:spPr>
          <a:xfrm>
            <a:off x="9212351" y="3520440"/>
            <a:ext cx="2430704" cy="1463040"/>
          </a:xfrm>
          <a:prstGeom prst="roundRect">
            <a:avLst>
              <a:gd name="adj" fmla="val 5000"/>
            </a:avLst>
          </a:prstGeom>
          <a:solidFill>
            <a:srgbClr val="D1FADF"/>
          </a:solidFill>
          <a:ln/>
        </p:spPr>
      </p:sp>
      <p:sp>
        <p:nvSpPr>
          <p:cNvPr id="31" name="Text 26"/>
          <p:cNvSpPr txBox="1"/>
          <p:nvPr/>
        </p:nvSpPr>
        <p:spPr>
          <a:xfrm>
            <a:off x="9395231" y="3657600"/>
            <a:ext cx="2064944" cy="640080"/>
          </a:xfrm>
          <a:prstGeom prst="rect">
            <a:avLst/>
          </a:prstGeom>
          <a:noFill/>
          <a:ln/>
        </p:spPr>
        <p:txBody>
          <a:bodyPr wrap="square" lIns="0" tIns="0" rIns="0" bIns="0" rtlCol="0" anchor="ctr"/>
          <a:lstStyle/>
          <a:p>
            <a:pPr algn="ctr" indent="0" marL="0">
              <a:buNone/>
            </a:pPr>
            <a:r>
              <a:rPr lang="en-US" sz="2800" b="1" dirty="0">
                <a:solidFill>
                  <a:schemeClr val="accent3"/>
                </a:solidFill>
              </a:rPr>
              <a:t>— km/h</a:t>
            </a:r>
            <a:endParaRPr lang="en-US" sz="2800" dirty="0"/>
          </a:p>
        </p:txBody>
      </p:sp>
      <p:sp>
        <p:nvSpPr>
          <p:cNvPr id="32" name="Text 27"/>
          <p:cNvSpPr txBox="1"/>
          <p:nvPr/>
        </p:nvSpPr>
        <p:spPr>
          <a:xfrm>
            <a:off x="9395231" y="4343400"/>
            <a:ext cx="2064944" cy="457200"/>
          </a:xfrm>
          <a:prstGeom prst="rect">
            <a:avLst/>
          </a:prstGeom>
          <a:noFill/>
          <a:ln/>
        </p:spPr>
        <p:txBody>
          <a:bodyPr wrap="square" lIns="0" tIns="0" rIns="0" bIns="0" rtlCol="0" anchor="t"/>
          <a:lstStyle/>
          <a:p>
            <a:pPr algn="ctr" indent="0" marL="0">
              <a:buNone/>
            </a:pPr>
            <a:r>
              <a:rPr lang="en-US" sz="1400" dirty="0">
                <a:solidFill>
                  <a:schemeClr val="accent4"/>
                </a:solidFill>
              </a:rPr>
              <a:t>vs 60 km/h limit</a:t>
            </a:r>
            <a:endParaRPr lang="en-US" sz="1400" dirty="0"/>
          </a:p>
        </p:txBody>
      </p:sp>
      <p:sp>
        <p:nvSpPr>
          <p:cNvPr id="33" name="Text 28"/>
          <p:cNvSpPr txBox="1"/>
          <p:nvPr/>
        </p:nvSpPr>
        <p:spPr>
          <a:xfrm>
            <a:off x="548640" y="5303520"/>
            <a:ext cx="11094415" cy="548640"/>
          </a:xfrm>
          <a:prstGeom prst="rect">
            <a:avLst/>
          </a:prstGeom>
          <a:noFill/>
          <a:ln/>
        </p:spPr>
        <p:txBody>
          <a:bodyPr wrap="square" lIns="0" tIns="0" rIns="0" bIns="0" rtlCol="0" anchor="t"/>
          <a:lstStyle/>
          <a:p>
            <a:pPr indent="0" marL="0">
              <a:buNone/>
            </a:pPr>
            <a:r>
              <a:rPr lang="en-US" sz="1400" dirty="0">
                <a:solidFill>
                  <a:schemeClr val="accent4"/>
                </a:solidFill>
              </a:rPr>
              <a:t>Why a 1-second window? A single frame-to-frame step is a few cm and dominated by box jitter; averaging over ~30 frames gives a stable reading.</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ERROR ANALYSIS</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Small measurement errors become wrong fines</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bg2"/>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accent1"/>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bg2"/>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ACT</a:t>
            </a:r>
            <a:endParaRPr lang="en-US" sz="900" dirty="0"/>
          </a:p>
        </p:txBody>
      </p:sp>
      <p:sp>
        <p:nvSpPr>
          <p:cNvPr id="14" name="Text 12"/>
          <p:cNvSpPr txBox="1"/>
          <p:nvPr/>
        </p:nvSpPr>
        <p:spPr>
          <a:xfrm>
            <a:off x="548640" y="1737360"/>
            <a:ext cx="6583680" cy="320040"/>
          </a:xfrm>
          <a:prstGeom prst="rect">
            <a:avLst/>
          </a:prstGeom>
          <a:noFill/>
          <a:ln/>
        </p:spPr>
        <p:txBody>
          <a:bodyPr wrap="square" lIns="0" tIns="0" rIns="0" bIns="0" rtlCol="0" anchor="t"/>
          <a:lstStyle/>
          <a:p>
            <a:pPr indent="0" marL="0">
              <a:buNone/>
            </a:pPr>
            <a:r>
              <a:rPr lang="en-US" sz="1500" b="1" dirty="0">
                <a:solidFill>
                  <a:schemeClr val="tx2"/>
                </a:solidFill>
              </a:rPr>
              <a:t>What the system reads for a car truly doing 60 km/h</a:t>
            </a:r>
            <a:endParaRPr lang="en-US" sz="1500" dirty="0"/>
          </a:p>
        </p:txBody>
      </p:sp>
      <p:graphicFrame>
        <p:nvGraphicFramePr>
          <p:cNvPr id="15" name="Chart 0" descr=""/>
          <p:cNvGraphicFramePr/>
          <p:nvPr/>
        </p:nvGraphicFramePr>
        <p:xfrm>
          <a:off x="548640" y="2103120"/>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548640" y="5486400"/>
            <a:ext cx="6583680" cy="457200"/>
          </a:xfrm>
          <a:prstGeom prst="rect">
            <a:avLst/>
          </a:prstGeom>
          <a:noFill/>
          <a:ln/>
        </p:spPr>
        <p:txBody>
          <a:bodyPr wrap="square" lIns="0" tIns="0" rIns="0" bIns="0" rtlCol="0" anchor="t"/>
          <a:lstStyle/>
          <a:p>
            <a:pPr indent="0" marL="0">
              <a:buNone/>
            </a:pPr>
            <a:r>
              <a:rPr lang="en-US" sz="1300" dirty="0">
                <a:solidFill>
                  <a:schemeClr val="accent4"/>
                </a:solidFill>
              </a:rPr>
              <a:t>Above 60 → flagged. Every non-zero error here would fine a legal driver.</a:t>
            </a:r>
            <a:endParaRPr lang="en-US" sz="1300" dirty="0"/>
          </a:p>
        </p:txBody>
      </p:sp>
      <p:sp>
        <p:nvSpPr>
          <p:cNvPr id="17" name="Text 14"/>
          <p:cNvSpPr txBox="1"/>
          <p:nvPr/>
        </p:nvSpPr>
        <p:spPr>
          <a:xfrm>
            <a:off x="7589520" y="1737360"/>
            <a:ext cx="4053535" cy="320040"/>
          </a:xfrm>
          <a:prstGeom prst="rect">
            <a:avLst/>
          </a:prstGeom>
          <a:noFill/>
          <a:ln/>
        </p:spPr>
        <p:txBody>
          <a:bodyPr wrap="square" lIns="0" tIns="0" rIns="0" bIns="0" rtlCol="0" anchor="t"/>
          <a:lstStyle/>
          <a:p>
            <a:pPr indent="0" marL="0">
              <a:buNone/>
            </a:pPr>
            <a:r>
              <a:rPr lang="en-US" sz="1500" b="1" dirty="0">
                <a:solidFill>
                  <a:schemeClr val="tx2"/>
                </a:solidFill>
              </a:rPr>
              <a:t>Mitigations</a:t>
            </a:r>
            <a:endParaRPr lang="en-US" sz="1500" dirty="0"/>
          </a:p>
        </p:txBody>
      </p:sp>
      <p:sp>
        <p:nvSpPr>
          <p:cNvPr id="18" name="icon-bg"/>
          <p:cNvSpPr/>
          <p:nvPr/>
        </p:nvSpPr>
        <p:spPr>
          <a:xfrm>
            <a:off x="7589520" y="2194560"/>
            <a:ext cx="502920" cy="502920"/>
          </a:xfrm>
          <a:prstGeom prst="ellipse">
            <a:avLst/>
          </a:prstGeom>
          <a:solidFill>
            <a:schemeClr val="bg2"/>
          </a:solidFill>
          <a:ln/>
        </p:spPr>
      </p:sp>
      <p:pic>
        <p:nvPicPr>
          <p:cNvPr id="19" name="Image 0" descr="Ruler icon">    </p:cNvPr>
          <p:cNvPicPr>
            <a:picLocks noChangeAspect="1"/>
          </p:cNvPicPr>
          <p:nvPr/>
        </p:nvPicPr>
        <p:blipFill>
          <a:blip r:embed="rId2"/>
          <a:stretch>
            <a:fillRect/>
          </a:stretch>
        </p:blipFill>
        <p:spPr>
          <a:xfrm>
            <a:off x="7700162" y="2305202"/>
            <a:ext cx="281635" cy="281635"/>
          </a:xfrm>
          <a:prstGeom prst="rect">
            <a:avLst/>
          </a:prstGeom>
        </p:spPr>
      </p:pic>
      <p:sp>
        <p:nvSpPr>
          <p:cNvPr id="20" name="Text 16"/>
          <p:cNvSpPr txBox="1"/>
          <p:nvPr/>
        </p:nvSpPr>
        <p:spPr>
          <a:xfrm>
            <a:off x="8275320" y="2148840"/>
            <a:ext cx="3367735" cy="594360"/>
          </a:xfrm>
          <a:prstGeom prst="rect">
            <a:avLst/>
          </a:prstGeom>
          <a:noFill/>
          <a:ln/>
        </p:spPr>
        <p:txBody>
          <a:bodyPr wrap="square" lIns="0" tIns="0" rIns="0" bIns="0" rtlCol="0" anchor="ctr"/>
          <a:lstStyle/>
          <a:p>
            <a:pPr indent="0" marL="0">
              <a:buNone/>
            </a:pPr>
            <a:r>
              <a:rPr lang="en-US" sz="1400" dirty="0">
                <a:solidFill>
                  <a:schemeClr val="tx1"/>
                </a:solidFill>
              </a:rPr>
              <a:t>Survey the calibration zone on site, not from assumptions</a:t>
            </a:r>
            <a:endParaRPr lang="en-US" sz="1400" dirty="0"/>
          </a:p>
        </p:txBody>
      </p:sp>
      <p:sp>
        <p:nvSpPr>
          <p:cNvPr id="21" name="icon-bg"/>
          <p:cNvSpPr/>
          <p:nvPr/>
        </p:nvSpPr>
        <p:spPr>
          <a:xfrm>
            <a:off x="7589520" y="3063240"/>
            <a:ext cx="502920" cy="502920"/>
          </a:xfrm>
          <a:prstGeom prst="ellipse">
            <a:avLst/>
          </a:prstGeom>
          <a:solidFill>
            <a:schemeClr val="bg2"/>
          </a:solidFill>
          <a:ln/>
        </p:spPr>
      </p:sp>
      <p:pic>
        <p:nvPicPr>
          <p:cNvPr id="22" name="Image 1" descr="Timer icon">    </p:cNvPr>
          <p:cNvPicPr>
            <a:picLocks noChangeAspect="1"/>
          </p:cNvPicPr>
          <p:nvPr/>
        </p:nvPicPr>
        <p:blipFill>
          <a:blip r:embed="rId3"/>
          <a:stretch>
            <a:fillRect/>
          </a:stretch>
        </p:blipFill>
        <p:spPr>
          <a:xfrm>
            <a:off x="7700162" y="3173882"/>
            <a:ext cx="281635" cy="281635"/>
          </a:xfrm>
          <a:prstGeom prst="rect">
            <a:avLst/>
          </a:prstGeom>
        </p:spPr>
      </p:pic>
      <p:sp>
        <p:nvSpPr>
          <p:cNvPr id="23" name="Text 18"/>
          <p:cNvSpPr txBox="1"/>
          <p:nvPr/>
        </p:nvSpPr>
        <p:spPr>
          <a:xfrm>
            <a:off x="8275320" y="3017520"/>
            <a:ext cx="3367735" cy="594360"/>
          </a:xfrm>
          <a:prstGeom prst="rect">
            <a:avLst/>
          </a:prstGeom>
          <a:noFill/>
          <a:ln/>
        </p:spPr>
        <p:txBody>
          <a:bodyPr wrap="square" lIns="0" tIns="0" rIns="0" bIns="0" rtlCol="0" anchor="ctr"/>
          <a:lstStyle/>
          <a:p>
            <a:pPr indent="0" marL="0">
              <a:buNone/>
            </a:pPr>
            <a:r>
              <a:rPr lang="en-US" sz="1400" dirty="0">
                <a:solidFill>
                  <a:schemeClr val="tx1"/>
                </a:solidFill>
              </a:rPr>
              <a:t>Read real frame timestamps; never assume FPS</a:t>
            </a:r>
            <a:endParaRPr lang="en-US" sz="1400" dirty="0"/>
          </a:p>
        </p:txBody>
      </p:sp>
      <p:sp>
        <p:nvSpPr>
          <p:cNvPr id="24" name="icon-bg"/>
          <p:cNvSpPr/>
          <p:nvPr/>
        </p:nvSpPr>
        <p:spPr>
          <a:xfrm>
            <a:off x="7589520" y="3931920"/>
            <a:ext cx="502920" cy="502920"/>
          </a:xfrm>
          <a:prstGeom prst="ellipse">
            <a:avLst/>
          </a:prstGeom>
          <a:solidFill>
            <a:schemeClr val="bg2"/>
          </a:solidFill>
          <a:ln/>
        </p:spPr>
      </p:sp>
      <p:pic>
        <p:nvPicPr>
          <p:cNvPr id="25" name="Image 2" descr="Layers icon">    </p:cNvPr>
          <p:cNvPicPr>
            <a:picLocks noChangeAspect="1"/>
          </p:cNvPicPr>
          <p:nvPr/>
        </p:nvPicPr>
        <p:blipFill>
          <a:blip r:embed="rId4"/>
          <a:stretch>
            <a:fillRect/>
          </a:stretch>
        </p:blipFill>
        <p:spPr>
          <a:xfrm>
            <a:off x="7700162" y="4042562"/>
            <a:ext cx="281635" cy="281635"/>
          </a:xfrm>
          <a:prstGeom prst="rect">
            <a:avLst/>
          </a:prstGeom>
        </p:spPr>
      </p:pic>
      <p:sp>
        <p:nvSpPr>
          <p:cNvPr id="26" name="Text 20"/>
          <p:cNvSpPr txBox="1"/>
          <p:nvPr/>
        </p:nvSpPr>
        <p:spPr>
          <a:xfrm>
            <a:off x="8275320" y="3886200"/>
            <a:ext cx="3367735" cy="594360"/>
          </a:xfrm>
          <a:prstGeom prst="rect">
            <a:avLst/>
          </a:prstGeom>
          <a:noFill/>
          <a:ln/>
        </p:spPr>
        <p:txBody>
          <a:bodyPr wrap="square" lIns="0" tIns="0" rIns="0" bIns="0" rtlCol="0" anchor="ctr"/>
          <a:lstStyle/>
          <a:p>
            <a:pPr indent="0" marL="0">
              <a:buNone/>
            </a:pPr>
            <a:r>
              <a:rPr lang="en-US" sz="1400" dirty="0">
                <a:solidFill>
                  <a:schemeClr val="tx1"/>
                </a:solidFill>
              </a:rPr>
              <a:t>Median over a window; drop ID-switched tracks</a:t>
            </a:r>
            <a:endParaRPr lang="en-US" sz="1400" dirty="0"/>
          </a:p>
        </p:txBody>
      </p:sp>
      <p:sp>
        <p:nvSpPr>
          <p:cNvPr id="27" name="icon-bg"/>
          <p:cNvSpPr/>
          <p:nvPr/>
        </p:nvSpPr>
        <p:spPr>
          <a:xfrm>
            <a:off x="7589520" y="4800600"/>
            <a:ext cx="502920" cy="502920"/>
          </a:xfrm>
          <a:prstGeom prst="ellipse">
            <a:avLst/>
          </a:prstGeom>
          <a:solidFill>
            <a:schemeClr val="bg2"/>
          </a:solidFill>
          <a:ln/>
        </p:spPr>
      </p:sp>
      <p:pic>
        <p:nvPicPr>
          <p:cNvPr id="28" name="Image 3" descr="Scale icon">    </p:cNvPr>
          <p:cNvPicPr>
            <a:picLocks noChangeAspect="1"/>
          </p:cNvPicPr>
          <p:nvPr/>
        </p:nvPicPr>
        <p:blipFill>
          <a:blip r:embed="rId5"/>
          <a:stretch>
            <a:fillRect/>
          </a:stretch>
        </p:blipFill>
        <p:spPr>
          <a:xfrm>
            <a:off x="7700162" y="4911242"/>
            <a:ext cx="281635" cy="281635"/>
          </a:xfrm>
          <a:prstGeom prst="rect">
            <a:avLst/>
          </a:prstGeom>
        </p:spPr>
      </p:pic>
      <p:sp>
        <p:nvSpPr>
          <p:cNvPr id="29" name="Text 22"/>
          <p:cNvSpPr txBox="1"/>
          <p:nvPr/>
        </p:nvSpPr>
        <p:spPr>
          <a:xfrm>
            <a:off x="8275320" y="4754880"/>
            <a:ext cx="3367735" cy="594360"/>
          </a:xfrm>
          <a:prstGeom prst="rect">
            <a:avLst/>
          </a:prstGeom>
          <a:noFill/>
          <a:ln/>
        </p:spPr>
        <p:txBody>
          <a:bodyPr wrap="square" lIns="0" tIns="0" rIns="0" bIns="0" rtlCol="0" anchor="ctr"/>
          <a:lstStyle/>
          <a:p>
            <a:pPr indent="0" marL="0">
              <a:buNone/>
            </a:pPr>
            <a:r>
              <a:rPr lang="en-US" sz="1400" dirty="0">
                <a:solidFill>
                  <a:schemeClr val="tx1"/>
                </a:solidFill>
              </a:rPr>
              <a:t>Enforcement tolerance, e.g. flag only above limit + margin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3657600" cy="1371600"/>
          </a:xfrm>
          <a:prstGeom prst="rect">
            <a:avLst/>
          </a:prstGeom>
          <a:noFill/>
          <a:ln/>
        </p:spPr>
        <p:txBody>
          <a:bodyPr wrap="square" lIns="0" tIns="0" rIns="0" bIns="0" rtlCol="0" anchor="b"/>
          <a:lstStyle/>
          <a:p>
            <a:pPr indent="0" marL="0">
              <a:buNone/>
            </a:pPr>
            <a:r>
              <a:rPr lang="en-US" sz="9600" b="1" dirty="0">
                <a:solidFill>
                  <a:schemeClr val="accent1"/>
                </a:solidFill>
              </a:rPr>
              <a:t>03</a:t>
            </a:r>
            <a:endParaRPr lang="en-US" sz="9600" dirty="0"/>
          </a:p>
        </p:txBody>
      </p:sp>
      <p:sp>
        <p:nvSpPr>
          <p:cNvPr id="3" name="Text 0"/>
          <p:cNvSpPr/>
          <p:nvPr>
            <p:ph idx="101" type="title" hasCustomPrompt="1"/>
          </p:nvPr>
        </p:nvSpPr>
        <p:spPr>
          <a:xfrm>
            <a:off x="548640" y="2880360"/>
            <a:ext cx="10058400" cy="914400"/>
          </a:xfrm>
          <a:prstGeom prst="rect">
            <a:avLst/>
          </a:prstGeom>
          <a:noFill/>
          <a:ln/>
        </p:spPr>
        <p:txBody>
          <a:bodyPr wrap="square" lIns="0" tIns="0" rIns="0" bIns="0" rtlCol="0" anchor="t"/>
          <a:lstStyle/>
          <a:p>
            <a:pPr algn="l" indent="0" marL="0">
              <a:buNone/>
            </a:pPr>
            <a:r>
              <a:rPr lang="en-US" sz="4400" b="1" dirty="0">
                <a:solidFill>
                  <a:schemeClr val="bg1"/>
                </a:solidFill>
              </a:rPr>
              <a:t>Closing the loop</a:t>
            </a:r>
            <a:endParaRPr lang="en-US" sz="4400" dirty="0"/>
          </a:p>
        </p:txBody>
      </p:sp>
      <p:sp>
        <p:nvSpPr>
          <p:cNvPr id="4" name="Text 0"/>
          <p:cNvSpPr/>
          <p:nvPr>
            <p:ph idx="102" type="body" hasCustomPrompt="1"/>
          </p:nvPr>
        </p:nvSpPr>
        <p:spPr>
          <a:xfrm>
            <a:off x="548640" y="3840480"/>
            <a:ext cx="10058400" cy="411480"/>
          </a:xfrm>
          <a:prstGeom prst="rect">
            <a:avLst/>
          </a:prstGeom>
          <a:noFill/>
          <a:ln/>
        </p:spPr>
        <p:txBody>
          <a:bodyPr wrap="square" lIns="0" tIns="0" rIns="0" bIns="0" rtlCol="0" anchor="t"/>
          <a:lstStyle/>
          <a:p>
            <a:pPr indent="0" marL="0">
              <a:buNone/>
            </a:pPr>
            <a:r>
              <a:rPr lang="en-US" sz="1800" dirty="0">
                <a:solidFill>
                  <a:schemeClr val="accent5"/>
                </a:solidFill>
              </a:rPr>
              <a:t>DPD  ·  Automation, deployment and live demo</a:t>
            </a:r>
            <a:endParaRPr lang="en-US" sz="1800" dirty="0"/>
          </a:p>
        </p:txBody>
      </p:sp>
      <p:sp>
        <p:nvSpPr>
          <p:cNvPr id="5" name="stage-chip-PIXELS"/>
          <p:cNvSpPr/>
          <p:nvPr/>
        </p:nvSpPr>
        <p:spPr>
          <a:xfrm>
            <a:off x="7144207" y="384048"/>
            <a:ext cx="841248" cy="274320"/>
          </a:xfrm>
          <a:prstGeom prst="roundRect">
            <a:avLst>
              <a:gd name="adj" fmla="val 50000"/>
            </a:avLst>
          </a:prstGeom>
          <a:solidFill>
            <a:srgbClr val="1D3550"/>
          </a:solidFill>
          <a:ln/>
        </p:spPr>
      </p:sp>
      <p:sp>
        <p:nvSpPr>
          <p:cNvPr id="6" name="Text 4"/>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PIXELS</a:t>
            </a:r>
            <a:endParaRPr lang="en-US" sz="900" dirty="0"/>
          </a:p>
        </p:txBody>
      </p:sp>
      <p:sp>
        <p:nvSpPr>
          <p:cNvPr id="7" name="stage-chip-DETECT"/>
          <p:cNvSpPr/>
          <p:nvPr/>
        </p:nvSpPr>
        <p:spPr>
          <a:xfrm>
            <a:off x="8058607" y="384048"/>
            <a:ext cx="841248" cy="274320"/>
          </a:xfrm>
          <a:prstGeom prst="roundRect">
            <a:avLst>
              <a:gd name="adj" fmla="val 50000"/>
            </a:avLst>
          </a:prstGeom>
          <a:solidFill>
            <a:srgbClr val="1D3550"/>
          </a:solidFill>
          <a:ln/>
        </p:spPr>
      </p:sp>
      <p:sp>
        <p:nvSpPr>
          <p:cNvPr id="8" name="Text 6"/>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DETECT</a:t>
            </a:r>
            <a:endParaRPr lang="en-US" sz="900" dirty="0"/>
          </a:p>
        </p:txBody>
      </p:sp>
      <p:sp>
        <p:nvSpPr>
          <p:cNvPr id="9" name="stage-chip-TRACK"/>
          <p:cNvSpPr/>
          <p:nvPr/>
        </p:nvSpPr>
        <p:spPr>
          <a:xfrm>
            <a:off x="8973007" y="384048"/>
            <a:ext cx="841248" cy="274320"/>
          </a:xfrm>
          <a:prstGeom prst="roundRect">
            <a:avLst>
              <a:gd name="adj" fmla="val 50000"/>
            </a:avLst>
          </a:prstGeom>
          <a:solidFill>
            <a:srgbClr val="1D3550"/>
          </a:solidFill>
          <a:ln/>
        </p:spPr>
      </p:sp>
      <p:sp>
        <p:nvSpPr>
          <p:cNvPr id="10" name="Text 8"/>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TRACK</a:t>
            </a:r>
            <a:endParaRPr lang="en-US" sz="900" dirty="0"/>
          </a:p>
        </p:txBody>
      </p:sp>
      <p:sp>
        <p:nvSpPr>
          <p:cNvPr id="11" name="stage-chip-MEASURE"/>
          <p:cNvSpPr/>
          <p:nvPr/>
        </p:nvSpPr>
        <p:spPr>
          <a:xfrm>
            <a:off x="9887407" y="384048"/>
            <a:ext cx="841248" cy="274320"/>
          </a:xfrm>
          <a:prstGeom prst="roundRect">
            <a:avLst>
              <a:gd name="adj" fmla="val 50000"/>
            </a:avLst>
          </a:prstGeom>
          <a:solidFill>
            <a:srgbClr val="1D3550"/>
          </a:solidFill>
          <a:ln/>
        </p:spPr>
      </p:sp>
      <p:sp>
        <p:nvSpPr>
          <p:cNvPr id="12" name="Text 10"/>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5"/>
                </a:solidFill>
              </a:rPr>
              <a:t>MEASURE</a:t>
            </a:r>
            <a:endParaRPr lang="en-US" sz="900" dirty="0"/>
          </a:p>
        </p:txBody>
      </p:sp>
      <p:sp>
        <p:nvSpPr>
          <p:cNvPr id="13" name="stage-chip-ACT"/>
          <p:cNvSpPr/>
          <p:nvPr/>
        </p:nvSpPr>
        <p:spPr>
          <a:xfrm>
            <a:off x="10801807" y="384048"/>
            <a:ext cx="841248" cy="274320"/>
          </a:xfrm>
          <a:prstGeom prst="roundRect">
            <a:avLst>
              <a:gd name="adj" fmla="val 50000"/>
            </a:avLst>
          </a:prstGeom>
          <a:solidFill>
            <a:schemeClr val="accent1"/>
          </a:solidFill>
          <a:ln/>
        </p:spPr>
      </p:sp>
      <p:sp>
        <p:nvSpPr>
          <p:cNvPr id="14" name="Text 12"/>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ACT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AUTOMATION</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Automation turns a measurement into an action</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bg2"/>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bg2"/>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bg2"/>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bg2"/>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accent4"/>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accent1"/>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ACT</a:t>
            </a:r>
            <a:endParaRPr lang="en-US" sz="900" dirty="0"/>
          </a:p>
        </p:txBody>
      </p:sp>
      <p:sp>
        <p:nvSpPr>
          <p:cNvPr id="14" name="card"/>
          <p:cNvSpPr/>
          <p:nvPr/>
        </p:nvSpPr>
        <p:spPr>
          <a:xfrm>
            <a:off x="792328" y="1828800"/>
            <a:ext cx="1828800" cy="2148840"/>
          </a:xfrm>
          <a:prstGeom prst="roundRect">
            <a:avLst>
              <a:gd name="adj" fmla="val 4000"/>
            </a:avLst>
          </a:prstGeom>
          <a:solidFill>
            <a:schemeClr val="bg2"/>
          </a:solidFill>
          <a:ln/>
        </p:spPr>
      </p:sp>
      <p:sp>
        <p:nvSpPr>
          <p:cNvPr id="15" name="icon-bg"/>
          <p:cNvSpPr/>
          <p:nvPr/>
        </p:nvSpPr>
        <p:spPr>
          <a:xfrm>
            <a:off x="1340968" y="2057400"/>
            <a:ext cx="731520" cy="731520"/>
          </a:xfrm>
          <a:prstGeom prst="ellipse">
            <a:avLst/>
          </a:prstGeom>
          <a:solidFill>
            <a:schemeClr val="tx2"/>
          </a:solidFill>
          <a:ln/>
        </p:spPr>
      </p:sp>
      <p:pic>
        <p:nvPicPr>
          <p:cNvPr id="16" name="Image 0" descr="Gauge icon">    </p:cNvPr>
          <p:cNvPicPr>
            <a:picLocks noChangeAspect="1"/>
          </p:cNvPicPr>
          <p:nvPr/>
        </p:nvPicPr>
        <p:blipFill>
          <a:blip r:embed="rId1"/>
          <a:stretch>
            <a:fillRect/>
          </a:stretch>
        </p:blipFill>
        <p:spPr>
          <a:xfrm>
            <a:off x="1501902" y="2218334"/>
            <a:ext cx="409651" cy="409651"/>
          </a:xfrm>
          <a:prstGeom prst="rect">
            <a:avLst/>
          </a:prstGeom>
        </p:spPr>
      </p:pic>
      <p:sp>
        <p:nvSpPr>
          <p:cNvPr id="17" name="Text 14"/>
          <p:cNvSpPr txBox="1"/>
          <p:nvPr/>
        </p:nvSpPr>
        <p:spPr>
          <a:xfrm>
            <a:off x="792328" y="2926080"/>
            <a:ext cx="1828800" cy="320040"/>
          </a:xfrm>
          <a:prstGeom prst="rect">
            <a:avLst/>
          </a:prstGeom>
          <a:noFill/>
          <a:ln/>
        </p:spPr>
        <p:txBody>
          <a:bodyPr wrap="square" lIns="0" tIns="0" rIns="0" bIns="0" rtlCol="0" anchor="t"/>
          <a:lstStyle/>
          <a:p>
            <a:pPr algn="ctr" indent="0" marL="0">
              <a:buNone/>
            </a:pPr>
            <a:r>
              <a:rPr lang="en-US" sz="1600" b="1" dirty="0">
                <a:solidFill>
                  <a:schemeClr val="tx2"/>
                </a:solidFill>
              </a:rPr>
              <a:t>Measure</a:t>
            </a:r>
            <a:endParaRPr lang="en-US" sz="1600" dirty="0"/>
          </a:p>
        </p:txBody>
      </p:sp>
      <p:sp>
        <p:nvSpPr>
          <p:cNvPr id="18" name="Text 15"/>
          <p:cNvSpPr txBox="1"/>
          <p:nvPr/>
        </p:nvSpPr>
        <p:spPr>
          <a:xfrm>
            <a:off x="902056" y="3273552"/>
            <a:ext cx="1609344" cy="502920"/>
          </a:xfrm>
          <a:prstGeom prst="rect">
            <a:avLst/>
          </a:prstGeom>
          <a:noFill/>
          <a:ln/>
        </p:spPr>
        <p:txBody>
          <a:bodyPr wrap="square" lIns="0" tIns="0" rIns="0" bIns="0" rtlCol="0" anchor="t"/>
          <a:lstStyle/>
          <a:p>
            <a:pPr algn="ctr" indent="0" marL="0">
              <a:buNone/>
            </a:pPr>
            <a:r>
              <a:rPr lang="en-US" sz="1300" dirty="0">
                <a:solidFill>
                  <a:schemeClr val="accent4"/>
                </a:solidFill>
              </a:rPr>
              <a:t>Speed per track</a:t>
            </a:r>
            <a:endParaRPr lang="en-US" sz="1300" dirty="0"/>
          </a:p>
        </p:txBody>
      </p:sp>
      <p:pic>
        <p:nvPicPr>
          <p:cNvPr id="19" name="Image 1" descr="arrow">    </p:cNvPr>
          <p:cNvPicPr>
            <a:picLocks noChangeAspect="1"/>
          </p:cNvPicPr>
          <p:nvPr/>
        </p:nvPicPr>
        <p:blipFill>
          <a:blip r:embed="rId2"/>
          <a:stretch>
            <a:fillRect/>
          </a:stretch>
        </p:blipFill>
        <p:spPr>
          <a:xfrm>
            <a:off x="2675992" y="2770632"/>
            <a:ext cx="256032" cy="256032"/>
          </a:xfrm>
          <a:prstGeom prst="rect">
            <a:avLst/>
          </a:prstGeom>
        </p:spPr>
      </p:pic>
      <p:sp>
        <p:nvSpPr>
          <p:cNvPr id="20" name="card"/>
          <p:cNvSpPr/>
          <p:nvPr/>
        </p:nvSpPr>
        <p:spPr>
          <a:xfrm>
            <a:off x="2986888" y="1828800"/>
            <a:ext cx="1828800" cy="2148840"/>
          </a:xfrm>
          <a:prstGeom prst="roundRect">
            <a:avLst>
              <a:gd name="adj" fmla="val 4000"/>
            </a:avLst>
          </a:prstGeom>
          <a:solidFill>
            <a:srgbClr val="FEF0C7"/>
          </a:solidFill>
          <a:ln/>
        </p:spPr>
      </p:sp>
      <p:sp>
        <p:nvSpPr>
          <p:cNvPr id="21" name="icon-bg"/>
          <p:cNvSpPr/>
          <p:nvPr/>
        </p:nvSpPr>
        <p:spPr>
          <a:xfrm>
            <a:off x="3535528" y="2057400"/>
            <a:ext cx="731520" cy="731520"/>
          </a:xfrm>
          <a:prstGeom prst="ellipse">
            <a:avLst/>
          </a:prstGeom>
          <a:solidFill>
            <a:schemeClr val="tx2"/>
          </a:solidFill>
          <a:ln/>
        </p:spPr>
      </p:sp>
      <p:pic>
        <p:nvPicPr>
          <p:cNvPr id="22" name="Image 2" descr="Scale icon">    </p:cNvPr>
          <p:cNvPicPr>
            <a:picLocks noChangeAspect="1"/>
          </p:cNvPicPr>
          <p:nvPr/>
        </p:nvPicPr>
        <p:blipFill>
          <a:blip r:embed="rId3"/>
          <a:stretch>
            <a:fillRect/>
          </a:stretch>
        </p:blipFill>
        <p:spPr>
          <a:xfrm>
            <a:off x="3696462" y="2218334"/>
            <a:ext cx="409651" cy="409651"/>
          </a:xfrm>
          <a:prstGeom prst="rect">
            <a:avLst/>
          </a:prstGeom>
        </p:spPr>
      </p:pic>
      <p:sp>
        <p:nvSpPr>
          <p:cNvPr id="23" name="Text 18"/>
          <p:cNvSpPr txBox="1"/>
          <p:nvPr/>
        </p:nvSpPr>
        <p:spPr>
          <a:xfrm>
            <a:off x="2986888" y="2926080"/>
            <a:ext cx="1828800" cy="320040"/>
          </a:xfrm>
          <a:prstGeom prst="rect">
            <a:avLst/>
          </a:prstGeom>
          <a:noFill/>
          <a:ln/>
        </p:spPr>
        <p:txBody>
          <a:bodyPr wrap="square" lIns="0" tIns="0" rIns="0" bIns="0" rtlCol="0" anchor="t"/>
          <a:lstStyle/>
          <a:p>
            <a:pPr algn="ctr" indent="0" marL="0">
              <a:buNone/>
            </a:pPr>
            <a:r>
              <a:rPr lang="en-US" sz="1600" b="1" dirty="0">
                <a:solidFill>
                  <a:schemeClr val="tx2"/>
                </a:solidFill>
              </a:rPr>
              <a:t>Decide</a:t>
            </a:r>
            <a:endParaRPr lang="en-US" sz="1600" dirty="0"/>
          </a:p>
        </p:txBody>
      </p:sp>
      <p:sp>
        <p:nvSpPr>
          <p:cNvPr id="24" name="Text 19"/>
          <p:cNvSpPr txBox="1"/>
          <p:nvPr/>
        </p:nvSpPr>
        <p:spPr>
          <a:xfrm>
            <a:off x="3096616" y="3273552"/>
            <a:ext cx="1609344" cy="502920"/>
          </a:xfrm>
          <a:prstGeom prst="rect">
            <a:avLst/>
          </a:prstGeom>
          <a:noFill/>
          <a:ln/>
        </p:spPr>
        <p:txBody>
          <a:bodyPr wrap="square" lIns="0" tIns="0" rIns="0" bIns="0" rtlCol="0" anchor="t"/>
          <a:lstStyle/>
          <a:p>
            <a:pPr algn="ctr" indent="0" marL="0">
              <a:buNone/>
            </a:pPr>
            <a:r>
              <a:rPr lang="en-US" sz="1300" dirty="0">
                <a:solidFill>
                  <a:schemeClr val="accent4"/>
                </a:solidFill>
              </a:rPr>
              <a:t>v &gt; 60 km/h ?</a:t>
            </a:r>
            <a:endParaRPr lang="en-US" sz="1300" dirty="0"/>
          </a:p>
        </p:txBody>
      </p:sp>
      <p:pic>
        <p:nvPicPr>
          <p:cNvPr id="25" name="Image 3" descr="arrow">    </p:cNvPr>
          <p:cNvPicPr>
            <a:picLocks noChangeAspect="1"/>
          </p:cNvPicPr>
          <p:nvPr/>
        </p:nvPicPr>
        <p:blipFill>
          <a:blip r:embed="rId4"/>
          <a:stretch>
            <a:fillRect/>
          </a:stretch>
        </p:blipFill>
        <p:spPr>
          <a:xfrm>
            <a:off x="4870552" y="2770632"/>
            <a:ext cx="256032" cy="256032"/>
          </a:xfrm>
          <a:prstGeom prst="rect">
            <a:avLst/>
          </a:prstGeom>
        </p:spPr>
      </p:pic>
      <p:sp>
        <p:nvSpPr>
          <p:cNvPr id="26" name="card"/>
          <p:cNvSpPr/>
          <p:nvPr/>
        </p:nvSpPr>
        <p:spPr>
          <a:xfrm>
            <a:off x="5181448" y="1828800"/>
            <a:ext cx="1828800" cy="2148840"/>
          </a:xfrm>
          <a:prstGeom prst="roundRect">
            <a:avLst>
              <a:gd name="adj" fmla="val 4000"/>
            </a:avLst>
          </a:prstGeom>
          <a:solidFill>
            <a:schemeClr val="bg2"/>
          </a:solidFill>
          <a:ln/>
        </p:spPr>
      </p:sp>
      <p:sp>
        <p:nvSpPr>
          <p:cNvPr id="27" name="icon-bg"/>
          <p:cNvSpPr/>
          <p:nvPr/>
        </p:nvSpPr>
        <p:spPr>
          <a:xfrm>
            <a:off x="5730088" y="2057400"/>
            <a:ext cx="731520" cy="731520"/>
          </a:xfrm>
          <a:prstGeom prst="ellipse">
            <a:avLst/>
          </a:prstGeom>
          <a:solidFill>
            <a:schemeClr val="tx2"/>
          </a:solidFill>
          <a:ln/>
        </p:spPr>
      </p:sp>
      <p:pic>
        <p:nvPicPr>
          <p:cNvPr id="28" name="Image 4" descr="Camera icon">    </p:cNvPr>
          <p:cNvPicPr>
            <a:picLocks noChangeAspect="1"/>
          </p:cNvPicPr>
          <p:nvPr/>
        </p:nvPicPr>
        <p:blipFill>
          <a:blip r:embed="rId5"/>
          <a:stretch>
            <a:fillRect/>
          </a:stretch>
        </p:blipFill>
        <p:spPr>
          <a:xfrm>
            <a:off x="5891022" y="2218334"/>
            <a:ext cx="409651" cy="409651"/>
          </a:xfrm>
          <a:prstGeom prst="rect">
            <a:avLst/>
          </a:prstGeom>
        </p:spPr>
      </p:pic>
      <p:sp>
        <p:nvSpPr>
          <p:cNvPr id="29" name="Text 22"/>
          <p:cNvSpPr txBox="1"/>
          <p:nvPr/>
        </p:nvSpPr>
        <p:spPr>
          <a:xfrm>
            <a:off x="5181448" y="2926080"/>
            <a:ext cx="1828800" cy="320040"/>
          </a:xfrm>
          <a:prstGeom prst="rect">
            <a:avLst/>
          </a:prstGeom>
          <a:noFill/>
          <a:ln/>
        </p:spPr>
        <p:txBody>
          <a:bodyPr wrap="square" lIns="0" tIns="0" rIns="0" bIns="0" rtlCol="0" anchor="t"/>
          <a:lstStyle/>
          <a:p>
            <a:pPr algn="ctr" indent="0" marL="0">
              <a:buNone/>
            </a:pPr>
            <a:r>
              <a:rPr lang="en-US" sz="1600" b="1" dirty="0">
                <a:solidFill>
                  <a:schemeClr val="tx2"/>
                </a:solidFill>
              </a:rPr>
              <a:t>Evidence</a:t>
            </a:r>
            <a:endParaRPr lang="en-US" sz="1600" dirty="0"/>
          </a:p>
        </p:txBody>
      </p:sp>
      <p:sp>
        <p:nvSpPr>
          <p:cNvPr id="30" name="Text 23"/>
          <p:cNvSpPr txBox="1"/>
          <p:nvPr/>
        </p:nvSpPr>
        <p:spPr>
          <a:xfrm>
            <a:off x="5291176" y="3273552"/>
            <a:ext cx="1609344" cy="502920"/>
          </a:xfrm>
          <a:prstGeom prst="rect">
            <a:avLst/>
          </a:prstGeom>
          <a:noFill/>
          <a:ln/>
        </p:spPr>
        <p:txBody>
          <a:bodyPr wrap="square" lIns="0" tIns="0" rIns="0" bIns="0" rtlCol="0" anchor="t"/>
          <a:lstStyle/>
          <a:p>
            <a:pPr algn="ctr" indent="0" marL="0">
              <a:buNone/>
            </a:pPr>
            <a:r>
              <a:rPr lang="en-US" sz="1300" dirty="0">
                <a:solidFill>
                  <a:schemeClr val="accent4"/>
                </a:solidFill>
              </a:rPr>
              <a:t>Snapshot: box, ID, speed, time</a:t>
            </a:r>
            <a:endParaRPr lang="en-US" sz="1300" dirty="0"/>
          </a:p>
        </p:txBody>
      </p:sp>
      <p:pic>
        <p:nvPicPr>
          <p:cNvPr id="31" name="Image 5" descr="arrow">    </p:cNvPr>
          <p:cNvPicPr>
            <a:picLocks noChangeAspect="1"/>
          </p:cNvPicPr>
          <p:nvPr/>
        </p:nvPicPr>
        <p:blipFill>
          <a:blip r:embed="rId6"/>
          <a:stretch>
            <a:fillRect/>
          </a:stretch>
        </p:blipFill>
        <p:spPr>
          <a:xfrm>
            <a:off x="7065112" y="2770632"/>
            <a:ext cx="256032" cy="256032"/>
          </a:xfrm>
          <a:prstGeom prst="rect">
            <a:avLst/>
          </a:prstGeom>
        </p:spPr>
      </p:pic>
      <p:sp>
        <p:nvSpPr>
          <p:cNvPr id="32" name="card"/>
          <p:cNvSpPr/>
          <p:nvPr/>
        </p:nvSpPr>
        <p:spPr>
          <a:xfrm>
            <a:off x="7376008" y="1828800"/>
            <a:ext cx="1828800" cy="2148840"/>
          </a:xfrm>
          <a:prstGeom prst="roundRect">
            <a:avLst>
              <a:gd name="adj" fmla="val 4000"/>
            </a:avLst>
          </a:prstGeom>
          <a:solidFill>
            <a:schemeClr val="bg2"/>
          </a:solidFill>
          <a:ln/>
        </p:spPr>
      </p:sp>
      <p:sp>
        <p:nvSpPr>
          <p:cNvPr id="33" name="icon-bg"/>
          <p:cNvSpPr/>
          <p:nvPr/>
        </p:nvSpPr>
        <p:spPr>
          <a:xfrm>
            <a:off x="7924648" y="2057400"/>
            <a:ext cx="731520" cy="731520"/>
          </a:xfrm>
          <a:prstGeom prst="ellipse">
            <a:avLst/>
          </a:prstGeom>
          <a:solidFill>
            <a:schemeClr val="tx2"/>
          </a:solidFill>
          <a:ln/>
        </p:spPr>
      </p:sp>
      <p:pic>
        <p:nvPicPr>
          <p:cNvPr id="34" name="Image 6" descr="Database icon">    </p:cNvPr>
          <p:cNvPicPr>
            <a:picLocks noChangeAspect="1"/>
          </p:cNvPicPr>
          <p:nvPr/>
        </p:nvPicPr>
        <p:blipFill>
          <a:blip r:embed="rId7"/>
          <a:stretch>
            <a:fillRect/>
          </a:stretch>
        </p:blipFill>
        <p:spPr>
          <a:xfrm>
            <a:off x="8085582" y="2218334"/>
            <a:ext cx="409651" cy="409651"/>
          </a:xfrm>
          <a:prstGeom prst="rect">
            <a:avLst/>
          </a:prstGeom>
        </p:spPr>
      </p:pic>
      <p:sp>
        <p:nvSpPr>
          <p:cNvPr id="35" name="Text 26"/>
          <p:cNvSpPr txBox="1"/>
          <p:nvPr/>
        </p:nvSpPr>
        <p:spPr>
          <a:xfrm>
            <a:off x="7376008" y="2926080"/>
            <a:ext cx="1828800" cy="320040"/>
          </a:xfrm>
          <a:prstGeom prst="rect">
            <a:avLst/>
          </a:prstGeom>
          <a:noFill/>
          <a:ln/>
        </p:spPr>
        <p:txBody>
          <a:bodyPr wrap="square" lIns="0" tIns="0" rIns="0" bIns="0" rtlCol="0" anchor="t"/>
          <a:lstStyle/>
          <a:p>
            <a:pPr algn="ctr" indent="0" marL="0">
              <a:buNone/>
            </a:pPr>
            <a:r>
              <a:rPr lang="en-US" sz="1600" b="1" dirty="0">
                <a:solidFill>
                  <a:schemeClr val="tx2"/>
                </a:solidFill>
              </a:rPr>
              <a:t>Record</a:t>
            </a:r>
            <a:endParaRPr lang="en-US" sz="1600" dirty="0"/>
          </a:p>
        </p:txBody>
      </p:sp>
      <p:sp>
        <p:nvSpPr>
          <p:cNvPr id="36" name="Text 27"/>
          <p:cNvSpPr txBox="1"/>
          <p:nvPr/>
        </p:nvSpPr>
        <p:spPr>
          <a:xfrm>
            <a:off x="7485736" y="3273552"/>
            <a:ext cx="1609344" cy="502920"/>
          </a:xfrm>
          <a:prstGeom prst="rect">
            <a:avLst/>
          </a:prstGeom>
          <a:noFill/>
          <a:ln/>
        </p:spPr>
        <p:txBody>
          <a:bodyPr wrap="square" lIns="0" tIns="0" rIns="0" bIns="0" rtlCol="0" anchor="t"/>
          <a:lstStyle/>
          <a:p>
            <a:pPr algn="ctr" indent="0" marL="0">
              <a:buNone/>
            </a:pPr>
            <a:r>
              <a:rPr lang="en-US" sz="1300" dirty="0">
                <a:solidFill>
                  <a:schemeClr val="accent4"/>
                </a:solidFill>
              </a:rPr>
              <a:t>Append to violations log</a:t>
            </a:r>
            <a:endParaRPr lang="en-US" sz="1300" dirty="0"/>
          </a:p>
        </p:txBody>
      </p:sp>
      <p:pic>
        <p:nvPicPr>
          <p:cNvPr id="37" name="Image 7" descr="arrow">    </p:cNvPr>
          <p:cNvPicPr>
            <a:picLocks noChangeAspect="1"/>
          </p:cNvPicPr>
          <p:nvPr/>
        </p:nvPicPr>
        <p:blipFill>
          <a:blip r:embed="rId8"/>
          <a:stretch>
            <a:fillRect/>
          </a:stretch>
        </p:blipFill>
        <p:spPr>
          <a:xfrm>
            <a:off x="9259672" y="2770632"/>
            <a:ext cx="256032" cy="256032"/>
          </a:xfrm>
          <a:prstGeom prst="rect">
            <a:avLst/>
          </a:prstGeom>
        </p:spPr>
      </p:pic>
      <p:sp>
        <p:nvSpPr>
          <p:cNvPr id="38" name="card"/>
          <p:cNvSpPr/>
          <p:nvPr/>
        </p:nvSpPr>
        <p:spPr>
          <a:xfrm>
            <a:off x="9570568" y="1828800"/>
            <a:ext cx="1828800" cy="2148840"/>
          </a:xfrm>
          <a:prstGeom prst="roundRect">
            <a:avLst>
              <a:gd name="adj" fmla="val 4000"/>
            </a:avLst>
          </a:prstGeom>
          <a:solidFill>
            <a:schemeClr val="bg2"/>
          </a:solidFill>
          <a:ln/>
        </p:spPr>
      </p:sp>
      <p:sp>
        <p:nvSpPr>
          <p:cNvPr id="39" name="icon-bg"/>
          <p:cNvSpPr/>
          <p:nvPr/>
        </p:nvSpPr>
        <p:spPr>
          <a:xfrm>
            <a:off x="10119208" y="2057400"/>
            <a:ext cx="731520" cy="731520"/>
          </a:xfrm>
          <a:prstGeom prst="ellipse">
            <a:avLst/>
          </a:prstGeom>
          <a:solidFill>
            <a:schemeClr val="tx2"/>
          </a:solidFill>
          <a:ln/>
        </p:spPr>
      </p:sp>
      <p:pic>
        <p:nvPicPr>
          <p:cNvPr id="40" name="Image 8" descr="Megaphone icon">    </p:cNvPr>
          <p:cNvPicPr>
            <a:picLocks noChangeAspect="1"/>
          </p:cNvPicPr>
          <p:nvPr/>
        </p:nvPicPr>
        <p:blipFill>
          <a:blip r:embed="rId9"/>
          <a:stretch>
            <a:fillRect/>
          </a:stretch>
        </p:blipFill>
        <p:spPr>
          <a:xfrm>
            <a:off x="10280142" y="2218334"/>
            <a:ext cx="409651" cy="409651"/>
          </a:xfrm>
          <a:prstGeom prst="rect">
            <a:avLst/>
          </a:prstGeom>
        </p:spPr>
      </p:pic>
      <p:sp>
        <p:nvSpPr>
          <p:cNvPr id="41" name="Text 30"/>
          <p:cNvSpPr txBox="1"/>
          <p:nvPr/>
        </p:nvSpPr>
        <p:spPr>
          <a:xfrm>
            <a:off x="9570568" y="2926080"/>
            <a:ext cx="1828800" cy="320040"/>
          </a:xfrm>
          <a:prstGeom prst="rect">
            <a:avLst/>
          </a:prstGeom>
          <a:noFill/>
          <a:ln/>
        </p:spPr>
        <p:txBody>
          <a:bodyPr wrap="square" lIns="0" tIns="0" rIns="0" bIns="0" rtlCol="0" anchor="t"/>
          <a:lstStyle/>
          <a:p>
            <a:pPr algn="ctr" indent="0" marL="0">
              <a:buNone/>
            </a:pPr>
            <a:r>
              <a:rPr lang="en-US" sz="1600" b="1" dirty="0">
                <a:solidFill>
                  <a:schemeClr val="tx2"/>
                </a:solidFill>
              </a:rPr>
              <a:t>Act</a:t>
            </a:r>
            <a:endParaRPr lang="en-US" sz="1600" dirty="0"/>
          </a:p>
        </p:txBody>
      </p:sp>
      <p:sp>
        <p:nvSpPr>
          <p:cNvPr id="42" name="Text 31"/>
          <p:cNvSpPr txBox="1"/>
          <p:nvPr/>
        </p:nvSpPr>
        <p:spPr>
          <a:xfrm>
            <a:off x="9680296" y="3273552"/>
            <a:ext cx="1609344" cy="502920"/>
          </a:xfrm>
          <a:prstGeom prst="rect">
            <a:avLst/>
          </a:prstGeom>
          <a:noFill/>
          <a:ln/>
        </p:spPr>
        <p:txBody>
          <a:bodyPr wrap="square" lIns="0" tIns="0" rIns="0" bIns="0" rtlCol="0" anchor="t"/>
          <a:lstStyle/>
          <a:p>
            <a:pPr algn="ctr" indent="0" marL="0">
              <a:buNone/>
            </a:pPr>
            <a:r>
              <a:rPr lang="en-US" sz="1300" dirty="0">
                <a:solidFill>
                  <a:schemeClr val="accent4"/>
                </a:solidFill>
              </a:rPr>
              <a:t>Alert / display board / e-challan</a:t>
            </a:r>
            <a:endParaRPr lang="en-US" sz="1300" dirty="0"/>
          </a:p>
        </p:txBody>
      </p:sp>
      <p:sp>
        <p:nvSpPr>
          <p:cNvPr id="43" name="Text 32"/>
          <p:cNvSpPr txBox="1"/>
          <p:nvPr/>
        </p:nvSpPr>
        <p:spPr>
          <a:xfrm>
            <a:off x="548640" y="4389120"/>
            <a:ext cx="5364328" cy="320040"/>
          </a:xfrm>
          <a:prstGeom prst="rect">
            <a:avLst/>
          </a:prstGeom>
          <a:noFill/>
          <a:ln/>
        </p:spPr>
        <p:txBody>
          <a:bodyPr wrap="square" lIns="0" tIns="0" rIns="0" bIns="0" rtlCol="0" anchor="t"/>
          <a:lstStyle/>
          <a:p>
            <a:pPr indent="0" marL="0">
              <a:buNone/>
            </a:pPr>
            <a:r>
              <a:rPr lang="en-US" sz="1500" b="1" dirty="0">
                <a:solidFill>
                  <a:schemeClr val="tx2"/>
                </a:solidFill>
              </a:rPr>
              <a:t>In our demo</a:t>
            </a:r>
            <a:endParaRPr lang="en-US" sz="1500" dirty="0"/>
          </a:p>
        </p:txBody>
      </p:sp>
      <p:pic>
        <p:nvPicPr>
          <p:cNvPr id="44" name="Image 9" descr="done">    </p:cNvPr>
          <p:cNvPicPr>
            <a:picLocks noChangeAspect="1"/>
          </p:cNvPicPr>
          <p:nvPr/>
        </p:nvPicPr>
        <p:blipFill>
          <a:blip r:embed="rId10"/>
          <a:stretch>
            <a:fillRect/>
          </a:stretch>
        </p:blipFill>
        <p:spPr>
          <a:xfrm>
            <a:off x="548640" y="4882896"/>
            <a:ext cx="256032" cy="256032"/>
          </a:xfrm>
          <a:prstGeom prst="rect">
            <a:avLst/>
          </a:prstGeom>
        </p:spPr>
      </p:pic>
      <p:sp>
        <p:nvSpPr>
          <p:cNvPr id="45" name="Text 33"/>
          <p:cNvSpPr txBox="1"/>
          <p:nvPr/>
        </p:nvSpPr>
        <p:spPr>
          <a:xfrm>
            <a:off x="914400" y="4846320"/>
            <a:ext cx="2270684" cy="347472"/>
          </a:xfrm>
          <a:prstGeom prst="rect">
            <a:avLst/>
          </a:prstGeom>
          <a:noFill/>
          <a:ln/>
        </p:spPr>
        <p:txBody>
          <a:bodyPr wrap="square" lIns="0" tIns="0" rIns="0" bIns="0" rtlCol="0" anchor="ctr"/>
          <a:lstStyle/>
          <a:p>
            <a:pPr indent="0" marL="0">
              <a:buNone/>
            </a:pPr>
            <a:r>
              <a:rPr lang="en-US" sz="1400" dirty="0">
                <a:solidFill>
                  <a:schemeClr val="tx1"/>
                </a:solidFill>
              </a:rPr>
              <a:t>Rule check every frame</a:t>
            </a:r>
            <a:endParaRPr lang="en-US" sz="1400" dirty="0"/>
          </a:p>
        </p:txBody>
      </p:sp>
      <p:pic>
        <p:nvPicPr>
          <p:cNvPr id="46" name="Image 10" descr="done">    </p:cNvPr>
          <p:cNvPicPr>
            <a:picLocks noChangeAspect="1"/>
          </p:cNvPicPr>
          <p:nvPr/>
        </p:nvPicPr>
        <p:blipFill>
          <a:blip r:embed="rId11"/>
          <a:stretch>
            <a:fillRect/>
          </a:stretch>
        </p:blipFill>
        <p:spPr>
          <a:xfrm>
            <a:off x="3230804" y="4882896"/>
            <a:ext cx="256032" cy="256032"/>
          </a:xfrm>
          <a:prstGeom prst="rect">
            <a:avLst/>
          </a:prstGeom>
        </p:spPr>
      </p:pic>
      <p:sp>
        <p:nvSpPr>
          <p:cNvPr id="47" name="Text 34"/>
          <p:cNvSpPr txBox="1"/>
          <p:nvPr/>
        </p:nvSpPr>
        <p:spPr>
          <a:xfrm>
            <a:off x="3596564" y="4846320"/>
            <a:ext cx="2270684" cy="347472"/>
          </a:xfrm>
          <a:prstGeom prst="rect">
            <a:avLst/>
          </a:prstGeom>
          <a:noFill/>
          <a:ln/>
        </p:spPr>
        <p:txBody>
          <a:bodyPr wrap="square" lIns="0" tIns="0" rIns="0" bIns="0" rtlCol="0" anchor="ctr"/>
          <a:lstStyle/>
          <a:p>
            <a:pPr indent="0" marL="0">
              <a:buNone/>
            </a:pPr>
            <a:r>
              <a:rPr lang="en-US" sz="1400" dirty="0">
                <a:solidFill>
                  <a:schemeClr val="tx1"/>
                </a:solidFill>
              </a:rPr>
              <a:t>Red box + live counter</a:t>
            </a:r>
            <a:endParaRPr lang="en-US" sz="1400" dirty="0"/>
          </a:p>
        </p:txBody>
      </p:sp>
      <p:pic>
        <p:nvPicPr>
          <p:cNvPr id="48" name="Image 11" descr="done">    </p:cNvPr>
          <p:cNvPicPr>
            <a:picLocks noChangeAspect="1"/>
          </p:cNvPicPr>
          <p:nvPr/>
        </p:nvPicPr>
        <p:blipFill>
          <a:blip r:embed="rId12"/>
          <a:stretch>
            <a:fillRect/>
          </a:stretch>
        </p:blipFill>
        <p:spPr>
          <a:xfrm>
            <a:off x="548640" y="5431536"/>
            <a:ext cx="256032" cy="256032"/>
          </a:xfrm>
          <a:prstGeom prst="rect">
            <a:avLst/>
          </a:prstGeom>
        </p:spPr>
      </p:pic>
      <p:sp>
        <p:nvSpPr>
          <p:cNvPr id="49" name="Text 35"/>
          <p:cNvSpPr txBox="1"/>
          <p:nvPr/>
        </p:nvSpPr>
        <p:spPr>
          <a:xfrm>
            <a:off x="914400" y="5394960"/>
            <a:ext cx="2270684" cy="347472"/>
          </a:xfrm>
          <a:prstGeom prst="rect">
            <a:avLst/>
          </a:prstGeom>
          <a:noFill/>
          <a:ln/>
        </p:spPr>
        <p:txBody>
          <a:bodyPr wrap="square" lIns="0" tIns="0" rIns="0" bIns="0" rtlCol="0" anchor="ctr"/>
          <a:lstStyle/>
          <a:p>
            <a:pPr indent="0" marL="0">
              <a:buNone/>
            </a:pPr>
            <a:r>
              <a:rPr lang="en-US" sz="1400" dirty="0">
                <a:solidFill>
                  <a:schemeClr val="tx1"/>
                </a:solidFill>
              </a:rPr>
              <a:t>Evidence JPEG</a:t>
            </a:r>
            <a:endParaRPr lang="en-US" sz="1400" dirty="0"/>
          </a:p>
        </p:txBody>
      </p:sp>
      <p:pic>
        <p:nvPicPr>
          <p:cNvPr id="50" name="Image 12" descr="done">    </p:cNvPr>
          <p:cNvPicPr>
            <a:picLocks noChangeAspect="1"/>
          </p:cNvPicPr>
          <p:nvPr/>
        </p:nvPicPr>
        <p:blipFill>
          <a:blip r:embed="rId13"/>
          <a:stretch>
            <a:fillRect/>
          </a:stretch>
        </p:blipFill>
        <p:spPr>
          <a:xfrm>
            <a:off x="3230804" y="5431536"/>
            <a:ext cx="256032" cy="256032"/>
          </a:xfrm>
          <a:prstGeom prst="rect">
            <a:avLst/>
          </a:prstGeom>
        </p:spPr>
      </p:pic>
      <p:sp>
        <p:nvSpPr>
          <p:cNvPr id="51" name="Text 36"/>
          <p:cNvSpPr txBox="1"/>
          <p:nvPr/>
        </p:nvSpPr>
        <p:spPr>
          <a:xfrm>
            <a:off x="3596564" y="5394960"/>
            <a:ext cx="2270684" cy="347472"/>
          </a:xfrm>
          <a:prstGeom prst="rect">
            <a:avLst/>
          </a:prstGeom>
          <a:noFill/>
          <a:ln/>
        </p:spPr>
        <p:txBody>
          <a:bodyPr wrap="square" lIns="0" tIns="0" rIns="0" bIns="0" rtlCol="0" anchor="ctr"/>
          <a:lstStyle/>
          <a:p>
            <a:pPr indent="0" marL="0">
              <a:buNone/>
            </a:pPr>
            <a:r>
              <a:rPr lang="en-US" sz="1400" dirty="0">
                <a:solidFill>
                  <a:schemeClr val="tx1"/>
                </a:solidFill>
              </a:rPr>
              <a:t>CSV violation log</a:t>
            </a:r>
            <a:endParaRPr lang="en-US" sz="1400" dirty="0"/>
          </a:p>
        </p:txBody>
      </p:sp>
      <p:sp>
        <p:nvSpPr>
          <p:cNvPr id="52" name="Text 37"/>
          <p:cNvSpPr txBox="1"/>
          <p:nvPr/>
        </p:nvSpPr>
        <p:spPr>
          <a:xfrm>
            <a:off x="6278728" y="4389120"/>
            <a:ext cx="5364328" cy="320040"/>
          </a:xfrm>
          <a:prstGeom prst="rect">
            <a:avLst/>
          </a:prstGeom>
          <a:noFill/>
          <a:ln/>
        </p:spPr>
        <p:txBody>
          <a:bodyPr wrap="square" lIns="0" tIns="0" rIns="0" bIns="0" rtlCol="0" anchor="t"/>
          <a:lstStyle/>
          <a:p>
            <a:pPr indent="0" marL="0">
              <a:buNone/>
            </a:pPr>
            <a:r>
              <a:rPr lang="en-US" sz="1500" b="1" dirty="0">
                <a:solidFill>
                  <a:schemeClr val="tx2"/>
                </a:solidFill>
              </a:rPr>
              <a:t>A production system adds</a:t>
            </a:r>
            <a:endParaRPr lang="en-US" sz="1500" dirty="0"/>
          </a:p>
        </p:txBody>
      </p:sp>
      <p:pic>
        <p:nvPicPr>
          <p:cNvPr id="53" name="Image 13" descr="planned">    </p:cNvPr>
          <p:cNvPicPr>
            <a:picLocks noChangeAspect="1"/>
          </p:cNvPicPr>
          <p:nvPr/>
        </p:nvPicPr>
        <p:blipFill>
          <a:blip r:embed="rId14"/>
          <a:stretch>
            <a:fillRect/>
          </a:stretch>
        </p:blipFill>
        <p:spPr>
          <a:xfrm>
            <a:off x="6278728" y="4882896"/>
            <a:ext cx="256032" cy="256032"/>
          </a:xfrm>
          <a:prstGeom prst="rect">
            <a:avLst/>
          </a:prstGeom>
        </p:spPr>
      </p:pic>
      <p:sp>
        <p:nvSpPr>
          <p:cNvPr id="54" name="Text 38"/>
          <p:cNvSpPr txBox="1"/>
          <p:nvPr/>
        </p:nvSpPr>
        <p:spPr>
          <a:xfrm>
            <a:off x="6644488" y="4846320"/>
            <a:ext cx="2270684" cy="347472"/>
          </a:xfrm>
          <a:prstGeom prst="rect">
            <a:avLst/>
          </a:prstGeom>
          <a:noFill/>
          <a:ln/>
        </p:spPr>
        <p:txBody>
          <a:bodyPr wrap="square" lIns="0" tIns="0" rIns="0" bIns="0" rtlCol="0" anchor="ctr"/>
          <a:lstStyle/>
          <a:p>
            <a:pPr indent="0" marL="0">
              <a:buNone/>
            </a:pPr>
            <a:r>
              <a:rPr lang="en-US" sz="1400" dirty="0">
                <a:solidFill>
                  <a:schemeClr val="tx1"/>
                </a:solidFill>
              </a:rPr>
              <a:t>Number-plate reading</a:t>
            </a:r>
            <a:endParaRPr lang="en-US" sz="1400" dirty="0"/>
          </a:p>
        </p:txBody>
      </p:sp>
      <p:pic>
        <p:nvPicPr>
          <p:cNvPr id="55" name="Image 14" descr="planned">    </p:cNvPr>
          <p:cNvPicPr>
            <a:picLocks noChangeAspect="1"/>
          </p:cNvPicPr>
          <p:nvPr/>
        </p:nvPicPr>
        <p:blipFill>
          <a:blip r:embed="rId15"/>
          <a:stretch>
            <a:fillRect/>
          </a:stretch>
        </p:blipFill>
        <p:spPr>
          <a:xfrm>
            <a:off x="8960891" y="4882896"/>
            <a:ext cx="256032" cy="256032"/>
          </a:xfrm>
          <a:prstGeom prst="rect">
            <a:avLst/>
          </a:prstGeom>
        </p:spPr>
      </p:pic>
      <p:sp>
        <p:nvSpPr>
          <p:cNvPr id="56" name="Text 39"/>
          <p:cNvSpPr txBox="1"/>
          <p:nvPr/>
        </p:nvSpPr>
        <p:spPr>
          <a:xfrm>
            <a:off x="9326651" y="4846320"/>
            <a:ext cx="2270684" cy="347472"/>
          </a:xfrm>
          <a:prstGeom prst="rect">
            <a:avLst/>
          </a:prstGeom>
          <a:noFill/>
          <a:ln/>
        </p:spPr>
        <p:txBody>
          <a:bodyPr wrap="square" lIns="0" tIns="0" rIns="0" bIns="0" rtlCol="0" anchor="ctr"/>
          <a:lstStyle/>
          <a:p>
            <a:pPr indent="0" marL="0">
              <a:buNone/>
            </a:pPr>
            <a:r>
              <a:rPr lang="en-US" sz="1400" dirty="0">
                <a:solidFill>
                  <a:schemeClr val="tx1"/>
                </a:solidFill>
              </a:rPr>
              <a:t>Human review of every case</a:t>
            </a:r>
            <a:endParaRPr lang="en-US" sz="1400" dirty="0"/>
          </a:p>
        </p:txBody>
      </p:sp>
      <p:pic>
        <p:nvPicPr>
          <p:cNvPr id="57" name="Image 15" descr="planned">    </p:cNvPr>
          <p:cNvPicPr>
            <a:picLocks noChangeAspect="1"/>
          </p:cNvPicPr>
          <p:nvPr/>
        </p:nvPicPr>
        <p:blipFill>
          <a:blip r:embed="rId16"/>
          <a:stretch>
            <a:fillRect/>
          </a:stretch>
        </p:blipFill>
        <p:spPr>
          <a:xfrm>
            <a:off x="6278728" y="5431536"/>
            <a:ext cx="256032" cy="256032"/>
          </a:xfrm>
          <a:prstGeom prst="rect">
            <a:avLst/>
          </a:prstGeom>
        </p:spPr>
      </p:pic>
      <p:sp>
        <p:nvSpPr>
          <p:cNvPr id="58" name="Text 40"/>
          <p:cNvSpPr txBox="1"/>
          <p:nvPr/>
        </p:nvSpPr>
        <p:spPr>
          <a:xfrm>
            <a:off x="6644488" y="5394960"/>
            <a:ext cx="2270684" cy="347472"/>
          </a:xfrm>
          <a:prstGeom prst="rect">
            <a:avLst/>
          </a:prstGeom>
          <a:noFill/>
          <a:ln/>
        </p:spPr>
        <p:txBody>
          <a:bodyPr wrap="square" lIns="0" tIns="0" rIns="0" bIns="0" rtlCol="0" anchor="ctr"/>
          <a:lstStyle/>
          <a:p>
            <a:pPr indent="0" marL="0">
              <a:buNone/>
            </a:pPr>
            <a:r>
              <a:rPr lang="en-US" sz="1400" dirty="0">
                <a:solidFill>
                  <a:schemeClr val="tx1"/>
                </a:solidFill>
              </a:rPr>
              <a:t>e-challan integration</a:t>
            </a:r>
            <a:endParaRPr lang="en-US" sz="1400" dirty="0"/>
          </a:p>
        </p:txBody>
      </p:sp>
      <p:pic>
        <p:nvPicPr>
          <p:cNvPr id="59" name="Image 16" descr="planned">    </p:cNvPr>
          <p:cNvPicPr>
            <a:picLocks noChangeAspect="1"/>
          </p:cNvPicPr>
          <p:nvPr/>
        </p:nvPicPr>
        <p:blipFill>
          <a:blip r:embed="rId17"/>
          <a:stretch>
            <a:fillRect/>
          </a:stretch>
        </p:blipFill>
        <p:spPr>
          <a:xfrm>
            <a:off x="8960891" y="5431536"/>
            <a:ext cx="256032" cy="256032"/>
          </a:xfrm>
          <a:prstGeom prst="rect">
            <a:avLst/>
          </a:prstGeom>
        </p:spPr>
      </p:pic>
      <p:sp>
        <p:nvSpPr>
          <p:cNvPr id="60" name="Text 41"/>
          <p:cNvSpPr txBox="1"/>
          <p:nvPr/>
        </p:nvSpPr>
        <p:spPr>
          <a:xfrm>
            <a:off x="9326651" y="5394960"/>
            <a:ext cx="2270684" cy="347472"/>
          </a:xfrm>
          <a:prstGeom prst="rect">
            <a:avLst/>
          </a:prstGeom>
          <a:noFill/>
          <a:ln/>
        </p:spPr>
        <p:txBody>
          <a:bodyPr wrap="square" lIns="0" tIns="0" rIns="0" bIns="0" rtlCol="0" anchor="ctr"/>
          <a:lstStyle/>
          <a:p>
            <a:pPr indent="0" marL="0">
              <a:buNone/>
            </a:pPr>
            <a:r>
              <a:rPr lang="en-US" sz="1400" dirty="0">
                <a:solidFill>
                  <a:schemeClr val="tx1"/>
                </a:solidFill>
              </a:rPr>
              <a:t>Display-board warnings</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SYSTEM ARCHITECTURE</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The whole system is five open-source blocks</a:t>
            </a:r>
            <a:endParaRPr lang="en-US" sz="3000" dirty="0"/>
          </a:p>
        </p:txBody>
      </p:sp>
      <p:sp>
        <p:nvSpPr>
          <p:cNvPr id="4" name="stage-chip-PIXELS"/>
          <p:cNvSpPr/>
          <p:nvPr/>
        </p:nvSpPr>
        <p:spPr>
          <a:xfrm>
            <a:off x="7144207" y="384048"/>
            <a:ext cx="841248" cy="274320"/>
          </a:xfrm>
          <a:prstGeom prst="roundRect">
            <a:avLst>
              <a:gd name="adj" fmla="val 50000"/>
            </a:avLst>
          </a:prstGeom>
          <a:solidFill>
            <a:schemeClr val="accent1"/>
          </a:solidFill>
          <a:ln/>
        </p:spPr>
      </p:sp>
      <p:sp>
        <p:nvSpPr>
          <p:cNvPr id="5" name="Text 3"/>
          <p:cNvSpPr txBox="1"/>
          <p:nvPr/>
        </p:nvSpPr>
        <p:spPr>
          <a:xfrm>
            <a:off x="71442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PIXELS</a:t>
            </a:r>
            <a:endParaRPr lang="en-US" sz="900" dirty="0"/>
          </a:p>
        </p:txBody>
      </p:sp>
      <p:sp>
        <p:nvSpPr>
          <p:cNvPr id="6" name="stage-chip-DETECT"/>
          <p:cNvSpPr/>
          <p:nvPr/>
        </p:nvSpPr>
        <p:spPr>
          <a:xfrm>
            <a:off x="8058607" y="384048"/>
            <a:ext cx="841248" cy="274320"/>
          </a:xfrm>
          <a:prstGeom prst="roundRect">
            <a:avLst>
              <a:gd name="adj" fmla="val 50000"/>
            </a:avLst>
          </a:prstGeom>
          <a:solidFill>
            <a:schemeClr val="accent1"/>
          </a:solidFill>
          <a:ln/>
        </p:spPr>
      </p:sp>
      <p:sp>
        <p:nvSpPr>
          <p:cNvPr id="7" name="Text 5"/>
          <p:cNvSpPr txBox="1"/>
          <p:nvPr/>
        </p:nvSpPr>
        <p:spPr>
          <a:xfrm>
            <a:off x="80586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DETECT</a:t>
            </a:r>
            <a:endParaRPr lang="en-US" sz="900" dirty="0"/>
          </a:p>
        </p:txBody>
      </p:sp>
      <p:sp>
        <p:nvSpPr>
          <p:cNvPr id="8" name="stage-chip-TRACK"/>
          <p:cNvSpPr/>
          <p:nvPr/>
        </p:nvSpPr>
        <p:spPr>
          <a:xfrm>
            <a:off x="8973007" y="384048"/>
            <a:ext cx="841248" cy="274320"/>
          </a:xfrm>
          <a:prstGeom prst="roundRect">
            <a:avLst>
              <a:gd name="adj" fmla="val 50000"/>
            </a:avLst>
          </a:prstGeom>
          <a:solidFill>
            <a:schemeClr val="accent1"/>
          </a:solidFill>
          <a:ln/>
        </p:spPr>
      </p:sp>
      <p:sp>
        <p:nvSpPr>
          <p:cNvPr id="9" name="Text 7"/>
          <p:cNvSpPr txBox="1"/>
          <p:nvPr/>
        </p:nvSpPr>
        <p:spPr>
          <a:xfrm>
            <a:off x="89730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TRACK</a:t>
            </a:r>
            <a:endParaRPr lang="en-US" sz="900" dirty="0"/>
          </a:p>
        </p:txBody>
      </p:sp>
      <p:sp>
        <p:nvSpPr>
          <p:cNvPr id="10" name="stage-chip-MEASURE"/>
          <p:cNvSpPr/>
          <p:nvPr/>
        </p:nvSpPr>
        <p:spPr>
          <a:xfrm>
            <a:off x="9887407" y="384048"/>
            <a:ext cx="841248" cy="274320"/>
          </a:xfrm>
          <a:prstGeom prst="roundRect">
            <a:avLst>
              <a:gd name="adj" fmla="val 50000"/>
            </a:avLst>
          </a:prstGeom>
          <a:solidFill>
            <a:schemeClr val="accent1"/>
          </a:solidFill>
          <a:ln/>
        </p:spPr>
      </p:sp>
      <p:sp>
        <p:nvSpPr>
          <p:cNvPr id="11" name="Text 9"/>
          <p:cNvSpPr txBox="1"/>
          <p:nvPr/>
        </p:nvSpPr>
        <p:spPr>
          <a:xfrm>
            <a:off x="98874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MEASURE</a:t>
            </a:r>
            <a:endParaRPr lang="en-US" sz="900" dirty="0"/>
          </a:p>
        </p:txBody>
      </p:sp>
      <p:sp>
        <p:nvSpPr>
          <p:cNvPr id="12" name="stage-chip-ACT"/>
          <p:cNvSpPr/>
          <p:nvPr/>
        </p:nvSpPr>
        <p:spPr>
          <a:xfrm>
            <a:off x="10801807" y="384048"/>
            <a:ext cx="841248" cy="274320"/>
          </a:xfrm>
          <a:prstGeom prst="roundRect">
            <a:avLst>
              <a:gd name="adj" fmla="val 50000"/>
            </a:avLst>
          </a:prstGeom>
          <a:solidFill>
            <a:schemeClr val="accent1"/>
          </a:solidFill>
          <a:ln/>
        </p:spPr>
      </p:sp>
      <p:sp>
        <p:nvSpPr>
          <p:cNvPr id="13" name="Text 11"/>
          <p:cNvSpPr txBox="1"/>
          <p:nvPr/>
        </p:nvSpPr>
        <p:spPr>
          <a:xfrm>
            <a:off x="10801807" y="384048"/>
            <a:ext cx="841248" cy="274320"/>
          </a:xfrm>
          <a:prstGeom prst="rect">
            <a:avLst/>
          </a:prstGeom>
          <a:noFill/>
          <a:ln/>
        </p:spPr>
        <p:txBody>
          <a:bodyPr wrap="square" lIns="0" tIns="0" rIns="0" bIns="0" rtlCol="0" anchor="ctr"/>
          <a:lstStyle/>
          <a:p>
            <a:pPr algn="ctr" indent="0" marL="0">
              <a:buNone/>
            </a:pPr>
            <a:r>
              <a:rPr lang="en-US" sz="900" b="1" spc="100" kern="0" dirty="0">
                <a:solidFill>
                  <a:schemeClr val="tx1"/>
                </a:solidFill>
              </a:rPr>
              <a:t>ACT</a:t>
            </a:r>
            <a:endParaRPr lang="en-US" sz="900" dirty="0"/>
          </a:p>
        </p:txBody>
      </p:sp>
      <p:sp>
        <p:nvSpPr>
          <p:cNvPr id="14" name="card"/>
          <p:cNvSpPr/>
          <p:nvPr/>
        </p:nvSpPr>
        <p:spPr>
          <a:xfrm>
            <a:off x="568300" y="1828800"/>
            <a:ext cx="1874520" cy="2697480"/>
          </a:xfrm>
          <a:prstGeom prst="roundRect">
            <a:avLst>
              <a:gd name="adj" fmla="val 3902"/>
            </a:avLst>
          </a:prstGeom>
          <a:solidFill>
            <a:schemeClr val="bg2"/>
          </a:solidFill>
          <a:ln/>
        </p:spPr>
      </p:sp>
      <p:sp>
        <p:nvSpPr>
          <p:cNvPr id="15" name="icon-bg"/>
          <p:cNvSpPr/>
          <p:nvPr/>
        </p:nvSpPr>
        <p:spPr>
          <a:xfrm>
            <a:off x="796900" y="2057400"/>
            <a:ext cx="640080" cy="640080"/>
          </a:xfrm>
          <a:prstGeom prst="ellipse">
            <a:avLst/>
          </a:prstGeom>
          <a:solidFill>
            <a:schemeClr val="tx2"/>
          </a:solidFill>
          <a:ln/>
        </p:spPr>
      </p:sp>
      <p:pic>
        <p:nvPicPr>
          <p:cNvPr id="16" name="Image 0" descr="Camera icon">    </p:cNvPr>
          <p:cNvPicPr>
            <a:picLocks noChangeAspect="1"/>
          </p:cNvPicPr>
          <p:nvPr/>
        </p:nvPicPr>
        <p:blipFill>
          <a:blip r:embed="rId1"/>
          <a:stretch>
            <a:fillRect/>
          </a:stretch>
        </p:blipFill>
        <p:spPr>
          <a:xfrm>
            <a:off x="937717" y="2198218"/>
            <a:ext cx="358445" cy="358445"/>
          </a:xfrm>
          <a:prstGeom prst="rect">
            <a:avLst/>
          </a:prstGeom>
        </p:spPr>
      </p:pic>
      <p:sp>
        <p:nvSpPr>
          <p:cNvPr id="17" name="Text 14"/>
          <p:cNvSpPr txBox="1"/>
          <p:nvPr/>
        </p:nvSpPr>
        <p:spPr>
          <a:xfrm>
            <a:off x="796900" y="2852928"/>
            <a:ext cx="1508760" cy="320040"/>
          </a:xfrm>
          <a:prstGeom prst="rect">
            <a:avLst/>
          </a:prstGeom>
          <a:noFill/>
          <a:ln/>
        </p:spPr>
        <p:txBody>
          <a:bodyPr wrap="square" lIns="0" tIns="0" rIns="0" bIns="0" rtlCol="0" anchor="t"/>
          <a:lstStyle/>
          <a:p>
            <a:pPr indent="0" marL="0">
              <a:buNone/>
            </a:pPr>
            <a:r>
              <a:rPr lang="en-US" sz="1700" b="1" dirty="0">
                <a:solidFill>
                  <a:schemeClr val="tx2"/>
                </a:solidFill>
              </a:rPr>
              <a:t>Camera</a:t>
            </a:r>
            <a:endParaRPr lang="en-US" sz="1700" dirty="0"/>
          </a:p>
        </p:txBody>
      </p:sp>
      <p:sp>
        <p:nvSpPr>
          <p:cNvPr id="18" name="Text 15"/>
          <p:cNvSpPr txBox="1"/>
          <p:nvPr/>
        </p:nvSpPr>
        <p:spPr>
          <a:xfrm>
            <a:off x="796900" y="3200400"/>
            <a:ext cx="1508760" cy="320040"/>
          </a:xfrm>
          <a:prstGeom prst="rect">
            <a:avLst/>
          </a:prstGeom>
          <a:noFill/>
          <a:ln/>
        </p:spPr>
        <p:txBody>
          <a:bodyPr wrap="square" lIns="0" tIns="0" rIns="0" bIns="0" rtlCol="0" anchor="t"/>
          <a:lstStyle/>
          <a:p>
            <a:pPr indent="0" marL="0">
              <a:buNone/>
            </a:pPr>
            <a:r>
              <a:rPr lang="en-US" sz="1400" dirty="0">
                <a:solidFill>
                  <a:schemeClr val="tx1"/>
                </a:solidFill>
              </a:rPr>
              <a:t>video frames</a:t>
            </a:r>
            <a:endParaRPr lang="en-US" sz="1400" dirty="0"/>
          </a:p>
        </p:txBody>
      </p:sp>
      <p:sp>
        <p:nvSpPr>
          <p:cNvPr id="19" name="Text 16"/>
          <p:cNvSpPr txBox="1"/>
          <p:nvPr/>
        </p:nvSpPr>
        <p:spPr>
          <a:xfrm>
            <a:off x="796900" y="3520440"/>
            <a:ext cx="1508760" cy="274320"/>
          </a:xfrm>
          <a:prstGeom prst="rect">
            <a:avLst/>
          </a:prstGeom>
          <a:noFill/>
          <a:ln/>
        </p:spPr>
        <p:txBody>
          <a:bodyPr wrap="square" lIns="0" tIns="0" rIns="0" bIns="0" rtlCol="0" anchor="t"/>
          <a:lstStyle/>
          <a:p>
            <a:pPr indent="0" marL="0">
              <a:buNone/>
            </a:pPr>
            <a:r>
              <a:rPr lang="en-US" sz="1200" dirty="0">
                <a:solidFill>
                  <a:schemeClr val="accent4"/>
                </a:solidFill>
              </a:rPr>
              <a:t>OpenCV</a:t>
            </a:r>
            <a:endParaRPr lang="en-US" sz="1200" dirty="0"/>
          </a:p>
        </p:txBody>
      </p:sp>
      <p:sp>
        <p:nvSpPr>
          <p:cNvPr id="20" name="Text 17"/>
          <p:cNvSpPr txBox="1"/>
          <p:nvPr/>
        </p:nvSpPr>
        <p:spPr>
          <a:xfrm>
            <a:off x="796900" y="3931920"/>
            <a:ext cx="1508760" cy="411480"/>
          </a:xfrm>
          <a:prstGeom prst="rect">
            <a:avLst/>
          </a:prstGeom>
          <a:noFill/>
          <a:ln/>
        </p:spPr>
        <p:txBody>
          <a:bodyPr wrap="square" lIns="0" tIns="0" rIns="0" bIns="0" rtlCol="0" anchor="ctr"/>
          <a:lstStyle/>
          <a:p>
            <a:pPr indent="0" marL="0">
              <a:buNone/>
            </a:pPr>
            <a:r>
              <a:rPr lang="en-US" sz="2000" b="1" dirty="0">
                <a:solidFill>
                  <a:schemeClr val="accent6"/>
                </a:solidFill>
              </a:rPr>
              <a:t>1080p</a:t>
            </a:r>
            <a:endParaRPr lang="en-US" sz="2000" dirty="0"/>
          </a:p>
        </p:txBody>
      </p:sp>
      <p:pic>
        <p:nvPicPr>
          <p:cNvPr id="21" name="Image 1" descr="arrow">    </p:cNvPr>
          <p:cNvPicPr>
            <a:picLocks noChangeAspect="1"/>
          </p:cNvPicPr>
          <p:nvPr/>
        </p:nvPicPr>
        <p:blipFill>
          <a:blip r:embed="rId2"/>
          <a:stretch>
            <a:fillRect/>
          </a:stretch>
        </p:blipFill>
        <p:spPr>
          <a:xfrm>
            <a:off x="2515972" y="3017520"/>
            <a:ext cx="274320" cy="274320"/>
          </a:xfrm>
          <a:prstGeom prst="rect">
            <a:avLst/>
          </a:prstGeom>
        </p:spPr>
      </p:pic>
      <p:sp>
        <p:nvSpPr>
          <p:cNvPr id="22" name="card"/>
          <p:cNvSpPr/>
          <p:nvPr/>
        </p:nvSpPr>
        <p:spPr>
          <a:xfrm>
            <a:off x="2863444" y="1828800"/>
            <a:ext cx="1874520" cy="2697480"/>
          </a:xfrm>
          <a:prstGeom prst="roundRect">
            <a:avLst>
              <a:gd name="adj" fmla="val 3902"/>
            </a:avLst>
          </a:prstGeom>
          <a:solidFill>
            <a:schemeClr val="bg2"/>
          </a:solidFill>
          <a:ln/>
        </p:spPr>
      </p:sp>
      <p:sp>
        <p:nvSpPr>
          <p:cNvPr id="23" name="icon-bg"/>
          <p:cNvSpPr/>
          <p:nvPr/>
        </p:nvSpPr>
        <p:spPr>
          <a:xfrm>
            <a:off x="3092044" y="2057400"/>
            <a:ext cx="640080" cy="640080"/>
          </a:xfrm>
          <a:prstGeom prst="ellipse">
            <a:avLst/>
          </a:prstGeom>
          <a:solidFill>
            <a:schemeClr val="tx2"/>
          </a:solidFill>
          <a:ln/>
        </p:spPr>
      </p:sp>
      <p:pic>
        <p:nvPicPr>
          <p:cNvPr id="24" name="Image 2" descr="Crosshair icon">    </p:cNvPr>
          <p:cNvPicPr>
            <a:picLocks noChangeAspect="1"/>
          </p:cNvPicPr>
          <p:nvPr/>
        </p:nvPicPr>
        <p:blipFill>
          <a:blip r:embed="rId3"/>
          <a:stretch>
            <a:fillRect/>
          </a:stretch>
        </p:blipFill>
        <p:spPr>
          <a:xfrm>
            <a:off x="3232861" y="2198218"/>
            <a:ext cx="358445" cy="358445"/>
          </a:xfrm>
          <a:prstGeom prst="rect">
            <a:avLst/>
          </a:prstGeom>
        </p:spPr>
      </p:pic>
      <p:sp>
        <p:nvSpPr>
          <p:cNvPr id="25" name="Text 20"/>
          <p:cNvSpPr txBox="1"/>
          <p:nvPr/>
        </p:nvSpPr>
        <p:spPr>
          <a:xfrm>
            <a:off x="3092044" y="2852928"/>
            <a:ext cx="1508760" cy="320040"/>
          </a:xfrm>
          <a:prstGeom prst="rect">
            <a:avLst/>
          </a:prstGeom>
          <a:noFill/>
          <a:ln/>
        </p:spPr>
        <p:txBody>
          <a:bodyPr wrap="square" lIns="0" tIns="0" rIns="0" bIns="0" rtlCol="0" anchor="t"/>
          <a:lstStyle/>
          <a:p>
            <a:pPr indent="0" marL="0">
              <a:buNone/>
            </a:pPr>
            <a:r>
              <a:rPr lang="en-US" sz="1700" b="1" dirty="0">
                <a:solidFill>
                  <a:schemeClr val="tx2"/>
                </a:solidFill>
              </a:rPr>
              <a:t>Detect</a:t>
            </a:r>
            <a:endParaRPr lang="en-US" sz="1700" dirty="0"/>
          </a:p>
        </p:txBody>
      </p:sp>
      <p:sp>
        <p:nvSpPr>
          <p:cNvPr id="26" name="Text 21"/>
          <p:cNvSpPr txBox="1"/>
          <p:nvPr/>
        </p:nvSpPr>
        <p:spPr>
          <a:xfrm>
            <a:off x="3092044" y="3200400"/>
            <a:ext cx="1508760" cy="320040"/>
          </a:xfrm>
          <a:prstGeom prst="rect">
            <a:avLst/>
          </a:prstGeom>
          <a:noFill/>
          <a:ln/>
        </p:spPr>
        <p:txBody>
          <a:bodyPr wrap="square" lIns="0" tIns="0" rIns="0" bIns="0" rtlCol="0" anchor="t"/>
          <a:lstStyle/>
          <a:p>
            <a:pPr indent="0" marL="0">
              <a:buNone/>
            </a:pPr>
            <a:r>
              <a:rPr lang="en-US" sz="1400" dirty="0">
                <a:solidFill>
                  <a:schemeClr val="tx1"/>
                </a:solidFill>
              </a:rPr>
              <a:t>YOLOv8n</a:t>
            </a:r>
            <a:endParaRPr lang="en-US" sz="1400" dirty="0"/>
          </a:p>
        </p:txBody>
      </p:sp>
      <p:sp>
        <p:nvSpPr>
          <p:cNvPr id="27" name="Text 22"/>
          <p:cNvSpPr txBox="1"/>
          <p:nvPr/>
        </p:nvSpPr>
        <p:spPr>
          <a:xfrm>
            <a:off x="3092044" y="3520440"/>
            <a:ext cx="1508760" cy="274320"/>
          </a:xfrm>
          <a:prstGeom prst="rect">
            <a:avLst/>
          </a:prstGeom>
          <a:noFill/>
          <a:ln/>
        </p:spPr>
        <p:txBody>
          <a:bodyPr wrap="square" lIns="0" tIns="0" rIns="0" bIns="0" rtlCol="0" anchor="t"/>
          <a:lstStyle/>
          <a:p>
            <a:pPr indent="0" marL="0">
              <a:buNone/>
            </a:pPr>
            <a:r>
              <a:rPr lang="en-US" sz="1200" dirty="0">
                <a:solidFill>
                  <a:schemeClr val="accent4"/>
                </a:solidFill>
              </a:rPr>
              <a:t>Ultralytics</a:t>
            </a:r>
            <a:endParaRPr lang="en-US" sz="1200" dirty="0"/>
          </a:p>
        </p:txBody>
      </p:sp>
      <p:sp>
        <p:nvSpPr>
          <p:cNvPr id="28" name="Text 23"/>
          <p:cNvSpPr txBox="1"/>
          <p:nvPr/>
        </p:nvSpPr>
        <p:spPr>
          <a:xfrm>
            <a:off x="3092044" y="3931920"/>
            <a:ext cx="1508760" cy="411480"/>
          </a:xfrm>
          <a:prstGeom prst="rect">
            <a:avLst/>
          </a:prstGeom>
          <a:noFill/>
          <a:ln/>
        </p:spPr>
        <p:txBody>
          <a:bodyPr wrap="square" lIns="0" tIns="0" rIns="0" bIns="0" rtlCol="0" anchor="ctr"/>
          <a:lstStyle/>
          <a:p>
            <a:pPr indent="0" marL="0">
              <a:buNone/>
            </a:pPr>
            <a:r>
              <a:rPr lang="en-US" sz="2000" b="1" dirty="0">
                <a:solidFill>
                  <a:schemeClr val="accent6"/>
                </a:solidFill>
              </a:rPr>
              <a:t>— ms</a:t>
            </a:r>
            <a:endParaRPr lang="en-US" sz="2000" dirty="0"/>
          </a:p>
        </p:txBody>
      </p:sp>
      <p:pic>
        <p:nvPicPr>
          <p:cNvPr id="29" name="Image 3" descr="arrow">    </p:cNvPr>
          <p:cNvPicPr>
            <a:picLocks noChangeAspect="1"/>
          </p:cNvPicPr>
          <p:nvPr/>
        </p:nvPicPr>
        <p:blipFill>
          <a:blip r:embed="rId4"/>
          <a:stretch>
            <a:fillRect/>
          </a:stretch>
        </p:blipFill>
        <p:spPr>
          <a:xfrm>
            <a:off x="4811116" y="3017520"/>
            <a:ext cx="274320" cy="274320"/>
          </a:xfrm>
          <a:prstGeom prst="rect">
            <a:avLst/>
          </a:prstGeom>
        </p:spPr>
      </p:pic>
      <p:sp>
        <p:nvSpPr>
          <p:cNvPr id="30" name="card"/>
          <p:cNvSpPr/>
          <p:nvPr/>
        </p:nvSpPr>
        <p:spPr>
          <a:xfrm>
            <a:off x="5158588" y="1828800"/>
            <a:ext cx="1874520" cy="2697480"/>
          </a:xfrm>
          <a:prstGeom prst="roundRect">
            <a:avLst>
              <a:gd name="adj" fmla="val 3902"/>
            </a:avLst>
          </a:prstGeom>
          <a:solidFill>
            <a:schemeClr val="bg2"/>
          </a:solidFill>
          <a:ln/>
        </p:spPr>
      </p:sp>
      <p:sp>
        <p:nvSpPr>
          <p:cNvPr id="31" name="icon-bg"/>
          <p:cNvSpPr/>
          <p:nvPr/>
        </p:nvSpPr>
        <p:spPr>
          <a:xfrm>
            <a:off x="5387188" y="2057400"/>
            <a:ext cx="640080" cy="640080"/>
          </a:xfrm>
          <a:prstGeom prst="ellipse">
            <a:avLst/>
          </a:prstGeom>
          <a:solidFill>
            <a:schemeClr val="tx2"/>
          </a:solidFill>
          <a:ln/>
        </p:spPr>
      </p:sp>
      <p:pic>
        <p:nvPicPr>
          <p:cNvPr id="32" name="Image 4" descr="Route icon">    </p:cNvPr>
          <p:cNvPicPr>
            <a:picLocks noChangeAspect="1"/>
          </p:cNvPicPr>
          <p:nvPr/>
        </p:nvPicPr>
        <p:blipFill>
          <a:blip r:embed="rId5"/>
          <a:stretch>
            <a:fillRect/>
          </a:stretch>
        </p:blipFill>
        <p:spPr>
          <a:xfrm>
            <a:off x="5528005" y="2198218"/>
            <a:ext cx="358445" cy="358445"/>
          </a:xfrm>
          <a:prstGeom prst="rect">
            <a:avLst/>
          </a:prstGeom>
        </p:spPr>
      </p:pic>
      <p:sp>
        <p:nvSpPr>
          <p:cNvPr id="33" name="Text 26"/>
          <p:cNvSpPr txBox="1"/>
          <p:nvPr/>
        </p:nvSpPr>
        <p:spPr>
          <a:xfrm>
            <a:off x="5387188" y="2852928"/>
            <a:ext cx="1508760" cy="320040"/>
          </a:xfrm>
          <a:prstGeom prst="rect">
            <a:avLst/>
          </a:prstGeom>
          <a:noFill/>
          <a:ln/>
        </p:spPr>
        <p:txBody>
          <a:bodyPr wrap="square" lIns="0" tIns="0" rIns="0" bIns="0" rtlCol="0" anchor="t"/>
          <a:lstStyle/>
          <a:p>
            <a:pPr indent="0" marL="0">
              <a:buNone/>
            </a:pPr>
            <a:r>
              <a:rPr lang="en-US" sz="1700" b="1" dirty="0">
                <a:solidFill>
                  <a:schemeClr val="tx2"/>
                </a:solidFill>
              </a:rPr>
              <a:t>Track</a:t>
            </a:r>
            <a:endParaRPr lang="en-US" sz="1700" dirty="0"/>
          </a:p>
        </p:txBody>
      </p:sp>
      <p:sp>
        <p:nvSpPr>
          <p:cNvPr id="34" name="Text 27"/>
          <p:cNvSpPr txBox="1"/>
          <p:nvPr/>
        </p:nvSpPr>
        <p:spPr>
          <a:xfrm>
            <a:off x="5387188" y="3200400"/>
            <a:ext cx="1508760" cy="320040"/>
          </a:xfrm>
          <a:prstGeom prst="rect">
            <a:avLst/>
          </a:prstGeom>
          <a:noFill/>
          <a:ln/>
        </p:spPr>
        <p:txBody>
          <a:bodyPr wrap="square" lIns="0" tIns="0" rIns="0" bIns="0" rtlCol="0" anchor="t"/>
          <a:lstStyle/>
          <a:p>
            <a:pPr indent="0" marL="0">
              <a:buNone/>
            </a:pPr>
            <a:r>
              <a:rPr lang="en-US" sz="1400" dirty="0">
                <a:solidFill>
                  <a:schemeClr val="tx1"/>
                </a:solidFill>
              </a:rPr>
              <a:t>ByteTrack</a:t>
            </a:r>
            <a:endParaRPr lang="en-US" sz="1400" dirty="0"/>
          </a:p>
        </p:txBody>
      </p:sp>
      <p:sp>
        <p:nvSpPr>
          <p:cNvPr id="35" name="Text 28"/>
          <p:cNvSpPr txBox="1"/>
          <p:nvPr/>
        </p:nvSpPr>
        <p:spPr>
          <a:xfrm>
            <a:off x="5387188" y="3520440"/>
            <a:ext cx="1508760" cy="274320"/>
          </a:xfrm>
          <a:prstGeom prst="rect">
            <a:avLst/>
          </a:prstGeom>
          <a:noFill/>
          <a:ln/>
        </p:spPr>
        <p:txBody>
          <a:bodyPr wrap="square" lIns="0" tIns="0" rIns="0" bIns="0" rtlCol="0" anchor="t"/>
          <a:lstStyle/>
          <a:p>
            <a:pPr indent="0" marL="0">
              <a:buNone/>
            </a:pPr>
            <a:r>
              <a:rPr lang="en-US" sz="1200" dirty="0">
                <a:solidFill>
                  <a:schemeClr val="accent4"/>
                </a:solidFill>
              </a:rPr>
              <a:t>supervision</a:t>
            </a:r>
            <a:endParaRPr lang="en-US" sz="1200" dirty="0"/>
          </a:p>
        </p:txBody>
      </p:sp>
      <p:sp>
        <p:nvSpPr>
          <p:cNvPr id="36" name="Text 29"/>
          <p:cNvSpPr txBox="1"/>
          <p:nvPr/>
        </p:nvSpPr>
        <p:spPr>
          <a:xfrm>
            <a:off x="5387188" y="3931920"/>
            <a:ext cx="1508760" cy="411480"/>
          </a:xfrm>
          <a:prstGeom prst="rect">
            <a:avLst/>
          </a:prstGeom>
          <a:noFill/>
          <a:ln/>
        </p:spPr>
        <p:txBody>
          <a:bodyPr wrap="square" lIns="0" tIns="0" rIns="0" bIns="0" rtlCol="0" anchor="ctr"/>
          <a:lstStyle/>
          <a:p>
            <a:pPr indent="0" marL="0">
              <a:buNone/>
            </a:pPr>
            <a:r>
              <a:rPr lang="en-US" sz="2000" b="1" dirty="0">
                <a:solidFill>
                  <a:schemeClr val="accent6"/>
                </a:solidFill>
              </a:rPr>
              <a:t>— ms</a:t>
            </a:r>
            <a:endParaRPr lang="en-US" sz="2000" dirty="0"/>
          </a:p>
        </p:txBody>
      </p:sp>
      <p:pic>
        <p:nvPicPr>
          <p:cNvPr id="37" name="Image 5" descr="arrow">    </p:cNvPr>
          <p:cNvPicPr>
            <a:picLocks noChangeAspect="1"/>
          </p:cNvPicPr>
          <p:nvPr/>
        </p:nvPicPr>
        <p:blipFill>
          <a:blip r:embed="rId6"/>
          <a:stretch>
            <a:fillRect/>
          </a:stretch>
        </p:blipFill>
        <p:spPr>
          <a:xfrm>
            <a:off x="7106260" y="3017520"/>
            <a:ext cx="274320" cy="274320"/>
          </a:xfrm>
          <a:prstGeom prst="rect">
            <a:avLst/>
          </a:prstGeom>
        </p:spPr>
      </p:pic>
      <p:sp>
        <p:nvSpPr>
          <p:cNvPr id="38" name="card"/>
          <p:cNvSpPr/>
          <p:nvPr/>
        </p:nvSpPr>
        <p:spPr>
          <a:xfrm>
            <a:off x="7453732" y="1828800"/>
            <a:ext cx="1874520" cy="2697480"/>
          </a:xfrm>
          <a:prstGeom prst="roundRect">
            <a:avLst>
              <a:gd name="adj" fmla="val 3902"/>
            </a:avLst>
          </a:prstGeom>
          <a:solidFill>
            <a:schemeClr val="bg2"/>
          </a:solidFill>
          <a:ln/>
        </p:spPr>
      </p:sp>
      <p:sp>
        <p:nvSpPr>
          <p:cNvPr id="39" name="icon-bg"/>
          <p:cNvSpPr/>
          <p:nvPr/>
        </p:nvSpPr>
        <p:spPr>
          <a:xfrm>
            <a:off x="7682332" y="2057400"/>
            <a:ext cx="640080" cy="640080"/>
          </a:xfrm>
          <a:prstGeom prst="ellipse">
            <a:avLst/>
          </a:prstGeom>
          <a:solidFill>
            <a:schemeClr val="tx2"/>
          </a:solidFill>
          <a:ln/>
        </p:spPr>
      </p:sp>
      <p:pic>
        <p:nvPicPr>
          <p:cNvPr id="40" name="Image 6" descr="Ruler icon">    </p:cNvPr>
          <p:cNvPicPr>
            <a:picLocks noChangeAspect="1"/>
          </p:cNvPicPr>
          <p:nvPr/>
        </p:nvPicPr>
        <p:blipFill>
          <a:blip r:embed="rId7"/>
          <a:stretch>
            <a:fillRect/>
          </a:stretch>
        </p:blipFill>
        <p:spPr>
          <a:xfrm>
            <a:off x="7823149" y="2198218"/>
            <a:ext cx="358445" cy="358445"/>
          </a:xfrm>
          <a:prstGeom prst="rect">
            <a:avLst/>
          </a:prstGeom>
        </p:spPr>
      </p:pic>
      <p:sp>
        <p:nvSpPr>
          <p:cNvPr id="41" name="Text 32"/>
          <p:cNvSpPr txBox="1"/>
          <p:nvPr/>
        </p:nvSpPr>
        <p:spPr>
          <a:xfrm>
            <a:off x="7682332" y="2852928"/>
            <a:ext cx="1508760" cy="320040"/>
          </a:xfrm>
          <a:prstGeom prst="rect">
            <a:avLst/>
          </a:prstGeom>
          <a:noFill/>
          <a:ln/>
        </p:spPr>
        <p:txBody>
          <a:bodyPr wrap="square" lIns="0" tIns="0" rIns="0" bIns="0" rtlCol="0" anchor="t"/>
          <a:lstStyle/>
          <a:p>
            <a:pPr indent="0" marL="0">
              <a:buNone/>
            </a:pPr>
            <a:r>
              <a:rPr lang="en-US" sz="1700" b="1" dirty="0">
                <a:solidFill>
                  <a:schemeClr val="tx2"/>
                </a:solidFill>
              </a:rPr>
              <a:t>Measure</a:t>
            </a:r>
            <a:endParaRPr lang="en-US" sz="1700" dirty="0"/>
          </a:p>
        </p:txBody>
      </p:sp>
      <p:sp>
        <p:nvSpPr>
          <p:cNvPr id="42" name="Text 33"/>
          <p:cNvSpPr txBox="1"/>
          <p:nvPr/>
        </p:nvSpPr>
        <p:spPr>
          <a:xfrm>
            <a:off x="7682332" y="3200400"/>
            <a:ext cx="1508760" cy="320040"/>
          </a:xfrm>
          <a:prstGeom prst="rect">
            <a:avLst/>
          </a:prstGeom>
          <a:noFill/>
          <a:ln/>
        </p:spPr>
        <p:txBody>
          <a:bodyPr wrap="square" lIns="0" tIns="0" rIns="0" bIns="0" rtlCol="0" anchor="t"/>
          <a:lstStyle/>
          <a:p>
            <a:pPr indent="0" marL="0">
              <a:buNone/>
            </a:pPr>
            <a:r>
              <a:rPr lang="en-US" sz="1400" dirty="0">
                <a:solidFill>
                  <a:schemeClr val="tx1"/>
                </a:solidFill>
              </a:rPr>
              <a:t>Homography</a:t>
            </a:r>
            <a:endParaRPr lang="en-US" sz="1400" dirty="0"/>
          </a:p>
        </p:txBody>
      </p:sp>
      <p:sp>
        <p:nvSpPr>
          <p:cNvPr id="43" name="Text 34"/>
          <p:cNvSpPr txBox="1"/>
          <p:nvPr/>
        </p:nvSpPr>
        <p:spPr>
          <a:xfrm>
            <a:off x="7682332" y="3520440"/>
            <a:ext cx="1508760" cy="274320"/>
          </a:xfrm>
          <a:prstGeom prst="rect">
            <a:avLst/>
          </a:prstGeom>
          <a:noFill/>
          <a:ln/>
        </p:spPr>
        <p:txBody>
          <a:bodyPr wrap="square" lIns="0" tIns="0" rIns="0" bIns="0" rtlCol="0" anchor="t"/>
          <a:lstStyle/>
          <a:p>
            <a:pPr indent="0" marL="0">
              <a:buNone/>
            </a:pPr>
            <a:r>
              <a:rPr lang="en-US" sz="1200" dirty="0">
                <a:solidFill>
                  <a:schemeClr val="accent4"/>
                </a:solidFill>
              </a:rPr>
              <a:t>OpenCV / NumPy</a:t>
            </a:r>
            <a:endParaRPr lang="en-US" sz="1200" dirty="0"/>
          </a:p>
        </p:txBody>
      </p:sp>
      <p:sp>
        <p:nvSpPr>
          <p:cNvPr id="44" name="Text 35"/>
          <p:cNvSpPr txBox="1"/>
          <p:nvPr/>
        </p:nvSpPr>
        <p:spPr>
          <a:xfrm>
            <a:off x="7682332" y="3931920"/>
            <a:ext cx="1508760" cy="411480"/>
          </a:xfrm>
          <a:prstGeom prst="rect">
            <a:avLst/>
          </a:prstGeom>
          <a:noFill/>
          <a:ln/>
        </p:spPr>
        <p:txBody>
          <a:bodyPr wrap="square" lIns="0" tIns="0" rIns="0" bIns="0" rtlCol="0" anchor="ctr"/>
          <a:lstStyle/>
          <a:p>
            <a:pPr indent="0" marL="0">
              <a:buNone/>
            </a:pPr>
            <a:r>
              <a:rPr lang="en-US" sz="2000" b="1" dirty="0">
                <a:solidFill>
                  <a:schemeClr val="accent6"/>
                </a:solidFill>
              </a:rPr>
              <a:t>— ms</a:t>
            </a:r>
            <a:endParaRPr lang="en-US" sz="2000" dirty="0"/>
          </a:p>
        </p:txBody>
      </p:sp>
      <p:pic>
        <p:nvPicPr>
          <p:cNvPr id="45" name="Image 7" descr="arrow">    </p:cNvPr>
          <p:cNvPicPr>
            <a:picLocks noChangeAspect="1"/>
          </p:cNvPicPr>
          <p:nvPr/>
        </p:nvPicPr>
        <p:blipFill>
          <a:blip r:embed="rId8"/>
          <a:stretch>
            <a:fillRect/>
          </a:stretch>
        </p:blipFill>
        <p:spPr>
          <a:xfrm>
            <a:off x="9401404" y="3017520"/>
            <a:ext cx="274320" cy="274320"/>
          </a:xfrm>
          <a:prstGeom prst="rect">
            <a:avLst/>
          </a:prstGeom>
        </p:spPr>
      </p:pic>
      <p:sp>
        <p:nvSpPr>
          <p:cNvPr id="46" name="card"/>
          <p:cNvSpPr/>
          <p:nvPr/>
        </p:nvSpPr>
        <p:spPr>
          <a:xfrm>
            <a:off x="9748876" y="1828800"/>
            <a:ext cx="1874520" cy="2697480"/>
          </a:xfrm>
          <a:prstGeom prst="roundRect">
            <a:avLst>
              <a:gd name="adj" fmla="val 3902"/>
            </a:avLst>
          </a:prstGeom>
          <a:solidFill>
            <a:srgbClr val="FEF0C7"/>
          </a:solidFill>
          <a:ln/>
        </p:spPr>
      </p:sp>
      <p:sp>
        <p:nvSpPr>
          <p:cNvPr id="47" name="icon-bg"/>
          <p:cNvSpPr/>
          <p:nvPr/>
        </p:nvSpPr>
        <p:spPr>
          <a:xfrm>
            <a:off x="9977476" y="2057400"/>
            <a:ext cx="640080" cy="640080"/>
          </a:xfrm>
          <a:prstGeom prst="ellipse">
            <a:avLst/>
          </a:prstGeom>
          <a:solidFill>
            <a:schemeClr val="tx2"/>
          </a:solidFill>
          <a:ln/>
        </p:spPr>
      </p:sp>
      <p:pic>
        <p:nvPicPr>
          <p:cNvPr id="48" name="Image 8" descr="Siren icon">    </p:cNvPr>
          <p:cNvPicPr>
            <a:picLocks noChangeAspect="1"/>
          </p:cNvPicPr>
          <p:nvPr/>
        </p:nvPicPr>
        <p:blipFill>
          <a:blip r:embed="rId9"/>
          <a:stretch>
            <a:fillRect/>
          </a:stretch>
        </p:blipFill>
        <p:spPr>
          <a:xfrm>
            <a:off x="10118293" y="2198218"/>
            <a:ext cx="358445" cy="358445"/>
          </a:xfrm>
          <a:prstGeom prst="rect">
            <a:avLst/>
          </a:prstGeom>
        </p:spPr>
      </p:pic>
      <p:sp>
        <p:nvSpPr>
          <p:cNvPr id="49" name="Text 38"/>
          <p:cNvSpPr txBox="1"/>
          <p:nvPr/>
        </p:nvSpPr>
        <p:spPr>
          <a:xfrm>
            <a:off x="9977476" y="2852928"/>
            <a:ext cx="1508760" cy="320040"/>
          </a:xfrm>
          <a:prstGeom prst="rect">
            <a:avLst/>
          </a:prstGeom>
          <a:noFill/>
          <a:ln/>
        </p:spPr>
        <p:txBody>
          <a:bodyPr wrap="square" lIns="0" tIns="0" rIns="0" bIns="0" rtlCol="0" anchor="t"/>
          <a:lstStyle/>
          <a:p>
            <a:pPr indent="0" marL="0">
              <a:buNone/>
            </a:pPr>
            <a:r>
              <a:rPr lang="en-US" sz="1700" b="1" dirty="0">
                <a:solidFill>
                  <a:schemeClr val="tx2"/>
                </a:solidFill>
              </a:rPr>
              <a:t>Act</a:t>
            </a:r>
            <a:endParaRPr lang="en-US" sz="1700" dirty="0"/>
          </a:p>
        </p:txBody>
      </p:sp>
      <p:sp>
        <p:nvSpPr>
          <p:cNvPr id="50" name="Text 39"/>
          <p:cNvSpPr txBox="1"/>
          <p:nvPr/>
        </p:nvSpPr>
        <p:spPr>
          <a:xfrm>
            <a:off x="9977476" y="3200400"/>
            <a:ext cx="1508760" cy="320040"/>
          </a:xfrm>
          <a:prstGeom prst="rect">
            <a:avLst/>
          </a:prstGeom>
          <a:noFill/>
          <a:ln/>
        </p:spPr>
        <p:txBody>
          <a:bodyPr wrap="square" lIns="0" tIns="0" rIns="0" bIns="0" rtlCol="0" anchor="t"/>
          <a:lstStyle/>
          <a:p>
            <a:pPr indent="0" marL="0">
              <a:buNone/>
            </a:pPr>
            <a:r>
              <a:rPr lang="en-US" sz="1400" dirty="0">
                <a:solidFill>
                  <a:schemeClr val="tx1"/>
                </a:solidFill>
              </a:rPr>
              <a:t>Rule engine</a:t>
            </a:r>
            <a:endParaRPr lang="en-US" sz="1400" dirty="0"/>
          </a:p>
        </p:txBody>
      </p:sp>
      <p:sp>
        <p:nvSpPr>
          <p:cNvPr id="51" name="Text 40"/>
          <p:cNvSpPr txBox="1"/>
          <p:nvPr/>
        </p:nvSpPr>
        <p:spPr>
          <a:xfrm>
            <a:off x="9977476" y="3520440"/>
            <a:ext cx="1508760" cy="274320"/>
          </a:xfrm>
          <a:prstGeom prst="rect">
            <a:avLst/>
          </a:prstGeom>
          <a:noFill/>
          <a:ln/>
        </p:spPr>
        <p:txBody>
          <a:bodyPr wrap="square" lIns="0" tIns="0" rIns="0" bIns="0" rtlCol="0" anchor="t"/>
          <a:lstStyle/>
          <a:p>
            <a:pPr indent="0" marL="0">
              <a:buNone/>
            </a:pPr>
            <a:r>
              <a:rPr lang="en-US" sz="1200" dirty="0">
                <a:solidFill>
                  <a:schemeClr val="accent4"/>
                </a:solidFill>
              </a:rPr>
              <a:t>Python</a:t>
            </a:r>
            <a:endParaRPr lang="en-US" sz="1200" dirty="0"/>
          </a:p>
        </p:txBody>
      </p:sp>
      <p:sp>
        <p:nvSpPr>
          <p:cNvPr id="52" name="Text 41"/>
          <p:cNvSpPr txBox="1"/>
          <p:nvPr/>
        </p:nvSpPr>
        <p:spPr>
          <a:xfrm>
            <a:off x="9977476" y="3931920"/>
            <a:ext cx="1508760" cy="411480"/>
          </a:xfrm>
          <a:prstGeom prst="rect">
            <a:avLst/>
          </a:prstGeom>
          <a:noFill/>
          <a:ln/>
        </p:spPr>
        <p:txBody>
          <a:bodyPr wrap="square" lIns="0" tIns="0" rIns="0" bIns="0" rtlCol="0" anchor="ctr"/>
          <a:lstStyle/>
          <a:p>
            <a:pPr indent="0" marL="0">
              <a:buNone/>
            </a:pPr>
            <a:r>
              <a:rPr lang="en-US" sz="2000" b="1" dirty="0">
                <a:solidFill>
                  <a:schemeClr val="accent6"/>
                </a:solidFill>
              </a:rPr>
              <a:t>&lt; 1 ms</a:t>
            </a:r>
            <a:endParaRPr lang="en-US" sz="2000" dirty="0"/>
          </a:p>
        </p:txBody>
      </p:sp>
      <p:sp>
        <p:nvSpPr>
          <p:cNvPr id="53" name="Text 42"/>
          <p:cNvSpPr txBox="1"/>
          <p:nvPr/>
        </p:nvSpPr>
        <p:spPr>
          <a:xfrm>
            <a:off x="568300" y="4636008"/>
            <a:ext cx="9144000" cy="274320"/>
          </a:xfrm>
          <a:prstGeom prst="rect">
            <a:avLst/>
          </a:prstGeom>
          <a:noFill/>
          <a:ln/>
        </p:spPr>
        <p:txBody>
          <a:bodyPr wrap="square" lIns="0" tIns="0" rIns="0" bIns="0" rtlCol="0" anchor="t"/>
          <a:lstStyle/>
          <a:p>
            <a:pPr indent="0" marL="0">
              <a:buNone/>
            </a:pPr>
            <a:r>
              <a:rPr lang="en-US" sz="1200" dirty="0">
                <a:solidFill>
                  <a:schemeClr val="accent5"/>
                </a:solidFill>
              </a:rPr>
              <a:t>Orange: measured time per frame on a laptop CPU</a:t>
            </a:r>
            <a:endParaRPr lang="en-US" sz="1200" dirty="0"/>
          </a:p>
        </p:txBody>
      </p:sp>
      <p:sp>
        <p:nvSpPr>
          <p:cNvPr id="54" name="icon-bg"/>
          <p:cNvSpPr/>
          <p:nvPr/>
        </p:nvSpPr>
        <p:spPr>
          <a:xfrm>
            <a:off x="548640" y="5257800"/>
            <a:ext cx="548640" cy="548640"/>
          </a:xfrm>
          <a:prstGeom prst="ellipse">
            <a:avLst/>
          </a:prstGeom>
          <a:solidFill>
            <a:schemeClr val="bg2"/>
          </a:solidFill>
          <a:ln/>
        </p:spPr>
      </p:sp>
      <p:pic>
        <p:nvPicPr>
          <p:cNvPr id="55" name="Image 9" descr="Monitor icon">    </p:cNvPr>
          <p:cNvPicPr>
            <a:picLocks noChangeAspect="1"/>
          </p:cNvPicPr>
          <p:nvPr/>
        </p:nvPicPr>
        <p:blipFill>
          <a:blip r:embed="rId10"/>
          <a:stretch>
            <a:fillRect/>
          </a:stretch>
        </p:blipFill>
        <p:spPr>
          <a:xfrm>
            <a:off x="669341" y="5378501"/>
            <a:ext cx="307238" cy="307238"/>
          </a:xfrm>
          <a:prstGeom prst="rect">
            <a:avLst/>
          </a:prstGeom>
        </p:spPr>
      </p:pic>
      <p:sp>
        <p:nvSpPr>
          <p:cNvPr id="56" name="Text 44"/>
          <p:cNvSpPr txBox="1"/>
          <p:nvPr/>
        </p:nvSpPr>
        <p:spPr>
          <a:xfrm>
            <a:off x="1280160" y="5230368"/>
            <a:ext cx="2722778" cy="301752"/>
          </a:xfrm>
          <a:prstGeom prst="rect">
            <a:avLst/>
          </a:prstGeom>
          <a:noFill/>
          <a:ln/>
        </p:spPr>
        <p:txBody>
          <a:bodyPr wrap="square" lIns="0" tIns="0" rIns="0" bIns="0" rtlCol="0" anchor="t"/>
          <a:lstStyle/>
          <a:p>
            <a:pPr indent="0" marL="0">
              <a:buNone/>
            </a:pPr>
            <a:r>
              <a:rPr lang="en-US" sz="1500" b="1" dirty="0">
                <a:solidFill>
                  <a:schemeClr val="tx2"/>
                </a:solidFill>
              </a:rPr>
              <a:t>Live overlay</a:t>
            </a:r>
            <a:endParaRPr lang="en-US" sz="1500" dirty="0"/>
          </a:p>
        </p:txBody>
      </p:sp>
      <p:sp>
        <p:nvSpPr>
          <p:cNvPr id="57" name="Text 45"/>
          <p:cNvSpPr txBox="1"/>
          <p:nvPr/>
        </p:nvSpPr>
        <p:spPr>
          <a:xfrm>
            <a:off x="1280160" y="5532120"/>
            <a:ext cx="2722778" cy="301752"/>
          </a:xfrm>
          <a:prstGeom prst="rect">
            <a:avLst/>
          </a:prstGeom>
          <a:noFill/>
          <a:ln/>
        </p:spPr>
        <p:txBody>
          <a:bodyPr wrap="square" lIns="0" tIns="0" rIns="0" bIns="0" rtlCol="0" anchor="t"/>
          <a:lstStyle/>
          <a:p>
            <a:pPr indent="0" marL="0">
              <a:buNone/>
            </a:pPr>
            <a:r>
              <a:rPr lang="en-US" sz="1300" dirty="0">
                <a:solidFill>
                  <a:schemeClr val="accent4"/>
                </a:solidFill>
              </a:rPr>
              <a:t>boxes, IDs, km/h, HUD</a:t>
            </a:r>
            <a:endParaRPr lang="en-US" sz="1300" dirty="0"/>
          </a:p>
        </p:txBody>
      </p:sp>
      <p:sp>
        <p:nvSpPr>
          <p:cNvPr id="58" name="icon-bg"/>
          <p:cNvSpPr/>
          <p:nvPr/>
        </p:nvSpPr>
        <p:spPr>
          <a:xfrm>
            <a:off x="4368698" y="5257800"/>
            <a:ext cx="548640" cy="548640"/>
          </a:xfrm>
          <a:prstGeom prst="ellipse">
            <a:avLst/>
          </a:prstGeom>
          <a:solidFill>
            <a:schemeClr val="bg2"/>
          </a:solidFill>
          <a:ln/>
        </p:spPr>
      </p:sp>
      <p:pic>
        <p:nvPicPr>
          <p:cNvPr id="59" name="Image 10" descr="FileWarning icon">    </p:cNvPr>
          <p:cNvPicPr>
            <a:picLocks noChangeAspect="1"/>
          </p:cNvPicPr>
          <p:nvPr/>
        </p:nvPicPr>
        <p:blipFill>
          <a:blip r:embed="rId11"/>
          <a:stretch>
            <a:fillRect/>
          </a:stretch>
        </p:blipFill>
        <p:spPr>
          <a:xfrm>
            <a:off x="4489399" y="5378501"/>
            <a:ext cx="307238" cy="307238"/>
          </a:xfrm>
          <a:prstGeom prst="rect">
            <a:avLst/>
          </a:prstGeom>
        </p:spPr>
      </p:pic>
      <p:sp>
        <p:nvSpPr>
          <p:cNvPr id="60" name="Text 47"/>
          <p:cNvSpPr txBox="1"/>
          <p:nvPr/>
        </p:nvSpPr>
        <p:spPr>
          <a:xfrm>
            <a:off x="5100218" y="5230368"/>
            <a:ext cx="2722778" cy="301752"/>
          </a:xfrm>
          <a:prstGeom prst="rect">
            <a:avLst/>
          </a:prstGeom>
          <a:noFill/>
          <a:ln/>
        </p:spPr>
        <p:txBody>
          <a:bodyPr wrap="square" lIns="0" tIns="0" rIns="0" bIns="0" rtlCol="0" anchor="t"/>
          <a:lstStyle/>
          <a:p>
            <a:pPr indent="0" marL="0">
              <a:buNone/>
            </a:pPr>
            <a:r>
              <a:rPr lang="en-US" sz="1500" b="1" dirty="0">
                <a:solidFill>
                  <a:schemeClr val="tx2"/>
                </a:solidFill>
              </a:rPr>
              <a:t>Evidence</a:t>
            </a:r>
            <a:endParaRPr lang="en-US" sz="1500" dirty="0"/>
          </a:p>
        </p:txBody>
      </p:sp>
      <p:sp>
        <p:nvSpPr>
          <p:cNvPr id="61" name="Text 48"/>
          <p:cNvSpPr txBox="1"/>
          <p:nvPr/>
        </p:nvSpPr>
        <p:spPr>
          <a:xfrm>
            <a:off x="5100218" y="5532120"/>
            <a:ext cx="2722778" cy="301752"/>
          </a:xfrm>
          <a:prstGeom prst="rect">
            <a:avLst/>
          </a:prstGeom>
          <a:noFill/>
          <a:ln/>
        </p:spPr>
        <p:txBody>
          <a:bodyPr wrap="square" lIns="0" tIns="0" rIns="0" bIns="0" rtlCol="0" anchor="t"/>
          <a:lstStyle/>
          <a:p>
            <a:pPr indent="0" marL="0">
              <a:buNone/>
            </a:pPr>
            <a:r>
              <a:rPr lang="en-US" sz="1300" dirty="0">
                <a:solidFill>
                  <a:schemeClr val="accent4"/>
                </a:solidFill>
              </a:rPr>
              <a:t>one JPEG per violator</a:t>
            </a:r>
            <a:endParaRPr lang="en-US" sz="1300" dirty="0"/>
          </a:p>
        </p:txBody>
      </p:sp>
      <p:sp>
        <p:nvSpPr>
          <p:cNvPr id="62" name="icon-bg"/>
          <p:cNvSpPr/>
          <p:nvPr/>
        </p:nvSpPr>
        <p:spPr>
          <a:xfrm>
            <a:off x="8188757" y="5257800"/>
            <a:ext cx="548640" cy="548640"/>
          </a:xfrm>
          <a:prstGeom prst="ellipse">
            <a:avLst/>
          </a:prstGeom>
          <a:solidFill>
            <a:schemeClr val="bg2"/>
          </a:solidFill>
          <a:ln/>
        </p:spPr>
      </p:sp>
      <p:pic>
        <p:nvPicPr>
          <p:cNvPr id="63" name="Image 11" descr="FileText icon">    </p:cNvPr>
          <p:cNvPicPr>
            <a:picLocks noChangeAspect="1"/>
          </p:cNvPicPr>
          <p:nvPr/>
        </p:nvPicPr>
        <p:blipFill>
          <a:blip r:embed="rId12"/>
          <a:stretch>
            <a:fillRect/>
          </a:stretch>
        </p:blipFill>
        <p:spPr>
          <a:xfrm>
            <a:off x="8309458" y="5378501"/>
            <a:ext cx="307238" cy="307238"/>
          </a:xfrm>
          <a:prstGeom prst="rect">
            <a:avLst/>
          </a:prstGeom>
        </p:spPr>
      </p:pic>
      <p:sp>
        <p:nvSpPr>
          <p:cNvPr id="64" name="Text 50"/>
          <p:cNvSpPr txBox="1"/>
          <p:nvPr/>
        </p:nvSpPr>
        <p:spPr>
          <a:xfrm>
            <a:off x="8920277" y="5230368"/>
            <a:ext cx="2722778" cy="301752"/>
          </a:xfrm>
          <a:prstGeom prst="rect">
            <a:avLst/>
          </a:prstGeom>
          <a:noFill/>
          <a:ln/>
        </p:spPr>
        <p:txBody>
          <a:bodyPr wrap="square" lIns="0" tIns="0" rIns="0" bIns="0" rtlCol="0" anchor="t"/>
          <a:lstStyle/>
          <a:p>
            <a:pPr indent="0" marL="0">
              <a:buNone/>
            </a:pPr>
            <a:r>
              <a:rPr lang="en-US" sz="1500" b="1" dirty="0">
                <a:solidFill>
                  <a:schemeClr val="tx2"/>
                </a:solidFill>
              </a:rPr>
              <a:t>Logs</a:t>
            </a:r>
            <a:endParaRPr lang="en-US" sz="1500" dirty="0"/>
          </a:p>
        </p:txBody>
      </p:sp>
      <p:sp>
        <p:nvSpPr>
          <p:cNvPr id="65" name="Text 51"/>
          <p:cNvSpPr txBox="1"/>
          <p:nvPr/>
        </p:nvSpPr>
        <p:spPr>
          <a:xfrm>
            <a:off x="8920277" y="5532120"/>
            <a:ext cx="2722778" cy="301752"/>
          </a:xfrm>
          <a:prstGeom prst="rect">
            <a:avLst/>
          </a:prstGeom>
          <a:noFill/>
          <a:ln/>
        </p:spPr>
        <p:txBody>
          <a:bodyPr wrap="square" lIns="0" tIns="0" rIns="0" bIns="0" rtlCol="0" anchor="t"/>
          <a:lstStyle/>
          <a:p>
            <a:pPr indent="0" marL="0">
              <a:buNone/>
            </a:pPr>
            <a:r>
              <a:rPr lang="en-US" sz="1300" dirty="0">
                <a:solidFill>
                  <a:schemeClr val="accent4"/>
                </a:solidFill>
              </a:rPr>
              <a:t>vehicles.csv · violations.csv</a:t>
            </a:r>
            <a:endParaRPr lang="en-US" sz="13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DEPLOYMENT</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Real time means a 33 ms budget per frame</a:t>
            </a:r>
            <a:endParaRPr lang="en-US" sz="3000" dirty="0"/>
          </a:p>
        </p:txBody>
      </p:sp>
      <p:sp>
        <p:nvSpPr>
          <p:cNvPr id="4" name="card"/>
          <p:cNvSpPr/>
          <p:nvPr/>
        </p:nvSpPr>
        <p:spPr>
          <a:xfrm>
            <a:off x="548640" y="1737360"/>
            <a:ext cx="3291840" cy="1965960"/>
          </a:xfrm>
          <a:prstGeom prst="roundRect">
            <a:avLst>
              <a:gd name="adj" fmla="val 3721"/>
            </a:avLst>
          </a:prstGeom>
          <a:solidFill>
            <a:schemeClr val="tx2"/>
          </a:solidFill>
          <a:ln/>
        </p:spPr>
      </p:sp>
      <p:sp>
        <p:nvSpPr>
          <p:cNvPr id="5" name="Text 3"/>
          <p:cNvSpPr txBox="1"/>
          <p:nvPr/>
        </p:nvSpPr>
        <p:spPr>
          <a:xfrm>
            <a:off x="822960" y="1828800"/>
            <a:ext cx="2743200" cy="868680"/>
          </a:xfrm>
          <a:prstGeom prst="rect">
            <a:avLst/>
          </a:prstGeom>
          <a:noFill/>
          <a:ln/>
        </p:spPr>
        <p:txBody>
          <a:bodyPr wrap="square" lIns="0" tIns="0" rIns="0" bIns="0" rtlCol="0" anchor="b"/>
          <a:lstStyle/>
          <a:p>
            <a:pPr indent="0" marL="0">
              <a:buNone/>
            </a:pPr>
            <a:r>
              <a:rPr lang="en-US" sz="4800" b="1" dirty="0">
                <a:solidFill>
                  <a:schemeClr val="accent1"/>
                </a:solidFill>
              </a:rPr>
              <a:t>33 ms</a:t>
            </a:r>
            <a:endParaRPr lang="en-US" sz="4800" dirty="0"/>
          </a:p>
        </p:txBody>
      </p:sp>
      <p:sp>
        <p:nvSpPr>
          <p:cNvPr id="6" name="Text 4"/>
          <p:cNvSpPr txBox="1"/>
          <p:nvPr/>
        </p:nvSpPr>
        <p:spPr>
          <a:xfrm>
            <a:off x="822960" y="2743200"/>
            <a:ext cx="2743200" cy="777240"/>
          </a:xfrm>
          <a:prstGeom prst="rect">
            <a:avLst/>
          </a:prstGeom>
          <a:noFill/>
          <a:ln/>
        </p:spPr>
        <p:txBody>
          <a:bodyPr wrap="square" lIns="0" tIns="0" rIns="0" bIns="0" rtlCol="0" anchor="t"/>
          <a:lstStyle/>
          <a:p>
            <a:pPr indent="0" marL="0">
              <a:buNone/>
            </a:pPr>
            <a:r>
              <a:rPr lang="en-US" sz="1400" dirty="0">
                <a:solidFill>
                  <a:srgbClr val="D0D5DD"/>
                </a:solidFill>
              </a:rPr>
              <a:t>per frame at 30 FPS: detect + track + measure + act</a:t>
            </a:r>
            <a:endParaRPr lang="en-US" sz="1400" dirty="0"/>
          </a:p>
        </p:txBody>
      </p:sp>
      <p:sp>
        <p:nvSpPr>
          <p:cNvPr id="7" name="card"/>
          <p:cNvSpPr/>
          <p:nvPr/>
        </p:nvSpPr>
        <p:spPr>
          <a:xfrm>
            <a:off x="548640" y="3931920"/>
            <a:ext cx="3291840" cy="1965960"/>
          </a:xfrm>
          <a:prstGeom prst="roundRect">
            <a:avLst>
              <a:gd name="adj" fmla="val 3721"/>
            </a:avLst>
          </a:prstGeom>
          <a:solidFill>
            <a:schemeClr val="bg2"/>
          </a:solidFill>
          <a:ln/>
        </p:spPr>
      </p:sp>
      <p:sp>
        <p:nvSpPr>
          <p:cNvPr id="8" name="Text 6"/>
          <p:cNvSpPr txBox="1"/>
          <p:nvPr/>
        </p:nvSpPr>
        <p:spPr>
          <a:xfrm>
            <a:off x="822960" y="4023360"/>
            <a:ext cx="2743200" cy="868680"/>
          </a:xfrm>
          <a:prstGeom prst="rect">
            <a:avLst/>
          </a:prstGeom>
          <a:noFill/>
          <a:ln/>
        </p:spPr>
        <p:txBody>
          <a:bodyPr wrap="square" lIns="0" tIns="0" rIns="0" bIns="0" rtlCol="0" anchor="b"/>
          <a:lstStyle/>
          <a:p>
            <a:pPr indent="0" marL="0">
              <a:buNone/>
            </a:pPr>
            <a:r>
              <a:rPr lang="en-US" sz="4400" b="1" dirty="0">
                <a:solidFill>
                  <a:schemeClr val="tx2"/>
                </a:solidFill>
              </a:rPr>
              <a:t>— FPS</a:t>
            </a:r>
            <a:endParaRPr lang="en-US" sz="4400" dirty="0"/>
          </a:p>
        </p:txBody>
      </p:sp>
      <p:sp>
        <p:nvSpPr>
          <p:cNvPr id="9" name="Text 7"/>
          <p:cNvSpPr txBox="1"/>
          <p:nvPr/>
        </p:nvSpPr>
        <p:spPr>
          <a:xfrm>
            <a:off x="822960" y="4937760"/>
            <a:ext cx="2743200" cy="777240"/>
          </a:xfrm>
          <a:prstGeom prst="rect">
            <a:avLst/>
          </a:prstGeom>
          <a:noFill/>
          <a:ln/>
        </p:spPr>
        <p:txBody>
          <a:bodyPr wrap="square" lIns="0" tIns="0" rIns="0" bIns="0" rtlCol="0" anchor="t"/>
          <a:lstStyle/>
          <a:p>
            <a:pPr indent="0" marL="0">
              <a:buNone/>
            </a:pPr>
            <a:r>
              <a:rPr lang="en-US" sz="1400" dirty="0">
                <a:solidFill>
                  <a:schemeClr val="accent4"/>
                </a:solidFill>
              </a:rPr>
              <a:t>measured end-to-end in our demo on a laptop CPU</a:t>
            </a:r>
            <a:endParaRPr lang="en-US" sz="1400" dirty="0"/>
          </a:p>
        </p:txBody>
      </p:sp>
      <p:sp>
        <p:nvSpPr>
          <p:cNvPr id="10" name="Text 8"/>
          <p:cNvSpPr txBox="1"/>
          <p:nvPr/>
        </p:nvSpPr>
        <p:spPr>
          <a:xfrm>
            <a:off x="4206240" y="1737360"/>
            <a:ext cx="4480560" cy="320040"/>
          </a:xfrm>
          <a:prstGeom prst="rect">
            <a:avLst/>
          </a:prstGeom>
          <a:noFill/>
          <a:ln/>
        </p:spPr>
        <p:txBody>
          <a:bodyPr wrap="square" lIns="0" tIns="0" rIns="0" bIns="0" rtlCol="0" anchor="t"/>
          <a:lstStyle/>
          <a:p>
            <a:pPr indent="0" marL="0">
              <a:buNone/>
            </a:pPr>
            <a:r>
              <a:rPr lang="en-US" sz="1500" b="1" dirty="0">
                <a:solidFill>
                  <a:schemeClr val="tx2"/>
                </a:solidFill>
              </a:rPr>
              <a:t>YOLOv8 size vs CPU speed (640 px)</a:t>
            </a:r>
            <a:endParaRPr lang="en-US" sz="1500" dirty="0"/>
          </a:p>
        </p:txBody>
      </p:sp>
      <p:graphicFrame>
        <p:nvGraphicFramePr>
          <p:cNvPr id="11" name="Chart 0" descr=""/>
          <p:cNvGraphicFramePr/>
          <p:nvPr/>
        </p:nvGraphicFramePr>
        <p:xfrm>
          <a:off x="4206240" y="2103120"/>
          <a:ext cx="4480560" cy="329184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4206240" y="5486400"/>
            <a:ext cx="4480560" cy="411480"/>
          </a:xfrm>
          <a:prstGeom prst="rect">
            <a:avLst/>
          </a:prstGeom>
          <a:noFill/>
          <a:ln/>
        </p:spPr>
        <p:txBody>
          <a:bodyPr wrap="square" lIns="0" tIns="0" rIns="0" bIns="0" rtlCol="0" anchor="t"/>
          <a:lstStyle/>
          <a:p>
            <a:pPr indent="0" marL="0">
              <a:buNone/>
            </a:pPr>
            <a:r>
              <a:rPr lang="en-US" sz="1100" dirty="0">
                <a:solidFill>
                  <a:schemeClr val="accent5"/>
                </a:solidFill>
              </a:rPr>
              <a:t>Ultralytics benchmark: CPU ONNX, per image. Bigger = more accurate, slower.</a:t>
            </a:r>
            <a:endParaRPr lang="en-US" sz="1100" dirty="0"/>
          </a:p>
        </p:txBody>
      </p:sp>
      <p:sp>
        <p:nvSpPr>
          <p:cNvPr id="13" name="Text 10"/>
          <p:cNvSpPr txBox="1"/>
          <p:nvPr/>
        </p:nvSpPr>
        <p:spPr>
          <a:xfrm>
            <a:off x="9052560" y="1737360"/>
            <a:ext cx="2590495" cy="320040"/>
          </a:xfrm>
          <a:prstGeom prst="rect">
            <a:avLst/>
          </a:prstGeom>
          <a:noFill/>
          <a:ln/>
        </p:spPr>
        <p:txBody>
          <a:bodyPr wrap="square" lIns="0" tIns="0" rIns="0" bIns="0" rtlCol="0" anchor="t"/>
          <a:lstStyle/>
          <a:p>
            <a:pPr indent="0" marL="0">
              <a:buNone/>
            </a:pPr>
            <a:r>
              <a:rPr lang="en-US" sz="1500" b="1" dirty="0">
                <a:solidFill>
                  <a:schemeClr val="tx2"/>
                </a:solidFill>
              </a:rPr>
              <a:t>Levers to fit the budget</a:t>
            </a:r>
            <a:endParaRPr lang="en-US" sz="1500" dirty="0"/>
          </a:p>
        </p:txBody>
      </p:sp>
      <p:sp>
        <p:nvSpPr>
          <p:cNvPr id="14" name="Text 11"/>
          <p:cNvSpPr txBox="1"/>
          <p:nvPr/>
        </p:nvSpPr>
        <p:spPr>
          <a:xfrm>
            <a:off x="9326880" y="2176272"/>
            <a:ext cx="2316175" cy="621792"/>
          </a:xfrm>
          <a:prstGeom prst="rect">
            <a:avLst/>
          </a:prstGeom>
          <a:noFill/>
          <a:ln/>
        </p:spPr>
        <p:txBody>
          <a:bodyPr wrap="square" lIns="0" tIns="0" rIns="0" bIns="0" rtlCol="0" anchor="ctr"/>
          <a:lstStyle/>
          <a:p>
            <a:pPr indent="0" marL="0">
              <a:buNone/>
            </a:pPr>
            <a:r>
              <a:rPr lang="en-US" sz="1400" dirty="0">
                <a:solidFill>
                  <a:schemeClr val="tx1"/>
                </a:solidFill>
              </a:rPr>
              <a:t>Smallest model that's accurate enough</a:t>
            </a:r>
            <a:endParaRPr lang="en-US" sz="1400" dirty="0"/>
          </a:p>
        </p:txBody>
      </p:sp>
      <p:sp>
        <p:nvSpPr>
          <p:cNvPr id="15" name="dot"/>
          <p:cNvSpPr/>
          <p:nvPr/>
        </p:nvSpPr>
        <p:spPr>
          <a:xfrm>
            <a:off x="9052560" y="2423160"/>
            <a:ext cx="128016" cy="128016"/>
          </a:xfrm>
          <a:prstGeom prst="ellipse">
            <a:avLst/>
          </a:prstGeom>
          <a:solidFill>
            <a:schemeClr val="accent1"/>
          </a:solidFill>
          <a:ln/>
        </p:spPr>
      </p:sp>
      <p:sp>
        <p:nvSpPr>
          <p:cNvPr id="16" name="Text 13"/>
          <p:cNvSpPr txBox="1"/>
          <p:nvPr/>
        </p:nvSpPr>
        <p:spPr>
          <a:xfrm>
            <a:off x="9326880" y="2889504"/>
            <a:ext cx="2316175" cy="621792"/>
          </a:xfrm>
          <a:prstGeom prst="rect">
            <a:avLst/>
          </a:prstGeom>
          <a:noFill/>
          <a:ln/>
        </p:spPr>
        <p:txBody>
          <a:bodyPr wrap="square" lIns="0" tIns="0" rIns="0" bIns="0" rtlCol="0" anchor="ctr"/>
          <a:lstStyle/>
          <a:p>
            <a:pPr indent="0" marL="0">
              <a:buNone/>
            </a:pPr>
            <a:r>
              <a:rPr lang="en-US" sz="1400" dirty="0">
                <a:solidFill>
                  <a:schemeClr val="tx1"/>
                </a:solidFill>
              </a:rPr>
              <a:t>Lower input resolution</a:t>
            </a:r>
            <a:endParaRPr lang="en-US" sz="1400" dirty="0"/>
          </a:p>
        </p:txBody>
      </p:sp>
      <p:sp>
        <p:nvSpPr>
          <p:cNvPr id="17" name="dot"/>
          <p:cNvSpPr/>
          <p:nvPr/>
        </p:nvSpPr>
        <p:spPr>
          <a:xfrm>
            <a:off x="9052560" y="3136392"/>
            <a:ext cx="128016" cy="128016"/>
          </a:xfrm>
          <a:prstGeom prst="ellipse">
            <a:avLst/>
          </a:prstGeom>
          <a:solidFill>
            <a:schemeClr val="accent1"/>
          </a:solidFill>
          <a:ln/>
        </p:spPr>
      </p:sp>
      <p:sp>
        <p:nvSpPr>
          <p:cNvPr id="18" name="Text 15"/>
          <p:cNvSpPr txBox="1"/>
          <p:nvPr/>
        </p:nvSpPr>
        <p:spPr>
          <a:xfrm>
            <a:off x="9326880" y="3602736"/>
            <a:ext cx="2316175" cy="621792"/>
          </a:xfrm>
          <a:prstGeom prst="rect">
            <a:avLst/>
          </a:prstGeom>
          <a:noFill/>
          <a:ln/>
        </p:spPr>
        <p:txBody>
          <a:bodyPr wrap="square" lIns="0" tIns="0" rIns="0" bIns="0" rtlCol="0" anchor="ctr"/>
          <a:lstStyle/>
          <a:p>
            <a:pPr indent="0" marL="0">
              <a:buNone/>
            </a:pPr>
            <a:r>
              <a:rPr lang="en-US" sz="1400" dirty="0">
                <a:solidFill>
                  <a:schemeClr val="tx1"/>
                </a:solidFill>
              </a:rPr>
              <a:t>Process every 2nd frame (speed still works)</a:t>
            </a:r>
            <a:endParaRPr lang="en-US" sz="1400" dirty="0"/>
          </a:p>
        </p:txBody>
      </p:sp>
      <p:sp>
        <p:nvSpPr>
          <p:cNvPr id="19" name="dot"/>
          <p:cNvSpPr/>
          <p:nvPr/>
        </p:nvSpPr>
        <p:spPr>
          <a:xfrm>
            <a:off x="9052560" y="3849624"/>
            <a:ext cx="128016" cy="128016"/>
          </a:xfrm>
          <a:prstGeom prst="ellipse">
            <a:avLst/>
          </a:prstGeom>
          <a:solidFill>
            <a:schemeClr val="accent1"/>
          </a:solidFill>
          <a:ln/>
        </p:spPr>
      </p:sp>
      <p:sp>
        <p:nvSpPr>
          <p:cNvPr id="20" name="Text 17"/>
          <p:cNvSpPr txBox="1"/>
          <p:nvPr/>
        </p:nvSpPr>
        <p:spPr>
          <a:xfrm>
            <a:off x="9326880" y="4315968"/>
            <a:ext cx="2316175" cy="621792"/>
          </a:xfrm>
          <a:prstGeom prst="rect">
            <a:avLst/>
          </a:prstGeom>
          <a:noFill/>
          <a:ln/>
        </p:spPr>
        <p:txBody>
          <a:bodyPr wrap="square" lIns="0" tIns="0" rIns="0" bIns="0" rtlCol="0" anchor="ctr"/>
          <a:lstStyle/>
          <a:p>
            <a:pPr indent="0" marL="0">
              <a:buNone/>
            </a:pPr>
            <a:r>
              <a:rPr lang="en-US" sz="1400" dirty="0">
                <a:solidFill>
                  <a:schemeClr val="tx1"/>
                </a:solidFill>
              </a:rPr>
              <a:t>Edge GPU, e.g. NVIDIA Jetson</a:t>
            </a:r>
            <a:endParaRPr lang="en-US" sz="1400" dirty="0"/>
          </a:p>
        </p:txBody>
      </p:sp>
      <p:sp>
        <p:nvSpPr>
          <p:cNvPr id="21" name="dot"/>
          <p:cNvSpPr/>
          <p:nvPr/>
        </p:nvSpPr>
        <p:spPr>
          <a:xfrm>
            <a:off x="9052560" y="4562856"/>
            <a:ext cx="128016" cy="128016"/>
          </a:xfrm>
          <a:prstGeom prst="ellipse">
            <a:avLst/>
          </a:prstGeom>
          <a:solidFill>
            <a:schemeClr val="accent1"/>
          </a:solidFill>
          <a:ln/>
        </p:spPr>
      </p:sp>
      <p:sp>
        <p:nvSpPr>
          <p:cNvPr id="22" name="Text 19"/>
          <p:cNvSpPr txBox="1"/>
          <p:nvPr/>
        </p:nvSpPr>
        <p:spPr>
          <a:xfrm>
            <a:off x="9326880" y="5029200"/>
            <a:ext cx="2316175" cy="621792"/>
          </a:xfrm>
          <a:prstGeom prst="rect">
            <a:avLst/>
          </a:prstGeom>
          <a:noFill/>
          <a:ln/>
        </p:spPr>
        <p:txBody>
          <a:bodyPr wrap="square" lIns="0" tIns="0" rIns="0" bIns="0" rtlCol="0" anchor="ctr"/>
          <a:lstStyle/>
          <a:p>
            <a:pPr indent="0" marL="0">
              <a:buNone/>
            </a:pPr>
            <a:r>
              <a:rPr lang="en-US" sz="1400" dirty="0">
                <a:solidFill>
                  <a:schemeClr val="tx1"/>
                </a:solidFill>
              </a:rPr>
              <a:t>INT8 quantisation / TensorRT</a:t>
            </a:r>
            <a:endParaRPr lang="en-US" sz="1400" dirty="0"/>
          </a:p>
        </p:txBody>
      </p:sp>
      <p:sp>
        <p:nvSpPr>
          <p:cNvPr id="23" name="dot"/>
          <p:cNvSpPr/>
          <p:nvPr/>
        </p:nvSpPr>
        <p:spPr>
          <a:xfrm>
            <a:off x="9052560" y="5276088"/>
            <a:ext cx="128016" cy="128016"/>
          </a:xfrm>
          <a:prstGeom prst="ellipse">
            <a:avLst/>
          </a:prstGeom>
          <a:solidFill>
            <a:schemeClr val="accent1"/>
          </a:solidFill>
          <a:ln/>
        </p:spPr>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LIMITATIONS &amp; ETHICS</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What this system cannot (yet) do</a:t>
            </a:r>
            <a:endParaRPr lang="en-US" sz="3000" dirty="0"/>
          </a:p>
        </p:txBody>
      </p:sp>
      <p:sp>
        <p:nvSpPr>
          <p:cNvPr id="4" name="card"/>
          <p:cNvSpPr/>
          <p:nvPr/>
        </p:nvSpPr>
        <p:spPr>
          <a:xfrm>
            <a:off x="548640" y="1783080"/>
            <a:ext cx="5364328" cy="1874520"/>
          </a:xfrm>
          <a:prstGeom prst="roundRect">
            <a:avLst>
              <a:gd name="adj" fmla="val 3902"/>
            </a:avLst>
          </a:prstGeom>
          <a:solidFill>
            <a:schemeClr val="bg2"/>
          </a:solidFill>
          <a:ln/>
        </p:spPr>
      </p:sp>
      <p:sp>
        <p:nvSpPr>
          <p:cNvPr id="5" name="icon-bg"/>
          <p:cNvSpPr/>
          <p:nvPr/>
        </p:nvSpPr>
        <p:spPr>
          <a:xfrm>
            <a:off x="868680" y="2103120"/>
            <a:ext cx="685800" cy="685800"/>
          </a:xfrm>
          <a:prstGeom prst="ellipse">
            <a:avLst/>
          </a:prstGeom>
          <a:solidFill>
            <a:schemeClr val="tx2"/>
          </a:solidFill>
          <a:ln/>
        </p:spPr>
      </p:sp>
      <p:pic>
        <p:nvPicPr>
          <p:cNvPr id="6" name="Image 0" descr="CloudRain icon">    </p:cNvPr>
          <p:cNvPicPr>
            <a:picLocks noChangeAspect="1"/>
          </p:cNvPicPr>
          <p:nvPr/>
        </p:nvPicPr>
        <p:blipFill>
          <a:blip r:embed="rId1"/>
          <a:stretch>
            <a:fillRect/>
          </a:stretch>
        </p:blipFill>
        <p:spPr>
          <a:xfrm>
            <a:off x="1019556" y="2253996"/>
            <a:ext cx="384048" cy="384048"/>
          </a:xfrm>
          <a:prstGeom prst="rect">
            <a:avLst/>
          </a:prstGeom>
        </p:spPr>
      </p:pic>
      <p:sp>
        <p:nvSpPr>
          <p:cNvPr id="7" name="Text 4"/>
          <p:cNvSpPr txBox="1"/>
          <p:nvPr/>
        </p:nvSpPr>
        <p:spPr>
          <a:xfrm>
            <a:off x="1783080" y="2130552"/>
            <a:ext cx="3809848" cy="365760"/>
          </a:xfrm>
          <a:prstGeom prst="rect">
            <a:avLst/>
          </a:prstGeom>
          <a:noFill/>
          <a:ln/>
        </p:spPr>
        <p:txBody>
          <a:bodyPr wrap="square" lIns="0" tIns="0" rIns="0" bIns="0" rtlCol="0" anchor="t"/>
          <a:lstStyle/>
          <a:p>
            <a:pPr indent="0" marL="0">
              <a:buNone/>
            </a:pPr>
            <a:r>
              <a:rPr lang="en-US" sz="1800" b="1" dirty="0">
                <a:solidFill>
                  <a:schemeClr val="tx2"/>
                </a:solidFill>
              </a:rPr>
              <a:t>Environment</a:t>
            </a:r>
            <a:endParaRPr lang="en-US" sz="1800" dirty="0"/>
          </a:p>
        </p:txBody>
      </p:sp>
      <p:sp>
        <p:nvSpPr>
          <p:cNvPr id="8" name="Text 5"/>
          <p:cNvSpPr txBox="1"/>
          <p:nvPr/>
        </p:nvSpPr>
        <p:spPr>
          <a:xfrm>
            <a:off x="1783080" y="2560320"/>
            <a:ext cx="3809848" cy="960120"/>
          </a:xfrm>
          <a:prstGeom prst="rect">
            <a:avLst/>
          </a:prstGeom>
          <a:noFill/>
          <a:ln/>
        </p:spPr>
        <p:txBody>
          <a:bodyPr wrap="square" lIns="0" tIns="0" rIns="0" bIns="0" rtlCol="0" anchor="t"/>
          <a:lstStyle/>
          <a:p>
            <a:pPr indent="0" marL="0">
              <a:buNone/>
            </a:pPr>
            <a:r>
              <a:rPr lang="en-US" sz="1400" dirty="0">
                <a:solidFill>
                  <a:schemeClr val="accent4"/>
                </a:solidFill>
              </a:rPr>
              <a:t>Night, rain, glare and headlights reduce detection confidence; COCO is mostly daylight imagery.</a:t>
            </a:r>
            <a:endParaRPr lang="en-US" sz="1400" dirty="0"/>
          </a:p>
        </p:txBody>
      </p:sp>
      <p:sp>
        <p:nvSpPr>
          <p:cNvPr id="9" name="card"/>
          <p:cNvSpPr/>
          <p:nvPr/>
        </p:nvSpPr>
        <p:spPr>
          <a:xfrm>
            <a:off x="6278728" y="1783080"/>
            <a:ext cx="5364328" cy="1874520"/>
          </a:xfrm>
          <a:prstGeom prst="roundRect">
            <a:avLst>
              <a:gd name="adj" fmla="val 3902"/>
            </a:avLst>
          </a:prstGeom>
          <a:solidFill>
            <a:schemeClr val="bg2"/>
          </a:solidFill>
          <a:ln/>
        </p:spPr>
      </p:sp>
      <p:sp>
        <p:nvSpPr>
          <p:cNvPr id="10" name="icon-bg"/>
          <p:cNvSpPr/>
          <p:nvPr/>
        </p:nvSpPr>
        <p:spPr>
          <a:xfrm>
            <a:off x="6598768" y="2103120"/>
            <a:ext cx="685800" cy="685800"/>
          </a:xfrm>
          <a:prstGeom prst="ellipse">
            <a:avLst/>
          </a:prstGeom>
          <a:solidFill>
            <a:schemeClr val="tx2"/>
          </a:solidFill>
          <a:ln/>
        </p:spPr>
      </p:sp>
      <p:pic>
        <p:nvPicPr>
          <p:cNvPr id="11" name="Image 1" descr="Ruler icon">    </p:cNvPr>
          <p:cNvPicPr>
            <a:picLocks noChangeAspect="1"/>
          </p:cNvPicPr>
          <p:nvPr/>
        </p:nvPicPr>
        <p:blipFill>
          <a:blip r:embed="rId2"/>
          <a:stretch>
            <a:fillRect/>
          </a:stretch>
        </p:blipFill>
        <p:spPr>
          <a:xfrm>
            <a:off x="6749644" y="2253996"/>
            <a:ext cx="384048" cy="384048"/>
          </a:xfrm>
          <a:prstGeom prst="rect">
            <a:avLst/>
          </a:prstGeom>
        </p:spPr>
      </p:pic>
      <p:sp>
        <p:nvSpPr>
          <p:cNvPr id="12" name="Text 8"/>
          <p:cNvSpPr txBox="1"/>
          <p:nvPr/>
        </p:nvSpPr>
        <p:spPr>
          <a:xfrm>
            <a:off x="7513168" y="2130552"/>
            <a:ext cx="3809848" cy="365760"/>
          </a:xfrm>
          <a:prstGeom prst="rect">
            <a:avLst/>
          </a:prstGeom>
          <a:noFill/>
          <a:ln/>
        </p:spPr>
        <p:txBody>
          <a:bodyPr wrap="square" lIns="0" tIns="0" rIns="0" bIns="0" rtlCol="0" anchor="t"/>
          <a:lstStyle/>
          <a:p>
            <a:pPr indent="0" marL="0">
              <a:buNone/>
            </a:pPr>
            <a:r>
              <a:rPr lang="en-US" sz="1800" b="1" dirty="0">
                <a:solidFill>
                  <a:schemeClr val="tx2"/>
                </a:solidFill>
              </a:rPr>
              <a:t>Geometry</a:t>
            </a:r>
            <a:endParaRPr lang="en-US" sz="1800" dirty="0"/>
          </a:p>
        </p:txBody>
      </p:sp>
      <p:sp>
        <p:nvSpPr>
          <p:cNvPr id="13" name="Text 9"/>
          <p:cNvSpPr txBox="1"/>
          <p:nvPr/>
        </p:nvSpPr>
        <p:spPr>
          <a:xfrm>
            <a:off x="7513168" y="2560320"/>
            <a:ext cx="3809848" cy="960120"/>
          </a:xfrm>
          <a:prstGeom prst="rect">
            <a:avLst/>
          </a:prstGeom>
          <a:noFill/>
          <a:ln/>
        </p:spPr>
        <p:txBody>
          <a:bodyPr wrap="square" lIns="0" tIns="0" rIns="0" bIns="0" rtlCol="0" anchor="t"/>
          <a:lstStyle/>
          <a:p>
            <a:pPr indent="0" marL="0">
              <a:buNone/>
            </a:pPr>
            <a:r>
              <a:rPr lang="en-US" sz="1400" dirty="0">
                <a:solidFill>
                  <a:schemeClr val="accent4"/>
                </a:solidFill>
              </a:rPr>
              <a:t>Flyover vibration and camera drift break calibration; curves and slopes violate the flat-road assumption.</a:t>
            </a:r>
            <a:endParaRPr lang="en-US" sz="1400" dirty="0"/>
          </a:p>
        </p:txBody>
      </p:sp>
      <p:sp>
        <p:nvSpPr>
          <p:cNvPr id="14" name="card"/>
          <p:cNvSpPr/>
          <p:nvPr/>
        </p:nvSpPr>
        <p:spPr>
          <a:xfrm>
            <a:off x="548640" y="3931920"/>
            <a:ext cx="5364328" cy="1874520"/>
          </a:xfrm>
          <a:prstGeom prst="roundRect">
            <a:avLst>
              <a:gd name="adj" fmla="val 3902"/>
            </a:avLst>
          </a:prstGeom>
          <a:solidFill>
            <a:schemeClr val="bg2"/>
          </a:solidFill>
          <a:ln/>
        </p:spPr>
      </p:sp>
      <p:sp>
        <p:nvSpPr>
          <p:cNvPr id="15" name="icon-bg"/>
          <p:cNvSpPr/>
          <p:nvPr/>
        </p:nvSpPr>
        <p:spPr>
          <a:xfrm>
            <a:off x="868680" y="4251960"/>
            <a:ext cx="685800" cy="685800"/>
          </a:xfrm>
          <a:prstGeom prst="ellipse">
            <a:avLst/>
          </a:prstGeom>
          <a:solidFill>
            <a:schemeClr val="tx2"/>
          </a:solidFill>
          <a:ln/>
        </p:spPr>
      </p:sp>
      <p:pic>
        <p:nvPicPr>
          <p:cNvPr id="16" name="Image 2" descr="Scale icon">    </p:cNvPr>
          <p:cNvPicPr>
            <a:picLocks noChangeAspect="1"/>
          </p:cNvPicPr>
          <p:nvPr/>
        </p:nvPicPr>
        <p:blipFill>
          <a:blip r:embed="rId3"/>
          <a:stretch>
            <a:fillRect/>
          </a:stretch>
        </p:blipFill>
        <p:spPr>
          <a:xfrm>
            <a:off x="1019556" y="4402836"/>
            <a:ext cx="384048" cy="384048"/>
          </a:xfrm>
          <a:prstGeom prst="rect">
            <a:avLst/>
          </a:prstGeom>
        </p:spPr>
      </p:pic>
      <p:sp>
        <p:nvSpPr>
          <p:cNvPr id="17" name="Text 12"/>
          <p:cNvSpPr txBox="1"/>
          <p:nvPr/>
        </p:nvSpPr>
        <p:spPr>
          <a:xfrm>
            <a:off x="1783080" y="4279392"/>
            <a:ext cx="3809848" cy="365760"/>
          </a:xfrm>
          <a:prstGeom prst="rect">
            <a:avLst/>
          </a:prstGeom>
          <a:noFill/>
          <a:ln/>
        </p:spPr>
        <p:txBody>
          <a:bodyPr wrap="square" lIns="0" tIns="0" rIns="0" bIns="0" rtlCol="0" anchor="t"/>
          <a:lstStyle/>
          <a:p>
            <a:pPr indent="0" marL="0">
              <a:buNone/>
            </a:pPr>
            <a:r>
              <a:rPr lang="en-US" sz="1800" b="1" dirty="0">
                <a:solidFill>
                  <a:schemeClr val="tx2"/>
                </a:solidFill>
              </a:rPr>
              <a:t>Legal grade</a:t>
            </a:r>
            <a:endParaRPr lang="en-US" sz="1800" dirty="0"/>
          </a:p>
        </p:txBody>
      </p:sp>
      <p:sp>
        <p:nvSpPr>
          <p:cNvPr id="18" name="Text 13"/>
          <p:cNvSpPr txBox="1"/>
          <p:nvPr/>
        </p:nvSpPr>
        <p:spPr>
          <a:xfrm>
            <a:off x="1783080" y="4709160"/>
            <a:ext cx="3809848" cy="960120"/>
          </a:xfrm>
          <a:prstGeom prst="rect">
            <a:avLst/>
          </a:prstGeom>
          <a:noFill/>
          <a:ln/>
        </p:spPr>
        <p:txBody>
          <a:bodyPr wrap="square" lIns="0" tIns="0" rIns="0" bIns="0" rtlCol="0" anchor="t"/>
          <a:lstStyle/>
          <a:p>
            <a:pPr indent="0" marL="0">
              <a:buNone/>
            </a:pPr>
            <a:r>
              <a:rPr lang="en-US" sz="1400" dirty="0">
                <a:solidFill>
                  <a:schemeClr val="accent4"/>
                </a:solidFill>
              </a:rPr>
              <a:t>Fines need certified, audited accuracy. The flyover trial (20% → 80%) shows how high that bar is.</a:t>
            </a:r>
            <a:endParaRPr lang="en-US" sz="1400" dirty="0"/>
          </a:p>
        </p:txBody>
      </p:sp>
      <p:sp>
        <p:nvSpPr>
          <p:cNvPr id="19" name="card"/>
          <p:cNvSpPr/>
          <p:nvPr/>
        </p:nvSpPr>
        <p:spPr>
          <a:xfrm>
            <a:off x="6278728" y="3931920"/>
            <a:ext cx="5364328" cy="1874520"/>
          </a:xfrm>
          <a:prstGeom prst="roundRect">
            <a:avLst>
              <a:gd name="adj" fmla="val 3902"/>
            </a:avLst>
          </a:prstGeom>
          <a:solidFill>
            <a:schemeClr val="bg2"/>
          </a:solidFill>
          <a:ln/>
        </p:spPr>
      </p:sp>
      <p:sp>
        <p:nvSpPr>
          <p:cNvPr id="20" name="icon-bg"/>
          <p:cNvSpPr/>
          <p:nvPr/>
        </p:nvSpPr>
        <p:spPr>
          <a:xfrm>
            <a:off x="6598768" y="4251960"/>
            <a:ext cx="685800" cy="685800"/>
          </a:xfrm>
          <a:prstGeom prst="ellipse">
            <a:avLst/>
          </a:prstGeom>
          <a:solidFill>
            <a:schemeClr val="tx2"/>
          </a:solidFill>
          <a:ln/>
        </p:spPr>
      </p:sp>
      <p:pic>
        <p:nvPicPr>
          <p:cNvPr id="21" name="Image 3" descr="Lock icon">    </p:cNvPr>
          <p:cNvPicPr>
            <a:picLocks noChangeAspect="1"/>
          </p:cNvPicPr>
          <p:nvPr/>
        </p:nvPicPr>
        <p:blipFill>
          <a:blip r:embed="rId4"/>
          <a:stretch>
            <a:fillRect/>
          </a:stretch>
        </p:blipFill>
        <p:spPr>
          <a:xfrm>
            <a:off x="6749644" y="4402836"/>
            <a:ext cx="384048" cy="384048"/>
          </a:xfrm>
          <a:prstGeom prst="rect">
            <a:avLst/>
          </a:prstGeom>
        </p:spPr>
      </p:pic>
      <p:sp>
        <p:nvSpPr>
          <p:cNvPr id="22" name="Text 16"/>
          <p:cNvSpPr txBox="1"/>
          <p:nvPr/>
        </p:nvSpPr>
        <p:spPr>
          <a:xfrm>
            <a:off x="7513168" y="4279392"/>
            <a:ext cx="3809848" cy="365760"/>
          </a:xfrm>
          <a:prstGeom prst="rect">
            <a:avLst/>
          </a:prstGeom>
          <a:noFill/>
          <a:ln/>
        </p:spPr>
        <p:txBody>
          <a:bodyPr wrap="square" lIns="0" tIns="0" rIns="0" bIns="0" rtlCol="0" anchor="t"/>
          <a:lstStyle/>
          <a:p>
            <a:pPr indent="0" marL="0">
              <a:buNone/>
            </a:pPr>
            <a:r>
              <a:rPr lang="en-US" sz="1800" b="1" dirty="0">
                <a:solidFill>
                  <a:schemeClr val="tx2"/>
                </a:solidFill>
              </a:rPr>
              <a:t>Privacy</a:t>
            </a:r>
            <a:endParaRPr lang="en-US" sz="1800" dirty="0"/>
          </a:p>
        </p:txBody>
      </p:sp>
      <p:sp>
        <p:nvSpPr>
          <p:cNvPr id="23" name="Text 17"/>
          <p:cNvSpPr txBox="1"/>
          <p:nvPr/>
        </p:nvSpPr>
        <p:spPr>
          <a:xfrm>
            <a:off x="7513168" y="4709160"/>
            <a:ext cx="3809848" cy="960120"/>
          </a:xfrm>
          <a:prstGeom prst="rect">
            <a:avLst/>
          </a:prstGeom>
          <a:noFill/>
          <a:ln/>
        </p:spPr>
        <p:txBody>
          <a:bodyPr wrap="square" lIns="0" tIns="0" rIns="0" bIns="0" rtlCol="0" anchor="t"/>
          <a:lstStyle/>
          <a:p>
            <a:pPr indent="0" marL="0">
              <a:buNone/>
            </a:pPr>
            <a:r>
              <a:rPr lang="en-US" sz="1400" dirty="0">
                <a:solidFill>
                  <a:schemeClr val="accent4"/>
                </a:solidFill>
              </a:rPr>
              <a:t>Vehicle images and plates are personal data: retention limits, access control, purpose limitation.</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1417320"/>
            <a:ext cx="3657600" cy="1371600"/>
          </a:xfrm>
          <a:prstGeom prst="rect">
            <a:avLst/>
          </a:prstGeom>
          <a:noFill/>
          <a:ln/>
        </p:spPr>
        <p:txBody>
          <a:bodyPr wrap="square" lIns="0" tIns="0" rIns="0" bIns="0" rtlCol="0" anchor="b"/>
          <a:lstStyle/>
          <a:p>
            <a:pPr indent="0" marL="0">
              <a:buNone/>
            </a:pPr>
            <a:r>
              <a:rPr lang="en-US" sz="9600" b="1" dirty="0">
                <a:solidFill>
                  <a:schemeClr val="accent1"/>
                </a:solidFill>
              </a:rPr>
              <a:t>LIVE</a:t>
            </a:r>
            <a:endParaRPr lang="en-US" sz="9600" dirty="0"/>
          </a:p>
        </p:txBody>
      </p:sp>
      <p:sp>
        <p:nvSpPr>
          <p:cNvPr id="3" name="Text 0"/>
          <p:cNvSpPr/>
          <p:nvPr>
            <p:ph idx="101" type="title" hasCustomPrompt="1"/>
          </p:nvPr>
        </p:nvSpPr>
        <p:spPr>
          <a:xfrm>
            <a:off x="548640" y="2880360"/>
            <a:ext cx="10058400" cy="914400"/>
          </a:xfrm>
          <a:prstGeom prst="rect">
            <a:avLst/>
          </a:prstGeom>
          <a:noFill/>
          <a:ln/>
        </p:spPr>
        <p:txBody>
          <a:bodyPr wrap="square" lIns="0" tIns="0" rIns="0" bIns="0" rtlCol="0" anchor="t"/>
          <a:lstStyle/>
          <a:p>
            <a:pPr algn="l" indent="0" marL="0">
              <a:buNone/>
            </a:pPr>
            <a:r>
              <a:rPr lang="en-US" sz="4400" b="1" dirty="0">
                <a:solidFill>
                  <a:schemeClr val="bg1"/>
                </a:solidFill>
              </a:rPr>
              <a:t>Speed check demo</a:t>
            </a:r>
            <a:endParaRPr lang="en-US" sz="4400" dirty="0"/>
          </a:p>
        </p:txBody>
      </p:sp>
      <p:sp>
        <p:nvSpPr>
          <p:cNvPr id="4" name="Text 0"/>
          <p:cNvSpPr/>
          <p:nvPr>
            <p:ph idx="102" type="body" hasCustomPrompt="1"/>
          </p:nvPr>
        </p:nvSpPr>
        <p:spPr>
          <a:xfrm>
            <a:off x="548640" y="3840480"/>
            <a:ext cx="10058400" cy="411480"/>
          </a:xfrm>
          <a:prstGeom prst="rect">
            <a:avLst/>
          </a:prstGeom>
          <a:noFill/>
          <a:ln/>
        </p:spPr>
        <p:txBody>
          <a:bodyPr wrap="square" lIns="0" tIns="0" rIns="0" bIns="0" rtlCol="0" anchor="t"/>
          <a:lstStyle/>
          <a:p>
            <a:pPr indent="0" marL="0">
              <a:buNone/>
            </a:pPr>
            <a:r>
              <a:rPr lang="en-US" sz="1800" dirty="0">
                <a:solidFill>
                  <a:schemeClr val="accent5"/>
                </a:solidFill>
              </a:rPr>
              <a:t>YOLOv8n + ByteTrack + homography  ·  limit 60 km/h</a:t>
            </a:r>
            <a:endParaRPr lang="en-US" sz="1800" dirty="0"/>
          </a:p>
        </p:txBody>
      </p:sp>
      <p:sp>
        <p:nvSpPr>
          <p:cNvPr id="5" name="watch-card"/>
          <p:cNvSpPr/>
          <p:nvPr/>
        </p:nvSpPr>
        <p:spPr>
          <a:xfrm>
            <a:off x="548640" y="4709160"/>
            <a:ext cx="3429000" cy="1051560"/>
          </a:xfrm>
          <a:prstGeom prst="roundRect">
            <a:avLst>
              <a:gd name="adj" fmla="val 6957"/>
            </a:avLst>
          </a:prstGeom>
          <a:solidFill>
            <a:srgbClr val="1D3550"/>
          </a:solidFill>
          <a:ln/>
        </p:spPr>
      </p:sp>
      <p:sp>
        <p:nvSpPr>
          <p:cNvPr id="6" name="Text 4"/>
          <p:cNvSpPr txBox="1"/>
          <p:nvPr/>
        </p:nvSpPr>
        <p:spPr>
          <a:xfrm>
            <a:off x="777240" y="4800600"/>
            <a:ext cx="301752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 1</a:t>
            </a:r>
            <a:endParaRPr lang="en-US" sz="1100" dirty="0"/>
          </a:p>
        </p:txBody>
      </p:sp>
      <p:sp>
        <p:nvSpPr>
          <p:cNvPr id="7" name="Text 5"/>
          <p:cNvSpPr txBox="1"/>
          <p:nvPr/>
        </p:nvSpPr>
        <p:spPr>
          <a:xfrm>
            <a:off x="777240" y="5074920"/>
            <a:ext cx="3017520" cy="320040"/>
          </a:xfrm>
          <a:prstGeom prst="rect">
            <a:avLst/>
          </a:prstGeom>
          <a:noFill/>
          <a:ln/>
        </p:spPr>
        <p:txBody>
          <a:bodyPr wrap="square" lIns="0" tIns="0" rIns="0" bIns="0" rtlCol="0" anchor="t"/>
          <a:lstStyle/>
          <a:p>
            <a:pPr indent="0" marL="0">
              <a:buNone/>
            </a:pPr>
            <a:r>
              <a:rPr lang="en-US" sz="1600" b="1" dirty="0">
                <a:solidFill>
                  <a:schemeClr val="bg1"/>
                </a:solidFill>
              </a:rPr>
              <a:t>IDs stay stable</a:t>
            </a:r>
            <a:endParaRPr lang="en-US" sz="1600" dirty="0"/>
          </a:p>
        </p:txBody>
      </p:sp>
      <p:sp>
        <p:nvSpPr>
          <p:cNvPr id="8" name="Text 6"/>
          <p:cNvSpPr txBox="1"/>
          <p:nvPr/>
        </p:nvSpPr>
        <p:spPr>
          <a:xfrm>
            <a:off x="777240" y="5376672"/>
            <a:ext cx="3017520" cy="274320"/>
          </a:xfrm>
          <a:prstGeom prst="rect">
            <a:avLst/>
          </a:prstGeom>
          <a:noFill/>
          <a:ln/>
        </p:spPr>
        <p:txBody>
          <a:bodyPr wrap="square" lIns="0" tIns="0" rIns="0" bIns="0" rtlCol="0" anchor="t"/>
          <a:lstStyle/>
          <a:p>
            <a:pPr indent="0" marL="0">
              <a:buNone/>
            </a:pPr>
            <a:r>
              <a:rPr lang="en-US" sz="1300" dirty="0">
                <a:solidFill>
                  <a:srgbClr val="D0D5DD"/>
                </a:solidFill>
              </a:rPr>
              <a:t>as cars pass each other</a:t>
            </a:r>
            <a:endParaRPr lang="en-US" sz="1300" dirty="0"/>
          </a:p>
        </p:txBody>
      </p:sp>
      <p:sp>
        <p:nvSpPr>
          <p:cNvPr id="9" name="watch-card"/>
          <p:cNvSpPr/>
          <p:nvPr/>
        </p:nvSpPr>
        <p:spPr>
          <a:xfrm>
            <a:off x="4251960" y="4709160"/>
            <a:ext cx="3429000" cy="1051560"/>
          </a:xfrm>
          <a:prstGeom prst="roundRect">
            <a:avLst>
              <a:gd name="adj" fmla="val 6957"/>
            </a:avLst>
          </a:prstGeom>
          <a:solidFill>
            <a:srgbClr val="1D3550"/>
          </a:solidFill>
          <a:ln/>
        </p:spPr>
      </p:sp>
      <p:sp>
        <p:nvSpPr>
          <p:cNvPr id="10" name="Text 8"/>
          <p:cNvSpPr txBox="1"/>
          <p:nvPr/>
        </p:nvSpPr>
        <p:spPr>
          <a:xfrm>
            <a:off x="4480560" y="4800600"/>
            <a:ext cx="301752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 2</a:t>
            </a:r>
            <a:endParaRPr lang="en-US" sz="1100" dirty="0"/>
          </a:p>
        </p:txBody>
      </p:sp>
      <p:sp>
        <p:nvSpPr>
          <p:cNvPr id="11" name="Text 9"/>
          <p:cNvSpPr txBox="1"/>
          <p:nvPr/>
        </p:nvSpPr>
        <p:spPr>
          <a:xfrm>
            <a:off x="4480560" y="5074920"/>
            <a:ext cx="3017520" cy="320040"/>
          </a:xfrm>
          <a:prstGeom prst="rect">
            <a:avLst/>
          </a:prstGeom>
          <a:noFill/>
          <a:ln/>
        </p:spPr>
        <p:txBody>
          <a:bodyPr wrap="square" lIns="0" tIns="0" rIns="0" bIns="0" rtlCol="0" anchor="t"/>
          <a:lstStyle/>
          <a:p>
            <a:pPr indent="0" marL="0">
              <a:buNone/>
            </a:pPr>
            <a:r>
              <a:rPr lang="en-US" sz="1600" b="1" dirty="0">
                <a:solidFill>
                  <a:schemeClr val="bg1"/>
                </a:solidFill>
              </a:rPr>
              <a:t>Speed settles</a:t>
            </a:r>
            <a:endParaRPr lang="en-US" sz="1600" dirty="0"/>
          </a:p>
        </p:txBody>
      </p:sp>
      <p:sp>
        <p:nvSpPr>
          <p:cNvPr id="12" name="Text 10"/>
          <p:cNvSpPr txBox="1"/>
          <p:nvPr/>
        </p:nvSpPr>
        <p:spPr>
          <a:xfrm>
            <a:off x="4480560" y="5376672"/>
            <a:ext cx="3017520" cy="274320"/>
          </a:xfrm>
          <a:prstGeom prst="rect">
            <a:avLst/>
          </a:prstGeom>
          <a:noFill/>
          <a:ln/>
        </p:spPr>
        <p:txBody>
          <a:bodyPr wrap="square" lIns="0" tIns="0" rIns="0" bIns="0" rtlCol="0" anchor="t"/>
          <a:lstStyle/>
          <a:p>
            <a:pPr indent="0" marL="0">
              <a:buNone/>
            </a:pPr>
            <a:r>
              <a:rPr lang="en-US" sz="1300" dirty="0">
                <a:solidFill>
                  <a:srgbClr val="D0D5DD"/>
                </a:solidFill>
              </a:rPr>
              <a:t>after ~0.5 s of tracking</a:t>
            </a:r>
            <a:endParaRPr lang="en-US" sz="1300" dirty="0"/>
          </a:p>
        </p:txBody>
      </p:sp>
      <p:sp>
        <p:nvSpPr>
          <p:cNvPr id="13" name="watch-card"/>
          <p:cNvSpPr/>
          <p:nvPr/>
        </p:nvSpPr>
        <p:spPr>
          <a:xfrm>
            <a:off x="7955280" y="4709160"/>
            <a:ext cx="3429000" cy="1051560"/>
          </a:xfrm>
          <a:prstGeom prst="roundRect">
            <a:avLst>
              <a:gd name="adj" fmla="val 6957"/>
            </a:avLst>
          </a:prstGeom>
          <a:solidFill>
            <a:srgbClr val="1D3550"/>
          </a:solidFill>
          <a:ln/>
        </p:spPr>
      </p:sp>
      <p:sp>
        <p:nvSpPr>
          <p:cNvPr id="14" name="Text 12"/>
          <p:cNvSpPr txBox="1"/>
          <p:nvPr/>
        </p:nvSpPr>
        <p:spPr>
          <a:xfrm>
            <a:off x="8183880" y="4800600"/>
            <a:ext cx="3017520" cy="274320"/>
          </a:xfrm>
          <a:prstGeom prst="rect">
            <a:avLst/>
          </a:prstGeom>
          <a:noFill/>
          <a:ln/>
        </p:spPr>
        <p:txBody>
          <a:bodyPr wrap="square" lIns="0" tIns="0" rIns="0" bIns="0" rtlCol="0" anchor="t"/>
          <a:lstStyle/>
          <a:p>
            <a:pPr indent="0" marL="0">
              <a:buNone/>
            </a:pPr>
            <a:r>
              <a:rPr lang="en-US" sz="1100" b="1" spc="100" kern="0" dirty="0">
                <a:solidFill>
                  <a:schemeClr val="accent1"/>
                </a:solidFill>
              </a:rPr>
              <a:t>Watch for 3</a:t>
            </a:r>
            <a:endParaRPr lang="en-US" sz="1100" dirty="0"/>
          </a:p>
        </p:txBody>
      </p:sp>
      <p:sp>
        <p:nvSpPr>
          <p:cNvPr id="15" name="Text 13"/>
          <p:cNvSpPr txBox="1"/>
          <p:nvPr/>
        </p:nvSpPr>
        <p:spPr>
          <a:xfrm>
            <a:off x="8183880" y="5074920"/>
            <a:ext cx="3017520" cy="320040"/>
          </a:xfrm>
          <a:prstGeom prst="rect">
            <a:avLst/>
          </a:prstGeom>
          <a:noFill/>
          <a:ln/>
        </p:spPr>
        <p:txBody>
          <a:bodyPr wrap="square" lIns="0" tIns="0" rIns="0" bIns="0" rtlCol="0" anchor="t"/>
          <a:lstStyle/>
          <a:p>
            <a:pPr indent="0" marL="0">
              <a:buNone/>
            </a:pPr>
            <a:r>
              <a:rPr lang="en-US" sz="1600" b="1" dirty="0">
                <a:solidFill>
                  <a:schemeClr val="bg1"/>
                </a:solidFill>
              </a:rPr>
              <a:t>Red box + snapshot</a:t>
            </a:r>
            <a:endParaRPr lang="en-US" sz="1600" dirty="0"/>
          </a:p>
        </p:txBody>
      </p:sp>
      <p:sp>
        <p:nvSpPr>
          <p:cNvPr id="16" name="Text 14"/>
          <p:cNvSpPr txBox="1"/>
          <p:nvPr/>
        </p:nvSpPr>
        <p:spPr>
          <a:xfrm>
            <a:off x="8183880" y="5376672"/>
            <a:ext cx="3017520" cy="274320"/>
          </a:xfrm>
          <a:prstGeom prst="rect">
            <a:avLst/>
          </a:prstGeom>
          <a:noFill/>
          <a:ln/>
        </p:spPr>
        <p:txBody>
          <a:bodyPr wrap="square" lIns="0" tIns="0" rIns="0" bIns="0" rtlCol="0" anchor="t"/>
          <a:lstStyle/>
          <a:p>
            <a:pPr indent="0" marL="0">
              <a:buNone/>
            </a:pPr>
            <a:r>
              <a:rPr lang="en-US" sz="1300" dirty="0">
                <a:solidFill>
                  <a:srgbClr val="D0D5DD"/>
                </a:solidFill>
              </a:rPr>
              <a:t>the moment v &gt; 60 km/h</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RESULTS</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Results</a:t>
            </a:r>
            <a:endParaRPr lang="en-US" sz="3000" dirty="0"/>
          </a:p>
        </p:txBody>
      </p:sp>
      <p:sp>
        <p:nvSpPr>
          <p:cNvPr id="4" name="card"/>
          <p:cNvSpPr/>
          <p:nvPr/>
        </p:nvSpPr>
        <p:spPr>
          <a:xfrm>
            <a:off x="548640" y="1737360"/>
            <a:ext cx="2567864" cy="1143000"/>
          </a:xfrm>
          <a:prstGeom prst="roundRect">
            <a:avLst>
              <a:gd name="adj" fmla="val 6400"/>
            </a:avLst>
          </a:prstGeom>
          <a:solidFill>
            <a:schemeClr val="bg2"/>
          </a:solidFill>
          <a:ln/>
        </p:spPr>
      </p:sp>
      <p:sp>
        <p:nvSpPr>
          <p:cNvPr id="5" name="Text 3"/>
          <p:cNvSpPr txBox="1"/>
          <p:nvPr/>
        </p:nvSpPr>
        <p:spPr>
          <a:xfrm>
            <a:off x="777240" y="1783080"/>
            <a:ext cx="2110664" cy="640080"/>
          </a:xfrm>
          <a:prstGeom prst="rect">
            <a:avLst/>
          </a:prstGeom>
          <a:noFill/>
          <a:ln/>
        </p:spPr>
        <p:txBody>
          <a:bodyPr wrap="square" lIns="0" tIns="0" rIns="0" bIns="0" rtlCol="0" anchor="b"/>
          <a:lstStyle/>
          <a:p>
            <a:pPr indent="0" marL="0">
              <a:buNone/>
            </a:pPr>
            <a:r>
              <a:rPr lang="en-US" sz="3200" b="1" dirty="0">
                <a:solidFill>
                  <a:schemeClr val="tx2"/>
                </a:solidFill>
              </a:rPr>
              <a:t>—</a:t>
            </a:r>
            <a:endParaRPr lang="en-US" sz="3200" dirty="0"/>
          </a:p>
        </p:txBody>
      </p:sp>
      <p:sp>
        <p:nvSpPr>
          <p:cNvPr id="6" name="Text 4"/>
          <p:cNvSpPr txBox="1"/>
          <p:nvPr/>
        </p:nvSpPr>
        <p:spPr>
          <a:xfrm>
            <a:off x="777240" y="2450592"/>
            <a:ext cx="2110664" cy="320040"/>
          </a:xfrm>
          <a:prstGeom prst="rect">
            <a:avLst/>
          </a:prstGeom>
          <a:noFill/>
          <a:ln/>
        </p:spPr>
        <p:txBody>
          <a:bodyPr wrap="square" lIns="0" tIns="0" rIns="0" bIns="0" rtlCol="0" anchor="t"/>
          <a:lstStyle/>
          <a:p>
            <a:pPr indent="0" marL="0">
              <a:buNone/>
            </a:pPr>
            <a:r>
              <a:rPr lang="en-US" sz="1300" dirty="0">
                <a:solidFill>
                  <a:schemeClr val="accent4"/>
                </a:solidFill>
              </a:rPr>
              <a:t>vehicles tracked</a:t>
            </a:r>
            <a:endParaRPr lang="en-US" sz="1300" dirty="0"/>
          </a:p>
        </p:txBody>
      </p:sp>
      <p:sp>
        <p:nvSpPr>
          <p:cNvPr id="7" name="card"/>
          <p:cNvSpPr/>
          <p:nvPr/>
        </p:nvSpPr>
        <p:spPr>
          <a:xfrm>
            <a:off x="3390824" y="1737360"/>
            <a:ext cx="2567864" cy="1143000"/>
          </a:xfrm>
          <a:prstGeom prst="roundRect">
            <a:avLst>
              <a:gd name="adj" fmla="val 6400"/>
            </a:avLst>
          </a:prstGeom>
          <a:solidFill>
            <a:schemeClr val="bg2"/>
          </a:solidFill>
          <a:ln/>
        </p:spPr>
      </p:sp>
      <p:sp>
        <p:nvSpPr>
          <p:cNvPr id="8" name="Text 6"/>
          <p:cNvSpPr txBox="1"/>
          <p:nvPr/>
        </p:nvSpPr>
        <p:spPr>
          <a:xfrm>
            <a:off x="3619424" y="1783080"/>
            <a:ext cx="2110664" cy="640080"/>
          </a:xfrm>
          <a:prstGeom prst="rect">
            <a:avLst/>
          </a:prstGeom>
          <a:noFill/>
          <a:ln/>
        </p:spPr>
        <p:txBody>
          <a:bodyPr wrap="square" lIns="0" tIns="0" rIns="0" bIns="0" rtlCol="0" anchor="b"/>
          <a:lstStyle/>
          <a:p>
            <a:pPr indent="0" marL="0">
              <a:buNone/>
            </a:pPr>
            <a:r>
              <a:rPr lang="en-US" sz="3200" b="1" dirty="0">
                <a:solidFill>
                  <a:schemeClr val="tx2"/>
                </a:solidFill>
              </a:rPr>
              <a:t>— km/h</a:t>
            </a:r>
            <a:endParaRPr lang="en-US" sz="3200" dirty="0"/>
          </a:p>
        </p:txBody>
      </p:sp>
      <p:sp>
        <p:nvSpPr>
          <p:cNvPr id="9" name="Text 7"/>
          <p:cNvSpPr txBox="1"/>
          <p:nvPr/>
        </p:nvSpPr>
        <p:spPr>
          <a:xfrm>
            <a:off x="3619424" y="2450592"/>
            <a:ext cx="2110664" cy="320040"/>
          </a:xfrm>
          <a:prstGeom prst="rect">
            <a:avLst/>
          </a:prstGeom>
          <a:noFill/>
          <a:ln/>
        </p:spPr>
        <p:txBody>
          <a:bodyPr wrap="square" lIns="0" tIns="0" rIns="0" bIns="0" rtlCol="0" anchor="t"/>
          <a:lstStyle/>
          <a:p>
            <a:pPr indent="0" marL="0">
              <a:buNone/>
            </a:pPr>
            <a:r>
              <a:rPr lang="en-US" sz="1300" dirty="0">
                <a:solidFill>
                  <a:schemeClr val="accent4"/>
                </a:solidFill>
              </a:rPr>
              <a:t>median speed</a:t>
            </a:r>
            <a:endParaRPr lang="en-US" sz="1300" dirty="0"/>
          </a:p>
        </p:txBody>
      </p:sp>
      <p:sp>
        <p:nvSpPr>
          <p:cNvPr id="10" name="card"/>
          <p:cNvSpPr/>
          <p:nvPr/>
        </p:nvSpPr>
        <p:spPr>
          <a:xfrm>
            <a:off x="6233008" y="1737360"/>
            <a:ext cx="2567864" cy="1143000"/>
          </a:xfrm>
          <a:prstGeom prst="roundRect">
            <a:avLst>
              <a:gd name="adj" fmla="val 6400"/>
            </a:avLst>
          </a:prstGeom>
          <a:solidFill>
            <a:srgbClr val="FEE4E2"/>
          </a:solidFill>
          <a:ln/>
        </p:spPr>
      </p:sp>
      <p:sp>
        <p:nvSpPr>
          <p:cNvPr id="11" name="Text 9"/>
          <p:cNvSpPr txBox="1"/>
          <p:nvPr/>
        </p:nvSpPr>
        <p:spPr>
          <a:xfrm>
            <a:off x="6461608" y="1783080"/>
            <a:ext cx="2110664" cy="640080"/>
          </a:xfrm>
          <a:prstGeom prst="rect">
            <a:avLst/>
          </a:prstGeom>
          <a:noFill/>
          <a:ln/>
        </p:spPr>
        <p:txBody>
          <a:bodyPr wrap="square" lIns="0" tIns="0" rIns="0" bIns="0" rtlCol="0" anchor="b"/>
          <a:lstStyle/>
          <a:p>
            <a:pPr indent="0" marL="0">
              <a:buNone/>
            </a:pPr>
            <a:r>
              <a:rPr lang="en-US" sz="3200" b="1" dirty="0">
                <a:solidFill>
                  <a:schemeClr val="accent2"/>
                </a:solidFill>
              </a:rPr>
              <a:t>—</a:t>
            </a:r>
            <a:endParaRPr lang="en-US" sz="3200" dirty="0"/>
          </a:p>
        </p:txBody>
      </p:sp>
      <p:sp>
        <p:nvSpPr>
          <p:cNvPr id="12" name="Text 10"/>
          <p:cNvSpPr txBox="1"/>
          <p:nvPr/>
        </p:nvSpPr>
        <p:spPr>
          <a:xfrm>
            <a:off x="6461608" y="2450592"/>
            <a:ext cx="2110664" cy="320040"/>
          </a:xfrm>
          <a:prstGeom prst="rect">
            <a:avLst/>
          </a:prstGeom>
          <a:noFill/>
          <a:ln/>
        </p:spPr>
        <p:txBody>
          <a:bodyPr wrap="square" lIns="0" tIns="0" rIns="0" bIns="0" rtlCol="0" anchor="t"/>
          <a:lstStyle/>
          <a:p>
            <a:pPr indent="0" marL="0">
              <a:buNone/>
            </a:pPr>
            <a:r>
              <a:rPr lang="en-US" sz="1300" dirty="0">
                <a:solidFill>
                  <a:schemeClr val="accent4"/>
                </a:solidFill>
              </a:rPr>
              <a:t>flagged above 60 km/h</a:t>
            </a:r>
            <a:endParaRPr lang="en-US" sz="1300" dirty="0"/>
          </a:p>
        </p:txBody>
      </p:sp>
      <p:sp>
        <p:nvSpPr>
          <p:cNvPr id="13" name="card"/>
          <p:cNvSpPr/>
          <p:nvPr/>
        </p:nvSpPr>
        <p:spPr>
          <a:xfrm>
            <a:off x="9075191" y="1737360"/>
            <a:ext cx="2567864" cy="1143000"/>
          </a:xfrm>
          <a:prstGeom prst="roundRect">
            <a:avLst>
              <a:gd name="adj" fmla="val 6400"/>
            </a:avLst>
          </a:prstGeom>
          <a:solidFill>
            <a:schemeClr val="bg2"/>
          </a:solidFill>
          <a:ln/>
        </p:spPr>
      </p:sp>
      <p:sp>
        <p:nvSpPr>
          <p:cNvPr id="14" name="Text 12"/>
          <p:cNvSpPr txBox="1"/>
          <p:nvPr/>
        </p:nvSpPr>
        <p:spPr>
          <a:xfrm>
            <a:off x="9303791" y="1783080"/>
            <a:ext cx="2110664" cy="640080"/>
          </a:xfrm>
          <a:prstGeom prst="rect">
            <a:avLst/>
          </a:prstGeom>
          <a:noFill/>
          <a:ln/>
        </p:spPr>
        <p:txBody>
          <a:bodyPr wrap="square" lIns="0" tIns="0" rIns="0" bIns="0" rtlCol="0" anchor="b"/>
          <a:lstStyle/>
          <a:p>
            <a:pPr indent="0" marL="0">
              <a:buNone/>
            </a:pPr>
            <a:r>
              <a:rPr lang="en-US" sz="3200" b="1" dirty="0">
                <a:solidFill>
                  <a:schemeClr val="tx2"/>
                </a:solidFill>
              </a:rPr>
              <a:t>— FPS</a:t>
            </a:r>
            <a:endParaRPr lang="en-US" sz="3200" dirty="0"/>
          </a:p>
        </p:txBody>
      </p:sp>
      <p:sp>
        <p:nvSpPr>
          <p:cNvPr id="15" name="Text 13"/>
          <p:cNvSpPr txBox="1"/>
          <p:nvPr/>
        </p:nvSpPr>
        <p:spPr>
          <a:xfrm>
            <a:off x="9303791" y="2450592"/>
            <a:ext cx="2110664" cy="320040"/>
          </a:xfrm>
          <a:prstGeom prst="rect">
            <a:avLst/>
          </a:prstGeom>
          <a:noFill/>
          <a:ln/>
        </p:spPr>
        <p:txBody>
          <a:bodyPr wrap="square" lIns="0" tIns="0" rIns="0" bIns="0" rtlCol="0" anchor="t"/>
          <a:lstStyle/>
          <a:p>
            <a:pPr indent="0" marL="0">
              <a:buNone/>
            </a:pPr>
            <a:r>
              <a:rPr lang="en-US" sz="1300" dirty="0">
                <a:solidFill>
                  <a:schemeClr val="accent4"/>
                </a:solidFill>
              </a:rPr>
              <a:t>processing speed (CPU)</a:t>
            </a:r>
            <a:endParaRPr lang="en-US" sz="1300" dirty="0"/>
          </a:p>
        </p:txBody>
      </p:sp>
      <p:sp>
        <p:nvSpPr>
          <p:cNvPr id="16" name="Text 14"/>
          <p:cNvSpPr txBox="1"/>
          <p:nvPr/>
        </p:nvSpPr>
        <p:spPr>
          <a:xfrm>
            <a:off x="548640" y="3063240"/>
            <a:ext cx="6583680" cy="320040"/>
          </a:xfrm>
          <a:prstGeom prst="rect">
            <a:avLst/>
          </a:prstGeom>
          <a:noFill/>
          <a:ln/>
        </p:spPr>
        <p:txBody>
          <a:bodyPr wrap="square" lIns="0" tIns="0" rIns="0" bIns="0" rtlCol="0" anchor="t"/>
          <a:lstStyle/>
          <a:p>
            <a:pPr indent="0" marL="0">
              <a:buNone/>
            </a:pPr>
            <a:r>
              <a:rPr lang="en-US" sz="1500" b="1" dirty="0">
                <a:solidFill>
                  <a:schemeClr val="tx2"/>
                </a:solidFill>
              </a:rPr>
              <a:t>Speed distribution of tracked vehicles</a:t>
            </a:r>
            <a:endParaRPr lang="en-US" sz="1500" dirty="0"/>
          </a:p>
        </p:txBody>
      </p:sp>
      <p:graphicFrame>
        <p:nvGraphicFramePr>
          <p:cNvPr id="17" name="Chart 0" descr=""/>
          <p:cNvGraphicFramePr/>
          <p:nvPr/>
        </p:nvGraphicFramePr>
        <p:xfrm>
          <a:off x="548640" y="3383280"/>
          <a:ext cx="6583680" cy="251460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7543800" y="3063240"/>
            <a:ext cx="4099255" cy="320040"/>
          </a:xfrm>
          <a:prstGeom prst="rect">
            <a:avLst/>
          </a:prstGeom>
          <a:noFill/>
          <a:ln/>
        </p:spPr>
        <p:txBody>
          <a:bodyPr wrap="square" lIns="0" tIns="0" rIns="0" bIns="0" rtlCol="0" anchor="t"/>
          <a:lstStyle/>
          <a:p>
            <a:pPr indent="0" marL="0">
              <a:buNone/>
            </a:pPr>
            <a:r>
              <a:rPr lang="en-US" sz="1500" b="1" dirty="0">
                <a:solidFill>
                  <a:schemeClr val="tx2"/>
                </a:solidFill>
              </a:rPr>
              <a:t>Auto-captured evidence</a:t>
            </a:r>
            <a:endParaRPr lang="en-US" sz="1500" dirty="0"/>
          </a:p>
        </p:txBody>
      </p:sp>
      <p:sp>
        <p:nvSpPr>
          <p:cNvPr id="19" name="img-placeholder"/>
          <p:cNvSpPr/>
          <p:nvPr/>
        </p:nvSpPr>
        <p:spPr>
          <a:xfrm>
            <a:off x="7543800" y="3429000"/>
            <a:ext cx="4099255" cy="2011680"/>
          </a:xfrm>
          <a:prstGeom prst="rect">
            <a:avLst/>
          </a:prstGeom>
          <a:solidFill>
            <a:schemeClr val="bg2"/>
          </a:solidFill>
          <a:ln w="12700">
            <a:solidFill>
              <a:schemeClr val="accent5"/>
            </a:solidFill>
            <a:prstDash val="dash"/>
          </a:ln>
        </p:spPr>
      </p:sp>
      <p:sp>
        <p:nvSpPr>
          <p:cNvPr id="20" name="Text 17"/>
          <p:cNvSpPr txBox="1"/>
          <p:nvPr/>
        </p:nvSpPr>
        <p:spPr>
          <a:xfrm>
            <a:off x="7543800" y="3429000"/>
            <a:ext cx="4099255" cy="2011680"/>
          </a:xfrm>
          <a:prstGeom prst="rect">
            <a:avLst/>
          </a:prstGeom>
          <a:noFill/>
          <a:ln/>
        </p:spPr>
        <p:txBody>
          <a:bodyPr wrap="square" rtlCol="0" anchor="ctr"/>
          <a:lstStyle/>
          <a:p>
            <a:pPr algn="ctr" indent="0" marL="0">
              <a:buNone/>
            </a:pPr>
            <a:r>
              <a:rPr lang="en-US" sz="1200" dirty="0">
                <a:solidFill>
                  <a:schemeClr val="accent4"/>
                </a:solidFill>
              </a:rPr>
              <a:t>[ image: violation_example.png ]</a:t>
            </a:r>
            <a:endParaRPr lang="en-US" sz="1200" dirty="0"/>
          </a:p>
        </p:txBody>
      </p:sp>
      <p:sp>
        <p:nvSpPr>
          <p:cNvPr id="21" name="Text 18"/>
          <p:cNvSpPr txBox="1"/>
          <p:nvPr/>
        </p:nvSpPr>
        <p:spPr>
          <a:xfrm>
            <a:off x="7543800" y="5513832"/>
            <a:ext cx="4099255" cy="411480"/>
          </a:xfrm>
          <a:prstGeom prst="rect">
            <a:avLst/>
          </a:prstGeom>
          <a:noFill/>
          <a:ln/>
        </p:spPr>
        <p:txBody>
          <a:bodyPr wrap="square" lIns="0" tIns="0" rIns="0" bIns="0" rtlCol="0" anchor="t"/>
          <a:lstStyle/>
          <a:p>
            <a:pPr indent="0" marL="0">
              <a:buNone/>
            </a:pPr>
            <a:endParaRPr lang="en-US" sz="1200" dirty="0"/>
          </a:p>
        </p:txBody>
      </p:sp>
      <p:sp>
        <p:nvSpPr>
          <p:cNvPr id="22" name="Text 19"/>
          <p:cNvSpPr txBox="1"/>
          <p:nvPr/>
        </p:nvSpPr>
        <p:spPr>
          <a:xfrm>
            <a:off x="548640" y="6053328"/>
            <a:ext cx="11094415" cy="274320"/>
          </a:xfrm>
          <a:prstGeom prst="rect">
            <a:avLst/>
          </a:prstGeom>
          <a:noFill/>
          <a:ln/>
        </p:spPr>
        <p:txBody>
          <a:bodyPr wrap="square" lIns="0" tIns="0" rIns="0" bIns="0" rtlCol="0" anchor="b"/>
          <a:lstStyle/>
          <a:p>
            <a:pPr indent="0" marL="0">
              <a:buNone/>
            </a:pPr>
            <a:r>
              <a:rPr lang="en-US" sz="1000" dirty="0">
                <a:solidFill>
                  <a:schemeClr val="accent5"/>
                </a:solidFill>
              </a:rPr>
              <a:t>Footage and calibration: see demo README.</a:t>
            </a:r>
            <a:endParaRPr lang="en-US" sz="10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82296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TAKEAWAYS</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bg1"/>
                </a:solidFill>
              </a:rPr>
              <a:t>Three things to remember</a:t>
            </a:r>
            <a:endParaRPr lang="en-US" sz="3000" dirty="0"/>
          </a:p>
        </p:txBody>
      </p:sp>
      <p:sp>
        <p:nvSpPr>
          <p:cNvPr id="4" name="Text 2"/>
          <p:cNvSpPr txBox="1"/>
          <p:nvPr/>
        </p:nvSpPr>
        <p:spPr>
          <a:xfrm>
            <a:off x="548640" y="1783080"/>
            <a:ext cx="1097280" cy="914400"/>
          </a:xfrm>
          <a:prstGeom prst="rect">
            <a:avLst/>
          </a:prstGeom>
          <a:noFill/>
          <a:ln/>
        </p:spPr>
        <p:txBody>
          <a:bodyPr wrap="square" lIns="0" tIns="0" rIns="0" bIns="0" rtlCol="0" anchor="t"/>
          <a:lstStyle/>
          <a:p>
            <a:pPr indent="0" marL="0">
              <a:buNone/>
            </a:pPr>
            <a:r>
              <a:rPr lang="en-US" sz="4800" b="1" dirty="0">
                <a:solidFill>
                  <a:schemeClr val="accent1"/>
                </a:solidFill>
              </a:rPr>
              <a:t>01</a:t>
            </a:r>
            <a:endParaRPr lang="en-US" sz="4800" dirty="0"/>
          </a:p>
        </p:txBody>
      </p:sp>
      <p:sp>
        <p:nvSpPr>
          <p:cNvPr id="5" name="Text 3"/>
          <p:cNvSpPr txBox="1"/>
          <p:nvPr/>
        </p:nvSpPr>
        <p:spPr>
          <a:xfrm>
            <a:off x="1828800" y="1828800"/>
            <a:ext cx="9601200" cy="411480"/>
          </a:xfrm>
          <a:prstGeom prst="rect">
            <a:avLst/>
          </a:prstGeom>
          <a:noFill/>
          <a:ln/>
        </p:spPr>
        <p:txBody>
          <a:bodyPr wrap="square" lIns="0" tIns="0" rIns="0" bIns="0" rtlCol="0" anchor="t"/>
          <a:lstStyle/>
          <a:p>
            <a:pPr indent="0" marL="0">
              <a:buNone/>
            </a:pPr>
            <a:r>
              <a:rPr lang="en-US" sz="2200" b="1" dirty="0">
                <a:solidFill>
                  <a:schemeClr val="bg1"/>
                </a:solidFill>
              </a:rPr>
              <a:t>Automation = perception + measurement + rule</a:t>
            </a:r>
            <a:endParaRPr lang="en-US" sz="2200" dirty="0"/>
          </a:p>
        </p:txBody>
      </p:sp>
      <p:sp>
        <p:nvSpPr>
          <p:cNvPr id="6" name="Text 4"/>
          <p:cNvSpPr txBox="1"/>
          <p:nvPr/>
        </p:nvSpPr>
        <p:spPr>
          <a:xfrm>
            <a:off x="1828800" y="2286000"/>
            <a:ext cx="9601200" cy="640080"/>
          </a:xfrm>
          <a:prstGeom prst="rect">
            <a:avLst/>
          </a:prstGeom>
          <a:noFill/>
          <a:ln/>
        </p:spPr>
        <p:txBody>
          <a:bodyPr wrap="square" lIns="0" tIns="0" rIns="0" bIns="0" rtlCol="0" anchor="t"/>
          <a:lstStyle/>
          <a:p>
            <a:pPr indent="0" marL="0">
              <a:buNone/>
            </a:pPr>
            <a:r>
              <a:rPr lang="en-US" sz="1600" dirty="0">
                <a:solidFill>
                  <a:srgbClr val="D0D5DD"/>
                </a:solidFill>
              </a:rPr>
              <a:t>Detect, track, calibrate, decide: each a well-understood, open-source block. No training needed for vehicles.</a:t>
            </a:r>
            <a:endParaRPr lang="en-US" sz="1600" dirty="0"/>
          </a:p>
        </p:txBody>
      </p:sp>
      <p:sp>
        <p:nvSpPr>
          <p:cNvPr id="7" name="Text 5"/>
          <p:cNvSpPr txBox="1"/>
          <p:nvPr/>
        </p:nvSpPr>
        <p:spPr>
          <a:xfrm>
            <a:off x="548640" y="3154680"/>
            <a:ext cx="1097280" cy="914400"/>
          </a:xfrm>
          <a:prstGeom prst="rect">
            <a:avLst/>
          </a:prstGeom>
          <a:noFill/>
          <a:ln/>
        </p:spPr>
        <p:txBody>
          <a:bodyPr wrap="square" lIns="0" tIns="0" rIns="0" bIns="0" rtlCol="0" anchor="t"/>
          <a:lstStyle/>
          <a:p>
            <a:pPr indent="0" marL="0">
              <a:buNone/>
            </a:pPr>
            <a:r>
              <a:rPr lang="en-US" sz="4800" b="1" dirty="0">
                <a:solidFill>
                  <a:schemeClr val="accent1"/>
                </a:solidFill>
              </a:rPr>
              <a:t>02</a:t>
            </a:r>
            <a:endParaRPr lang="en-US" sz="4800" dirty="0"/>
          </a:p>
        </p:txBody>
      </p:sp>
      <p:sp>
        <p:nvSpPr>
          <p:cNvPr id="8" name="Text 6"/>
          <p:cNvSpPr txBox="1"/>
          <p:nvPr/>
        </p:nvSpPr>
        <p:spPr>
          <a:xfrm>
            <a:off x="1828800" y="3200400"/>
            <a:ext cx="9601200" cy="411480"/>
          </a:xfrm>
          <a:prstGeom prst="rect">
            <a:avLst/>
          </a:prstGeom>
          <a:noFill/>
          <a:ln/>
        </p:spPr>
        <p:txBody>
          <a:bodyPr wrap="square" lIns="0" tIns="0" rIns="0" bIns="0" rtlCol="0" anchor="t"/>
          <a:lstStyle/>
          <a:p>
            <a:pPr indent="0" marL="0">
              <a:buNone/>
            </a:pPr>
            <a:r>
              <a:rPr lang="en-US" sz="2200" b="1" dirty="0">
                <a:solidFill>
                  <a:schemeClr val="bg1"/>
                </a:solidFill>
              </a:rPr>
              <a:t>The model is the easy part</a:t>
            </a:r>
            <a:endParaRPr lang="en-US" sz="2200" dirty="0"/>
          </a:p>
        </p:txBody>
      </p:sp>
      <p:sp>
        <p:nvSpPr>
          <p:cNvPr id="9" name="Text 7"/>
          <p:cNvSpPr txBox="1"/>
          <p:nvPr/>
        </p:nvSpPr>
        <p:spPr>
          <a:xfrm>
            <a:off x="1828800" y="3657600"/>
            <a:ext cx="9601200" cy="640080"/>
          </a:xfrm>
          <a:prstGeom prst="rect">
            <a:avLst/>
          </a:prstGeom>
          <a:noFill/>
          <a:ln/>
        </p:spPr>
        <p:txBody>
          <a:bodyPr wrap="square" lIns="0" tIns="0" rIns="0" bIns="0" rtlCol="0" anchor="t"/>
          <a:lstStyle/>
          <a:p>
            <a:pPr indent="0" marL="0">
              <a:buNone/>
            </a:pPr>
            <a:r>
              <a:rPr lang="en-US" sz="1600" dirty="0">
                <a:solidFill>
                  <a:srgbClr val="D0D5DD"/>
                </a:solidFill>
              </a:rPr>
              <a:t>Calibration, frame timing, night, rain and vibration decide whether the number is right.</a:t>
            </a:r>
            <a:endParaRPr lang="en-US" sz="1600" dirty="0"/>
          </a:p>
        </p:txBody>
      </p:sp>
      <p:sp>
        <p:nvSpPr>
          <p:cNvPr id="10" name="Text 8"/>
          <p:cNvSpPr txBox="1"/>
          <p:nvPr/>
        </p:nvSpPr>
        <p:spPr>
          <a:xfrm>
            <a:off x="548640" y="4526280"/>
            <a:ext cx="1097280" cy="914400"/>
          </a:xfrm>
          <a:prstGeom prst="rect">
            <a:avLst/>
          </a:prstGeom>
          <a:noFill/>
          <a:ln/>
        </p:spPr>
        <p:txBody>
          <a:bodyPr wrap="square" lIns="0" tIns="0" rIns="0" bIns="0" rtlCol="0" anchor="t"/>
          <a:lstStyle/>
          <a:p>
            <a:pPr indent="0" marL="0">
              <a:buNone/>
            </a:pPr>
            <a:r>
              <a:rPr lang="en-US" sz="4800" b="1" dirty="0">
                <a:solidFill>
                  <a:schemeClr val="accent1"/>
                </a:solidFill>
              </a:rPr>
              <a:t>03</a:t>
            </a:r>
            <a:endParaRPr lang="en-US" sz="4800" dirty="0"/>
          </a:p>
        </p:txBody>
      </p:sp>
      <p:sp>
        <p:nvSpPr>
          <p:cNvPr id="11" name="Text 9"/>
          <p:cNvSpPr txBox="1"/>
          <p:nvPr/>
        </p:nvSpPr>
        <p:spPr>
          <a:xfrm>
            <a:off x="1828800" y="4572000"/>
            <a:ext cx="9601200" cy="411480"/>
          </a:xfrm>
          <a:prstGeom prst="rect">
            <a:avLst/>
          </a:prstGeom>
          <a:noFill/>
          <a:ln/>
        </p:spPr>
        <p:txBody>
          <a:bodyPr wrap="square" lIns="0" tIns="0" rIns="0" bIns="0" rtlCol="0" anchor="t"/>
          <a:lstStyle/>
          <a:p>
            <a:pPr indent="0" marL="0">
              <a:buNone/>
            </a:pPr>
            <a:r>
              <a:rPr lang="en-US" sz="2200" b="1" dirty="0">
                <a:solidFill>
                  <a:schemeClr val="bg1"/>
                </a:solidFill>
              </a:rPr>
              <a:t>Precision before scale</a:t>
            </a:r>
            <a:endParaRPr lang="en-US" sz="2200" dirty="0"/>
          </a:p>
        </p:txBody>
      </p:sp>
      <p:sp>
        <p:nvSpPr>
          <p:cNvPr id="12" name="Text 10"/>
          <p:cNvSpPr txBox="1"/>
          <p:nvPr/>
        </p:nvSpPr>
        <p:spPr>
          <a:xfrm>
            <a:off x="1828800" y="5029200"/>
            <a:ext cx="9601200" cy="640080"/>
          </a:xfrm>
          <a:prstGeom prst="rect">
            <a:avLst/>
          </a:prstGeom>
          <a:noFill/>
          <a:ln/>
        </p:spPr>
        <p:txBody>
          <a:bodyPr wrap="square" lIns="0" tIns="0" rIns="0" bIns="0" rtlCol="0" anchor="t"/>
          <a:lstStyle/>
          <a:p>
            <a:pPr indent="0" marL="0">
              <a:buNone/>
            </a:pPr>
            <a:r>
              <a:rPr lang="en-US" sz="1600" dirty="0">
                <a:solidFill>
                  <a:srgbClr val="D0D5DD"/>
                </a:solidFill>
              </a:rPr>
              <a:t>A false positive fines an innocent driver. Keep a human in the loop until accuracy is proven.</a:t>
            </a:r>
            <a:endParaRPr lang="en-US" sz="16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6400800" cy="274320"/>
          </a:xfrm>
          <a:prstGeom prst="rect">
            <a:avLst/>
          </a:prstGeom>
          <a:noFill/>
          <a:ln/>
        </p:spPr>
        <p:txBody>
          <a:bodyPr wrap="square" lIns="0" tIns="0" rIns="0" bIns="0" rtlCol="0" anchor="ctr"/>
          <a:lstStyle/>
          <a:p>
            <a:pPr indent="0" marL="0">
              <a:buNone/>
            </a:pPr>
            <a:r>
              <a:rPr lang="en-US" sz="1200" b="1" spc="200" kern="0" dirty="0">
                <a:solidFill>
                  <a:schemeClr val="accent6"/>
                </a:solidFill>
              </a:rPr>
              <a:t>REFERENCES</a:t>
            </a:r>
            <a:endParaRPr lang="en-US" sz="1200" dirty="0"/>
          </a:p>
        </p:txBody>
      </p:sp>
      <p:sp>
        <p:nvSpPr>
          <p:cNvPr id="3" name="Text 0"/>
          <p:cNvSpPr/>
          <p:nvPr>
            <p:ph idx="101" type="title" hasCustomPrompt="1"/>
          </p:nvPr>
        </p:nvSpPr>
        <p:spPr>
          <a:xfrm>
            <a:off x="548640" y="713232"/>
            <a:ext cx="11094415" cy="685800"/>
          </a:xfrm>
          <a:prstGeom prst="rect">
            <a:avLst/>
          </a:prstGeom>
          <a:noFill/>
          <a:ln/>
        </p:spPr>
        <p:txBody>
          <a:bodyPr wrap="square" lIns="0" tIns="0" rIns="0" bIns="0" rtlCol="0" anchor="t"/>
          <a:lstStyle/>
          <a:p>
            <a:pPr algn="l" indent="0" marL="0">
              <a:buNone/>
            </a:pPr>
            <a:r>
              <a:rPr lang="en-US" sz="3000" b="1" dirty="0">
                <a:solidFill>
                  <a:schemeClr val="tx2"/>
                </a:solidFill>
              </a:rPr>
              <a:t>Sources</a:t>
            </a:r>
            <a:endParaRPr lang="en-US" sz="3000" dirty="0"/>
          </a:p>
        </p:txBody>
      </p:sp>
      <p:sp>
        <p:nvSpPr>
          <p:cNvPr id="4" name="Text 2"/>
          <p:cNvSpPr txBox="1"/>
          <p:nvPr/>
        </p:nvSpPr>
        <p:spPr>
          <a:xfrm>
            <a:off x="548640" y="1737360"/>
            <a:ext cx="11094415" cy="448056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400" dirty="0">
                <a:solidFill>
                  <a:schemeClr val="tx1"/>
                </a:solidFill>
              </a:rPr>
              <a:t>Jocher, G. et al. Ultralytics YOLOv8 (2023), docs.ultralytics.com: model benchmarks (mAP, params, CPU latency)</a:t>
            </a:r>
            <a:endParaRPr lang="en-US" sz="1400" dirty="0"/>
          </a:p>
          <a:p>
            <a:pPr marL="342900" indent="-342900">
              <a:spcAft>
                <a:spcPts val="600"/>
              </a:spcAft>
              <a:buSzPct val="100000"/>
              <a:buFont typeface="+mj-lt"/>
              <a:buAutoNum type="arabicPeriod" startAt="1"/>
            </a:pPr>
            <a:r>
              <a:rPr lang="en-US" sz="1400" dirty="0">
                <a:solidFill>
                  <a:schemeClr val="tx1"/>
                </a:solidFill>
              </a:rPr>
              <a:t>Zhang, Y. et al. ByteTrack: Multi-Object Tracking by Associating Every Detection Box. ECCV 2022</a:t>
            </a:r>
            <a:endParaRPr lang="en-US" sz="1400" dirty="0"/>
          </a:p>
          <a:p>
            <a:pPr marL="342900" indent="-342900">
              <a:spcAft>
                <a:spcPts val="600"/>
              </a:spcAft>
              <a:buSzPct val="100000"/>
              <a:buFont typeface="+mj-lt"/>
              <a:buAutoNum type="arabicPeriod" startAt="1"/>
            </a:pPr>
            <a:r>
              <a:rPr lang="en-US" sz="1400" dirty="0">
                <a:solidFill>
                  <a:schemeClr val="tx1"/>
                </a:solidFill>
              </a:rPr>
              <a:t>Lin, T.-Y. et al. Microsoft COCO: Common Objects in Context. ECCV 2014</a:t>
            </a:r>
            <a:endParaRPr lang="en-US" sz="1400" dirty="0"/>
          </a:p>
          <a:p>
            <a:pPr marL="342900" indent="-342900">
              <a:spcAft>
                <a:spcPts val="600"/>
              </a:spcAft>
              <a:buSzPct val="100000"/>
              <a:buFont typeface="+mj-lt"/>
              <a:buAutoNum type="arabicPeriod" startAt="1"/>
            </a:pPr>
            <a:r>
              <a:rPr lang="en-US" sz="1400" dirty="0">
                <a:solidFill>
                  <a:schemeClr val="tx1"/>
                </a:solidFill>
              </a:rPr>
              <a:t>Redmon, J. et al. You Only Look Once: Unified, Real-Time Object Detection. CVPR 2016</a:t>
            </a:r>
            <a:endParaRPr lang="en-US" sz="1400" dirty="0"/>
          </a:p>
          <a:p>
            <a:pPr marL="342900" indent="-342900">
              <a:spcAft>
                <a:spcPts val="600"/>
              </a:spcAft>
              <a:buSzPct val="100000"/>
              <a:buFont typeface="+mj-lt"/>
              <a:buAutoNum type="arabicPeriod" startAt="1"/>
            </a:pPr>
            <a:r>
              <a:rPr lang="en-US" sz="1400" dirty="0">
                <a:solidFill>
                  <a:schemeClr val="tx1"/>
                </a:solidFill>
              </a:rPr>
              <a:t>Hartley, R. &amp; Zisserman, A. Multiple View Geometry in Computer Vision, 2nd ed. (homography, DLT)</a:t>
            </a:r>
            <a:endParaRPr lang="en-US" sz="1400" dirty="0"/>
          </a:p>
          <a:p>
            <a:pPr marL="342900" indent="-342900">
              <a:spcAft>
                <a:spcPts val="600"/>
              </a:spcAft>
              <a:buSzPct val="100000"/>
              <a:buFont typeface="+mj-lt"/>
              <a:buAutoNum type="arabicPeriod" startAt="1"/>
            </a:pPr>
            <a:r>
              <a:rPr lang="en-US" sz="1400" dirty="0">
                <a:solidFill>
                  <a:schemeClr val="tx1"/>
                </a:solidFill>
              </a:rPr>
              <a:t>Zivkovic, Z. Improved adaptive Gaussian mixture model for background subtraction (MOG2). ICPR 2004</a:t>
            </a:r>
            <a:endParaRPr lang="en-US" sz="1400" dirty="0"/>
          </a:p>
          <a:p>
            <a:pPr marL="342900" indent="-342900">
              <a:spcAft>
                <a:spcPts val="600"/>
              </a:spcAft>
              <a:buSzPct val="100000"/>
              <a:buFont typeface="+mj-lt"/>
              <a:buAutoNum type="arabicPeriod" startAt="1"/>
            </a:pPr>
            <a:r>
              <a:rPr lang="en-US" sz="1400" dirty="0">
                <a:solidFill>
                  <a:schemeClr val="tx1"/>
                </a:solidFill>
              </a:rPr>
              <a:t>Roboflow supervision: speed-estimation example (YOLO + ByteTrack + perspective transform), github.com/roboflow/supervision</a:t>
            </a:r>
            <a:endParaRPr lang="en-US" sz="1400" dirty="0"/>
          </a:p>
          <a:p>
            <a:pPr marL="342900" indent="-342900">
              <a:spcAft>
                <a:spcPts val="600"/>
              </a:spcAft>
              <a:buSzPct val="100000"/>
              <a:buFont typeface="+mj-lt"/>
              <a:buAutoNum type="arabicPeriod" startAt="1"/>
            </a:pPr>
            <a:r>
              <a:rPr lang="en-US" sz="1400" dirty="0">
                <a:solidFill>
                  <a:schemeClr val="tx1"/>
                </a:solidFill>
              </a:rPr>
              <a:t>Wikipedia: G. D. Naidu Elevated Expressway; The Week, 9 Oct 2025: Tamil Nadu's longest flyover opened</a:t>
            </a:r>
            <a:endParaRPr lang="en-US" sz="1400" dirty="0"/>
          </a:p>
          <a:p>
            <a:pPr marL="342900" indent="-342900">
              <a:spcAft>
                <a:spcPts val="600"/>
              </a:spcAft>
              <a:buSzPct val="100000"/>
              <a:buFont typeface="+mj-lt"/>
              <a:buAutoNum type="arabicPeriod" startAt="1"/>
            </a:pPr>
            <a:r>
              <a:rPr lang="en-US" sz="1400" dirty="0">
                <a:solidFill>
                  <a:schemeClr val="tx1"/>
                </a:solidFill>
              </a:rPr>
              <a:t>Lokmat Times: three killed after car hits parked truck near GD Naidu Flyover</a:t>
            </a:r>
            <a:endParaRPr lang="en-US" sz="1400" dirty="0"/>
          </a:p>
          <a:p>
            <a:pPr marL="342900" indent="-342900">
              <a:spcAft>
                <a:spcPts val="600"/>
              </a:spcAft>
              <a:buSzPct val="100000"/>
              <a:buFont typeface="+mj-lt"/>
              <a:buAutoNum type="arabicPeriod" startAt="1"/>
            </a:pPr>
            <a:r>
              <a:rPr lang="en-US" sz="1400" dirty="0">
                <a:solidFill>
                  <a:schemeClr val="tx1"/>
                </a:solidFill>
              </a:rPr>
              <a:t>BizzBuzz; The Hawk; NewKerala (2026): Coimbatore flyover AI speed cameras remain under trial</a:t>
            </a:r>
            <a:endParaRPr lang="en-US" sz="1400" dirty="0"/>
          </a:p>
        </p:txBody>
      </p:sp>
      <p:sp>
        <p:nvSpPr>
          <p:cNvPr id="25" name="Slide Number Placeholder 0"/>
          <p:cNvSpPr>
            <a:spLocks noGrp="1"/>
          </p:cNvSpPr>
          <p:nvPr>
            <p:ph type="sldNum" sz="quarter" idx="4294967295"/>
          </p:nvPr>
        </p:nvSpPr>
        <p:spPr>
          <a:xfrm>
            <a:off x="11094415" y="6419088"/>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1828800"/>
            <a:ext cx="7315200" cy="1097280"/>
          </a:xfrm>
          <a:prstGeom prst="rect">
            <a:avLst/>
          </a:prstGeom>
          <a:noFill/>
          <a:ln/>
        </p:spPr>
        <p:txBody>
          <a:bodyPr wrap="square" lIns="0" tIns="0" rIns="0" bIns="0" rtlCol="0" anchor="b"/>
          <a:lstStyle/>
          <a:p>
            <a:pPr indent="0" marL="0">
              <a:buNone/>
            </a:pPr>
            <a:r>
              <a:rPr lang="en-US" sz="6000" b="1" dirty="0">
                <a:solidFill>
                  <a:schemeClr val="bg1"/>
                </a:solidFill>
              </a:rPr>
              <a:t>Thank you</a:t>
            </a:r>
            <a:endParaRPr lang="en-US" sz="6000" dirty="0"/>
          </a:p>
        </p:txBody>
      </p:sp>
      <p:sp>
        <p:nvSpPr>
          <p:cNvPr id="3" name="Text 1"/>
          <p:cNvSpPr txBox="1"/>
          <p:nvPr/>
        </p:nvSpPr>
        <p:spPr>
          <a:xfrm>
            <a:off x="548640" y="3017520"/>
            <a:ext cx="7315200" cy="640080"/>
          </a:xfrm>
          <a:prstGeom prst="rect">
            <a:avLst/>
          </a:prstGeom>
          <a:noFill/>
          <a:ln/>
        </p:spPr>
        <p:txBody>
          <a:bodyPr wrap="square" lIns="0" tIns="0" rIns="0" bIns="0" rtlCol="0" anchor="t"/>
          <a:lstStyle/>
          <a:p>
            <a:pPr indent="0" marL="0">
              <a:buNone/>
            </a:pPr>
            <a:r>
              <a:rPr lang="en-US" sz="3200" dirty="0">
                <a:solidFill>
                  <a:schemeClr val="accent1"/>
                </a:solidFill>
              </a:rPr>
              <a:t>Questions?</a:t>
            </a:r>
            <a:endParaRPr lang="en-US" sz="3200" dirty="0"/>
          </a:p>
        </p:txBody>
      </p:sp>
      <p:sp>
        <p:nvSpPr>
          <p:cNvPr id="4" name="Text 2"/>
          <p:cNvSpPr txBox="1"/>
          <p:nvPr/>
        </p:nvSpPr>
        <p:spPr>
          <a:xfrm>
            <a:off x="548640" y="4572000"/>
            <a:ext cx="7315200" cy="365760"/>
          </a:xfrm>
          <a:prstGeom prst="rect">
            <a:avLst/>
          </a:prstGeom>
          <a:noFill/>
          <a:ln/>
        </p:spPr>
        <p:txBody>
          <a:bodyPr wrap="square" lIns="0" tIns="0" rIns="0" bIns="0" rtlCol="0" anchor="t"/>
          <a:lstStyle/>
          <a:p>
            <a:pPr indent="0" marL="0">
              <a:buNone/>
            </a:pPr>
            <a:r>
              <a:rPr lang="en-US" sz="1800" b="1" dirty="0">
                <a:solidFill>
                  <a:schemeClr val="bg1"/>
                </a:solidFill>
              </a:rPr>
              <a:t>Thithiksha   ·   Arul   ·   DPD</a:t>
            </a:r>
            <a:endParaRPr lang="en-US" sz="1800" dirty="0"/>
          </a:p>
        </p:txBody>
      </p:sp>
      <p:sp>
        <p:nvSpPr>
          <p:cNvPr id="5" name="Text 3"/>
          <p:cNvSpPr txBox="1"/>
          <p:nvPr/>
        </p:nvSpPr>
        <p:spPr>
          <a:xfrm>
            <a:off x="548640" y="4983480"/>
            <a:ext cx="7315200" cy="320040"/>
          </a:xfrm>
          <a:prstGeom prst="rect">
            <a:avLst/>
          </a:prstGeom>
          <a:noFill/>
          <a:ln/>
        </p:spPr>
        <p:txBody>
          <a:bodyPr wrap="square" lIns="0" tIns="0" rIns="0" bIns="0" rtlCol="0" anchor="t"/>
          <a:lstStyle/>
          <a:p>
            <a:pPr indent="0" marL="0">
              <a:buNone/>
            </a:pPr>
            <a:r>
              <a:rPr lang="en-US" sz="1400" dirty="0">
                <a:solidFill>
                  <a:schemeClr val="accent5"/>
                </a:solidFill>
              </a:rPr>
              <a:t>Computer Vision (20XW97)</a:t>
            </a:r>
            <a:endParaRPr lang="en-US" sz="1400" dirty="0"/>
          </a:p>
        </p:txBody>
      </p:sp>
      <p:sp>
        <p:nvSpPr>
          <p:cNvPr id="6" name="speed-sign"/>
          <p:cNvSpPr/>
          <p:nvPr/>
        </p:nvSpPr>
        <p:spPr>
          <a:xfrm>
            <a:off x="8503920" y="1828800"/>
            <a:ext cx="2743200" cy="2743200"/>
          </a:xfrm>
          <a:prstGeom prst="ellipse">
            <a:avLst/>
          </a:prstGeom>
          <a:solidFill>
            <a:schemeClr val="bg1"/>
          </a:solidFill>
          <a:ln w="228600">
            <a:solidFill>
              <a:schemeClr val="accent2"/>
            </a:solidFill>
            <a:prstDash val="solid"/>
          </a:ln>
        </p:spPr>
      </p:sp>
      <p:sp>
        <p:nvSpPr>
          <p:cNvPr id="7" name="Text 5"/>
          <p:cNvSpPr txBox="1"/>
          <p:nvPr/>
        </p:nvSpPr>
        <p:spPr>
          <a:xfrm>
            <a:off x="8503920" y="1828800"/>
            <a:ext cx="2743200" cy="2743200"/>
          </a:xfrm>
          <a:prstGeom prst="rect">
            <a:avLst/>
          </a:prstGeom>
          <a:noFill/>
          <a:ln/>
        </p:spPr>
        <p:txBody>
          <a:bodyPr wrap="square" lIns="0" tIns="0" rIns="0" bIns="0" rtlCol="0" anchor="ctr"/>
          <a:lstStyle/>
          <a:p>
            <a:pPr algn="ctr" indent="0" marL="0">
              <a:buNone/>
            </a:pPr>
            <a:r>
              <a:rPr lang="en-US" sz="9200" b="1" dirty="0">
                <a:solidFill>
                  <a:schemeClr val="tx1"/>
                </a:solidFill>
              </a:rPr>
              <a:t>60</a:t>
            </a:r>
            <a:endParaRPr lang="en-US" sz="9200" dirty="0"/>
          </a:p>
        </p:txBody>
      </p:sp>
    </p:spTree>
  </p:cSld>
  <p:clrMapOvr>
    <a:masterClrMapping/>
  </p:clrMapOvr>
</p:sld>
</file>

<file path=ppt/theme/theme1.xml><?xml version="1.0" encoding="utf-8"?>
<a:theme xmlns:a="http://schemas.openxmlformats.org/drawingml/2006/main" name="Flyover">
  <a:themeElements>
    <a:clrScheme name="Flyover">
      <a:dk1>
        <a:srgbClr val="101828"/>
      </a:dk1>
      <a:lt1>
        <a:srgbClr val="FFFFFF"/>
      </a:lt1>
      <a:dk2>
        <a:srgbClr val="0B1F33"/>
      </a:dk2>
      <a:lt2>
        <a:srgbClr val="F2F4F7"/>
      </a:lt2>
      <a:accent1>
        <a:srgbClr val="F5A300"/>
      </a:accent1>
      <a:accent2>
        <a:srgbClr val="D92D20"/>
      </a:accent2>
      <a:accent3>
        <a:srgbClr val="12B76A"/>
      </a:accent3>
      <a:accent4>
        <a:srgbClr val="475467"/>
      </a:accent4>
      <a:accent5>
        <a:srgbClr val="98A2B3"/>
      </a:accent5>
      <a:accent6>
        <a:srgbClr val="B54708"/>
      </a:accent6>
      <a:hlink>
        <a:srgbClr val="B54708"/>
      </a:hlink>
      <a:folHlink>
        <a:srgbClr val="475467"/>
      </a:folHlink>
    </a:clrScheme>
    <a:fontScheme name="Flyov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Vision &amp; Automation</dc:title>
  <dc:subject>PptxGenJS Presentation</dc:subject>
  <dc:creator>Thithiksha, Arul, DPD</dc:creator>
  <cp:lastModifiedBy>Thithiksha, Arul, DPD</cp:lastModifiedBy>
  <cp:revision>1</cp:revision>
  <dcterms:created xsi:type="dcterms:W3CDTF">2026-10-06T12:36:56Z</dcterms:created>
  <dcterms:modified xsi:type="dcterms:W3CDTF">2026-10-06T12:36:56Z</dcterms:modified>
</cp:coreProperties>
</file>